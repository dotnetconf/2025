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6" r:id="rId1"/>
    <p:sldMasterId id="2147483707" r:id="rId2"/>
  </p:sldMasterIdLst>
  <p:notesMasterIdLst>
    <p:notesMasterId r:id="rId23"/>
  </p:notesMasterIdLst>
  <p:sldIdLst>
    <p:sldId id="398" r:id="rId3"/>
    <p:sldId id="2147483642" r:id="rId4"/>
    <p:sldId id="2147479612" r:id="rId5"/>
    <p:sldId id="2147483614" r:id="rId6"/>
    <p:sldId id="2147483622" r:id="rId7"/>
    <p:sldId id="2147479619" r:id="rId8"/>
    <p:sldId id="2147483623" r:id="rId9"/>
    <p:sldId id="2147479574" r:id="rId10"/>
    <p:sldId id="2147483618" r:id="rId11"/>
    <p:sldId id="2147483624" r:id="rId12"/>
    <p:sldId id="2147483641" r:id="rId13"/>
    <p:sldId id="2147479613" r:id="rId14"/>
    <p:sldId id="2147483619" r:id="rId15"/>
    <p:sldId id="421" r:id="rId16"/>
    <p:sldId id="2147483620" r:id="rId17"/>
    <p:sldId id="2147483627" r:id="rId18"/>
    <p:sldId id="2147483628" r:id="rId19"/>
    <p:sldId id="2147483626" r:id="rId20"/>
    <p:sldId id="2147479636" r:id="rId21"/>
    <p:sldId id="2147483625" r:id="rId22"/>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B3FA"/>
    <a:srgbClr val="3D8AFF"/>
    <a:srgbClr val="C1BCF3"/>
    <a:srgbClr val="1E0756"/>
    <a:srgbClr val="0657B2"/>
    <a:srgbClr val="EEEAFA"/>
    <a:srgbClr val="1F1E32"/>
    <a:srgbClr val="F4B1C9"/>
    <a:srgbClr val="EF99DD"/>
    <a:srgbClr val="D60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1119B4-3FC9-5049-9135-516B1A28D263}" v="37" dt="2025-11-10T13:33:33.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p:restoredTop sz="90000"/>
  </p:normalViewPr>
  <p:slideViewPr>
    <p:cSldViewPr snapToGrid="0">
      <p:cViewPr varScale="1">
        <p:scale>
          <a:sx n="46" d="100"/>
          <a:sy n="46" d="100"/>
        </p:scale>
        <p:origin x="1290"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80" b="1" i="0" u="none" strike="noStrike" kern="1200" cap="none" spc="20" baseline="0">
                <a:solidFill>
                  <a:schemeClr val="bg1"/>
                </a:solidFill>
                <a:latin typeface="Aptos" panose="020B0004020202020204" pitchFamily="34" charset="0"/>
                <a:ea typeface="+mn-ea"/>
                <a:cs typeface="+mn-cs"/>
              </a:defRPr>
            </a:pPr>
            <a:r>
              <a:rPr lang="en-US"/>
              <a:t>Max Working Set (MB)</a:t>
            </a:r>
          </a:p>
        </c:rich>
      </c:tx>
      <c:layout>
        <c:manualLayout>
          <c:xMode val="edge"/>
          <c:yMode val="edge"/>
          <c:x val="0.31379096078899221"/>
          <c:y val="0"/>
        </c:manualLayout>
      </c:layout>
      <c:overlay val="0"/>
      <c:spPr>
        <a:noFill/>
        <a:ln>
          <a:noFill/>
        </a:ln>
        <a:effectLst/>
      </c:spPr>
      <c:txPr>
        <a:bodyPr rot="0" spcFirstLastPara="1" vertOverflow="ellipsis" vert="horz" wrap="square" anchor="ctr" anchorCtr="1"/>
        <a:lstStyle/>
        <a:p>
          <a:pPr>
            <a:defRPr sz="2880" b="1" i="0" u="none" strike="noStrike" kern="1200" cap="none" spc="20" baseline="0">
              <a:solidFill>
                <a:schemeClr val="bg1"/>
              </a:solidFill>
              <a:latin typeface="Aptos" panose="020B0004020202020204" pitchFamily="34" charset="0"/>
              <a:ea typeface="+mn-ea"/>
              <a:cs typeface="+mn-cs"/>
            </a:defRPr>
          </a:pPr>
          <a:endParaRPr lang="en-US"/>
        </a:p>
      </c:txPr>
    </c:title>
    <c:autoTitleDeleted val="0"/>
    <c:plotArea>
      <c:layout>
        <c:manualLayout>
          <c:layoutTarget val="inner"/>
          <c:xMode val="edge"/>
          <c:yMode val="edge"/>
          <c:x val="1.3888888888888888E-2"/>
          <c:y val="0.12383063440372297"/>
          <c:w val="0.97222222222222221"/>
          <c:h val="0.85780059403318665"/>
        </c:manualLayout>
      </c:layout>
      <c:barChart>
        <c:barDir val="col"/>
        <c:grouping val="clustered"/>
        <c:varyColors val="0"/>
        <c:ser>
          <c:idx val="0"/>
          <c:order val="0"/>
          <c:tx>
            <c:strRef>
              <c:f>Sheet1!$B$1</c:f>
              <c:strCache>
                <c:ptCount val="1"/>
                <c:pt idx="0">
                  <c:v>Max Working Set (MB)</c:v>
                </c:pt>
              </c:strCache>
            </c:strRef>
          </c:tx>
          <c:spPr>
            <a:solidFill>
              <a:schemeClr val="accent1">
                <a:lumMod val="40000"/>
                <a:lumOff val="60000"/>
              </a:schemeClr>
            </a:solidFill>
            <a:ln w="9525" cap="flat" cmpd="sng" algn="ctr">
              <a:noFill/>
              <a:round/>
            </a:ln>
            <a:effectLst/>
          </c:spPr>
          <c:invertIfNegative val="0"/>
          <c:dPt>
            <c:idx val="0"/>
            <c:invertIfNegative val="0"/>
            <c:bubble3D val="0"/>
            <c:spPr>
              <a:solidFill>
                <a:schemeClr val="accent1">
                  <a:lumMod val="75000"/>
                </a:schemeClr>
              </a:solidFill>
              <a:ln w="9525" cap="flat" cmpd="sng" algn="ctr">
                <a:noFill/>
                <a:round/>
              </a:ln>
              <a:effectLst/>
            </c:spPr>
            <c:extLst>
              <c:ext xmlns:c16="http://schemas.microsoft.com/office/drawing/2014/chart" uri="{C3380CC4-5D6E-409C-BE32-E72D297353CC}">
                <c16:uniqueId val="{00000001-E415-4AC4-8BEB-6F9AF96803FC}"/>
              </c:ext>
            </c:extLst>
          </c:dPt>
          <c:dLbls>
            <c:spPr>
              <a:noFill/>
              <a:ln>
                <a:noFill/>
              </a:ln>
              <a:effectLst/>
            </c:spPr>
            <c:txPr>
              <a:bodyPr rot="0" spcFirstLastPara="1" vertOverflow="ellipsis" vert="horz" wrap="square" anchor="ctr" anchorCtr="1"/>
              <a:lstStyle/>
              <a:p>
                <a:pPr>
                  <a:defRPr sz="2400" b="1"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c:f>
              <c:strCache>
                <c:ptCount val="2"/>
                <c:pt idx="0">
                  <c:v>.NET 8</c:v>
                </c:pt>
                <c:pt idx="1">
                  <c:v>.NET 10</c:v>
                </c:pt>
              </c:strCache>
            </c:strRef>
          </c:cat>
          <c:val>
            <c:numRef>
              <c:f>Sheet1!$B$2:$B$3</c:f>
              <c:numCache>
                <c:formatCode>General</c:formatCode>
                <c:ptCount val="2"/>
                <c:pt idx="0">
                  <c:v>1643</c:v>
                </c:pt>
                <c:pt idx="1">
                  <c:v>115</c:v>
                </c:pt>
              </c:numCache>
            </c:numRef>
          </c:val>
          <c:extLst>
            <c:ext xmlns:c16="http://schemas.microsoft.com/office/drawing/2014/chart" uri="{C3380CC4-5D6E-409C-BE32-E72D297353CC}">
              <c16:uniqueId val="{00000000-5BE5-FC46-98BE-1AF88AAC81C7}"/>
            </c:ext>
          </c:extLst>
        </c:ser>
        <c:dLbls>
          <c:showLegendKey val="0"/>
          <c:showVal val="1"/>
          <c:showCatName val="0"/>
          <c:showSerName val="0"/>
          <c:showPercent val="0"/>
          <c:showBubbleSize val="0"/>
        </c:dLbls>
        <c:gapWidth val="150"/>
        <c:overlap val="-25"/>
        <c:axId val="719669423"/>
        <c:axId val="719671135"/>
        <c:extLst/>
      </c:barChart>
      <c:catAx>
        <c:axId val="719669423"/>
        <c:scaling>
          <c:orientation val="minMax"/>
        </c:scaling>
        <c:delete val="1"/>
        <c:axPos val="b"/>
        <c:numFmt formatCode="General" sourceLinked="1"/>
        <c:majorTickMark val="none"/>
        <c:minorTickMark val="none"/>
        <c:tickLblPos val="nextTo"/>
        <c:crossAx val="719671135"/>
        <c:crosses val="autoZero"/>
        <c:auto val="1"/>
        <c:lblAlgn val="ctr"/>
        <c:lblOffset val="100"/>
        <c:noMultiLvlLbl val="0"/>
      </c:catAx>
      <c:valAx>
        <c:axId val="719671135"/>
        <c:scaling>
          <c:orientation val="minMax"/>
        </c:scaling>
        <c:delete val="1"/>
        <c:axPos val="l"/>
        <c:numFmt formatCode="General" sourceLinked="1"/>
        <c:majorTickMark val="out"/>
        <c:minorTickMark val="none"/>
        <c:tickLblPos val="nextTo"/>
        <c:crossAx val="7196694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b="1" i="0">
          <a:solidFill>
            <a:schemeClr val="bg1"/>
          </a:solidFill>
          <a:latin typeface="Aptos" panose="020B00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80" b="1" i="0" u="none" strike="noStrike" kern="1200" cap="none" spc="20" baseline="0">
                <a:solidFill>
                  <a:schemeClr val="bg1"/>
                </a:solidFill>
                <a:latin typeface="Aptos" panose="020B0004020202020204" pitchFamily="34" charset="0"/>
                <a:ea typeface="+mn-ea"/>
                <a:cs typeface="+mn-cs"/>
              </a:defRPr>
            </a:pPr>
            <a:r>
              <a:rPr lang="en-US"/>
              <a:t>Requests/Sec</a:t>
            </a:r>
          </a:p>
        </c:rich>
      </c:tx>
      <c:layout>
        <c:manualLayout>
          <c:xMode val="edge"/>
          <c:yMode val="edge"/>
          <c:x val="0.38049550624353773"/>
          <c:y val="1.1392057038125648E-3"/>
        </c:manualLayout>
      </c:layout>
      <c:overlay val="0"/>
      <c:spPr>
        <a:noFill/>
        <a:ln>
          <a:noFill/>
        </a:ln>
        <a:effectLst/>
      </c:spPr>
      <c:txPr>
        <a:bodyPr rot="0" spcFirstLastPara="1" vertOverflow="ellipsis" vert="horz" wrap="square" anchor="ctr" anchorCtr="1"/>
        <a:lstStyle/>
        <a:p>
          <a:pPr>
            <a:defRPr sz="2880" b="1" i="0" u="none" strike="noStrike" kern="1200" cap="none" spc="20" baseline="0">
              <a:solidFill>
                <a:schemeClr val="bg1"/>
              </a:solidFill>
              <a:latin typeface="Aptos" panose="020B0004020202020204" pitchFamily="34"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Requests/sec</c:v>
                </c:pt>
              </c:strCache>
            </c:strRef>
          </c:tx>
          <c:spPr>
            <a:solidFill>
              <a:schemeClr val="accent1">
                <a:lumMod val="40000"/>
                <a:lumOff val="60000"/>
              </a:schemeClr>
            </a:solidFill>
            <a:ln w="9525" cap="flat" cmpd="sng" algn="ctr">
              <a:noFill/>
              <a:round/>
            </a:ln>
            <a:effectLst/>
          </c:spPr>
          <c:invertIfNegative val="0"/>
          <c:dPt>
            <c:idx val="0"/>
            <c:invertIfNegative val="0"/>
            <c:bubble3D val="0"/>
            <c:spPr>
              <a:solidFill>
                <a:schemeClr val="accent1">
                  <a:lumMod val="75000"/>
                </a:schemeClr>
              </a:solidFill>
              <a:ln w="9525" cap="flat" cmpd="sng" algn="ctr">
                <a:noFill/>
                <a:round/>
              </a:ln>
              <a:effectLst/>
            </c:spPr>
            <c:extLst>
              <c:ext xmlns:c16="http://schemas.microsoft.com/office/drawing/2014/chart" uri="{C3380CC4-5D6E-409C-BE32-E72D297353CC}">
                <c16:uniqueId val="{00000002-08E1-4ED7-921E-533432C465CB}"/>
              </c:ext>
            </c:extLst>
          </c:dPt>
          <c:dLbls>
            <c:spPr>
              <a:noFill/>
              <a:ln>
                <a:noFill/>
              </a:ln>
              <a:effectLst/>
            </c:spPr>
            <c:txPr>
              <a:bodyPr rot="0" spcFirstLastPara="1" vertOverflow="ellipsis" vert="horz" wrap="square" anchor="ctr" anchorCtr="1"/>
              <a:lstStyle/>
              <a:p>
                <a:pPr>
                  <a:defRPr sz="2400" b="1"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c:f>
              <c:strCache>
                <c:ptCount val="2"/>
                <c:pt idx="0">
                  <c:v>.NET 8</c:v>
                </c:pt>
                <c:pt idx="1">
                  <c:v>.NET 10</c:v>
                </c:pt>
              </c:strCache>
            </c:strRef>
          </c:cat>
          <c:val>
            <c:numRef>
              <c:f>Sheet1!$B$2:$B$3</c:f>
              <c:numCache>
                <c:formatCode>#,##0</c:formatCode>
                <c:ptCount val="2"/>
                <c:pt idx="0">
                  <c:v>1500298</c:v>
                </c:pt>
                <c:pt idx="1">
                  <c:v>1722294</c:v>
                </c:pt>
              </c:numCache>
            </c:numRef>
          </c:val>
          <c:extLst>
            <c:ext xmlns:c16="http://schemas.microsoft.com/office/drawing/2014/chart" uri="{C3380CC4-5D6E-409C-BE32-E72D297353CC}">
              <c16:uniqueId val="{00000000-08E1-4ED7-921E-533432C465CB}"/>
            </c:ext>
          </c:extLst>
        </c:ser>
        <c:dLbls>
          <c:showLegendKey val="0"/>
          <c:showVal val="1"/>
          <c:showCatName val="0"/>
          <c:showSerName val="0"/>
          <c:showPercent val="0"/>
          <c:showBubbleSize val="0"/>
        </c:dLbls>
        <c:gapWidth val="150"/>
        <c:overlap val="-24"/>
        <c:axId val="719669423"/>
        <c:axId val="719671135"/>
        <c:extLst/>
      </c:barChart>
      <c:catAx>
        <c:axId val="719669423"/>
        <c:scaling>
          <c:orientation val="minMax"/>
        </c:scaling>
        <c:delete val="1"/>
        <c:axPos val="b"/>
        <c:numFmt formatCode="General" sourceLinked="1"/>
        <c:majorTickMark val="out"/>
        <c:minorTickMark val="none"/>
        <c:tickLblPos val="nextTo"/>
        <c:crossAx val="719671135"/>
        <c:crosses val="autoZero"/>
        <c:auto val="1"/>
        <c:lblAlgn val="ctr"/>
        <c:lblOffset val="100"/>
        <c:noMultiLvlLbl val="0"/>
      </c:catAx>
      <c:valAx>
        <c:axId val="719671135"/>
        <c:scaling>
          <c:orientation val="minMax"/>
          <c:min val="0"/>
        </c:scaling>
        <c:delete val="1"/>
        <c:axPos val="l"/>
        <c:numFmt formatCode="#,##0" sourceLinked="1"/>
        <c:majorTickMark val="out"/>
        <c:minorTickMark val="none"/>
        <c:tickLblPos val="nextTo"/>
        <c:crossAx val="7196694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b="1" i="0">
          <a:solidFill>
            <a:schemeClr val="bg1"/>
          </a:solidFill>
          <a:latin typeface="Aptos" panose="020B00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64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00" dirty="0">
                <a:effectLst/>
                <a:latin typeface="Aptos" panose="020B0004020202020204" pitchFamily="34" charset="0"/>
                <a:ea typeface="Aptos" panose="020B0004020202020204" pitchFamily="34" charset="0"/>
                <a:cs typeface="Times New Roman" panose="02020603050405020304" pitchFamily="18" charset="0"/>
              </a:rPr>
              <a:t>ASP.NET Core has come a long way since it first shipped with .NET Core 1.0 back in 2016. Today, more than 2 million developers use ASP.NET Core every month, and still growing!</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ASP.NET Core powers some of the largest services in the world, like Microsoft 365, Bing, Teams, Copilot, Xbox, and most Azure services. These are critical, high-demand applications that millions of people rely on every day.</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One of the many reasons why Microsoft uses ASP.NET Core, is its industry leading performance. According to the latest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TechEmpower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Fortunes benchmark, ASP.NET Core is over three times faster than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Express.js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and over five times faster than Go (Gin). And with each .NET release, ASP.NET Core keeps getting faster. </a:t>
            </a:r>
          </a:p>
          <a:p>
            <a:pPr marL="0" marR="0">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800"/>
              </a:spcBef>
              <a:spcAft>
                <a:spcPts val="400"/>
              </a:spcAft>
            </a:pPr>
            <a:r>
              <a:rPr lang="en-US" dirty="0"/>
              <a:t>ASP.NET Core is a mature and robust web framework that provides a solid foundation for cloud and AI applications.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D91FF38-03BF-E345-8DFA-92A7B1D66F0D}" type="datetime8">
              <a:rPr lang="en-US" smtClean="0"/>
              <a:t>1/7/2026 10:15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2050829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In .NET 10, we focused on four key areas for ASP.NET Core:</a:t>
            </a:r>
            <a:r>
              <a:rPr lang="en-US" sz="1200" b="0" i="0" kern="1200" dirty="0">
                <a:solidFill>
                  <a:schemeClr val="tx1"/>
                </a:solidFill>
                <a:effectLst/>
                <a:latin typeface="+mn-lt"/>
                <a:ea typeface="+mn-ea"/>
                <a:cs typeface="+mn-cs"/>
              </a:rPr>
              <a:t>​</a:t>
            </a:r>
          </a:p>
          <a:p>
            <a:pPr rtl="0" fontAlgn="base"/>
            <a:endParaRPr lang="en-US" sz="1200" b="0" i="0" kern="1200" dirty="0">
              <a:solidFill>
                <a:schemeClr val="tx1"/>
              </a:solidFill>
              <a:effectLst/>
              <a:latin typeface="+mn-lt"/>
              <a:ea typeface="+mn-ea"/>
              <a:cs typeface="+mn-cs"/>
            </a:endParaRPr>
          </a:p>
          <a:p>
            <a:pPr marL="171450" indent="-171450" rtl="0" fontAlgn="base">
              <a:buFont typeface="Arial" panose="020B0604020202020204" pitchFamily="34" charset="0"/>
              <a:buChar char="•"/>
            </a:pPr>
            <a:r>
              <a:rPr lang="en-US" sz="1200" b="1" i="0" u="none" strike="noStrike" kern="1200" dirty="0">
                <a:solidFill>
                  <a:schemeClr val="tx1"/>
                </a:solidFill>
                <a:effectLst/>
                <a:latin typeface="+mn-lt"/>
                <a:ea typeface="+mn-ea"/>
                <a:cs typeface="+mn-cs"/>
              </a:rPr>
              <a:t>Easier to create secure apps</a:t>
            </a:r>
            <a:r>
              <a:rPr lang="en-US" sz="1200" b="0" i="0" u="none" strike="noStrike" kern="1200" dirty="0">
                <a:solidFill>
                  <a:schemeClr val="tx1"/>
                </a:solidFill>
                <a:effectLst/>
                <a:latin typeface="+mn-lt"/>
                <a:ea typeface="+mn-ea"/>
                <a:cs typeface="+mn-cs"/>
              </a:rPr>
              <a:t>: Security is more important than ever before. At Microsoft we’ve been investing in our own security through the Secure Future Initiative. We want to make sure you can more easily build secure apps too.</a:t>
            </a:r>
            <a:r>
              <a:rPr lang="en-US" sz="1200" b="0" i="0" kern="1200" dirty="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1" i="0" u="none" strike="noStrike" kern="1200" dirty="0">
                <a:solidFill>
                  <a:schemeClr val="tx1"/>
                </a:solidFill>
                <a:effectLst/>
                <a:latin typeface="+mn-lt"/>
                <a:ea typeface="+mn-ea"/>
                <a:cs typeface="+mn-cs"/>
              </a:rPr>
              <a:t>App observability &amp; diagnostics</a:t>
            </a:r>
            <a:r>
              <a:rPr lang="en-US" sz="1200" b="0" i="0" u="none" strike="noStrike" kern="1200" dirty="0">
                <a:solidFill>
                  <a:schemeClr val="tx1"/>
                </a:solidFill>
                <a:effectLst/>
                <a:latin typeface="+mn-lt"/>
                <a:ea typeface="+mn-ea"/>
                <a:cs typeface="+mn-cs"/>
              </a:rPr>
              <a:t>: We added more logging, metrics, and tracing to ASP.NET Core so you can more easily monitor &amp; diagnose problems in your apps.</a:t>
            </a:r>
            <a:r>
              <a:rPr lang="en-US" sz="1200" b="0" i="0" kern="1200" dirty="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1" i="0" u="none" strike="noStrike" kern="1200" dirty="0">
                <a:solidFill>
                  <a:schemeClr val="tx1"/>
                </a:solidFill>
                <a:effectLst/>
                <a:latin typeface="+mn-lt"/>
                <a:ea typeface="+mn-ea"/>
                <a:cs typeface="+mn-cs"/>
              </a:rPr>
              <a:t>Targeted performance improvements</a:t>
            </a:r>
            <a:r>
              <a:rPr lang="en-US" sz="1200" b="0" i="0" u="none" strike="noStrike" kern="1200" dirty="0">
                <a:solidFill>
                  <a:schemeClr val="tx1"/>
                </a:solidFill>
                <a:effectLst/>
                <a:latin typeface="+mn-lt"/>
                <a:ea typeface="+mn-ea"/>
                <a:cs typeface="+mn-cs"/>
              </a:rPr>
              <a:t>: We’ll continue to optimize ASP.NET Core so it loads faster, handles more throughput, and uses less memory.</a:t>
            </a:r>
            <a:r>
              <a:rPr lang="en-US" sz="1200" b="0" i="0" kern="1200" dirty="0">
                <a:solidFill>
                  <a:schemeClr val="tx1"/>
                </a:solidFill>
                <a:effectLst/>
                <a:latin typeface="+mn-lt"/>
                <a:ea typeface="+mn-ea"/>
                <a:cs typeface="+mn-cs"/>
              </a:rPr>
              <a:t>​</a:t>
            </a:r>
          </a:p>
          <a:p>
            <a:pPr marL="171450" indent="-171450" rtl="0" fontAlgn="base">
              <a:buFont typeface="Arial" panose="020B0604020202020204" pitchFamily="34" charset="0"/>
              <a:buChar char="•"/>
            </a:pPr>
            <a:r>
              <a:rPr lang="en-US" sz="1200" b="1" i="0" u="none" strike="noStrike" kern="1200" dirty="0">
                <a:solidFill>
                  <a:schemeClr val="tx1"/>
                </a:solidFill>
                <a:effectLst/>
                <a:latin typeface="+mn-lt"/>
                <a:ea typeface="+mn-ea"/>
                <a:cs typeface="+mn-cs"/>
              </a:rPr>
              <a:t>Address top pain points &amp; gaps</a:t>
            </a:r>
            <a:r>
              <a:rPr lang="en-US" sz="1200" b="0" i="0" u="none" strike="noStrike" kern="1200" dirty="0">
                <a:solidFill>
                  <a:schemeClr val="tx1"/>
                </a:solidFill>
                <a:effectLst/>
                <a:latin typeface="+mn-lt"/>
                <a:ea typeface="+mn-ea"/>
                <a:cs typeface="+mn-cs"/>
              </a:rPr>
              <a:t>: We addressed many pain points and gaps in the framework so that development with ASP.NET Core is a delightful experience.</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pPr rtl="0" fontAlgn="base"/>
            <a:r>
              <a:rPr lang="en-US" sz="1200" b="0" i="0" u="none" strike="noStrike" kern="1200" dirty="0">
                <a:solidFill>
                  <a:schemeClr val="tx1"/>
                </a:solidFill>
                <a:effectLst/>
                <a:latin typeface="+mn-lt"/>
                <a:ea typeface="+mn-ea"/>
                <a:cs typeface="+mn-cs"/>
              </a:rPr>
              <a:t>Let’s walk through each of these areas in more detail</a:t>
            </a:r>
            <a:endParaRPr lang="en-US" sz="1200" b="0" i="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3612231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Speaker: Mike</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D91FF38-03BF-E345-8DFA-92A7B1D66F0D}" type="datetime8">
              <a:rPr lang="en-US" smtClean="0"/>
              <a:t>1/7/2026 10:15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635667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kern="1200">
                <a:solidFill>
                  <a:schemeClr val="tx1"/>
                </a:solidFill>
                <a:effectLst/>
                <a:latin typeface="Segoe UI" panose="020B0502040204020203" pitchFamily="34" charset="0"/>
                <a:ea typeface="+mn-ea"/>
                <a:cs typeface="+mn-cs"/>
              </a:rPr>
              <a:t>Next let’s look at app observability &amp; diagnostics.</a:t>
            </a:r>
          </a:p>
          <a:p>
            <a:endParaRPr lang="en-US" sz="882" kern="1200">
              <a:solidFill>
                <a:schemeClr val="tx1"/>
              </a:solidFill>
              <a:effectLst/>
              <a:latin typeface="Segoe UI" panose="020B0502040204020203" pitchFamily="34" charset="0"/>
              <a:ea typeface="+mn-ea"/>
              <a:cs typeface="+mn-cs"/>
            </a:endParaRPr>
          </a:p>
          <a:p>
            <a:r>
              <a:rPr lang="en-US" sz="882" kern="1200">
                <a:solidFill>
                  <a:schemeClr val="tx1"/>
                </a:solidFill>
                <a:effectLst/>
                <a:latin typeface="Segoe UI" panose="020B0502040204020203" pitchFamily="34" charset="0"/>
                <a:ea typeface="+mn-ea"/>
                <a:cs typeface="+mn-cs"/>
              </a:rPr>
              <a:t>In .NET 10, we want to make it easier to monitor and diagnose issues in your ASP.NET Core apps:</a:t>
            </a:r>
          </a:p>
          <a:p>
            <a:pPr marL="171450" lvl="0" indent="-171450">
              <a:buFontTx/>
              <a:buChar char="-"/>
            </a:pPr>
            <a:r>
              <a:rPr lang="en-US" sz="882" kern="1200">
                <a:solidFill>
                  <a:schemeClr val="tx1"/>
                </a:solidFill>
                <a:effectLst/>
                <a:latin typeface="Segoe UI" panose="020B0502040204020203" pitchFamily="34" charset="0"/>
                <a:ea typeface="+mn-ea"/>
                <a:cs typeface="+mn-cs"/>
              </a:rPr>
              <a:t>We’re adding a bunch of additional metrics for Kestrel’s memory pool, authentication &amp; authorization, and Blazor.</a:t>
            </a:r>
          </a:p>
          <a:p>
            <a:pPr marL="171450" lvl="0" indent="-171450">
              <a:buFontTx/>
              <a:buChar char="-"/>
            </a:pPr>
            <a:r>
              <a:rPr lang="en-US" sz="882" kern="1200">
                <a:solidFill>
                  <a:schemeClr val="tx1"/>
                </a:solidFill>
                <a:effectLst/>
                <a:latin typeface="Segoe UI" panose="020B0502040204020203" pitchFamily="34" charset="0"/>
                <a:ea typeface="+mn-ea"/>
                <a:cs typeface="+mn-cs"/>
              </a:rPr>
              <a:t>We’re also adding activities to Blazor Server to trace Blazor app-level actions, like page navigations and UI events.</a:t>
            </a:r>
          </a:p>
          <a:p>
            <a:pPr marL="171450" lvl="0" indent="-171450">
              <a:buFontTx/>
              <a:buChar char="-"/>
            </a:pPr>
            <a:r>
              <a:rPr lang="en-US" sz="882" kern="1200">
                <a:solidFill>
                  <a:schemeClr val="tx1"/>
                </a:solidFill>
                <a:effectLst/>
                <a:latin typeface="Segoe UI" panose="020B0502040204020203" pitchFamily="34" charset="0"/>
                <a:ea typeface="+mn-ea"/>
                <a:cs typeface="+mn-cs"/>
              </a:rPr>
              <a:t>We’re adding diagnostic tools for Blazor WebAssembly apps.</a:t>
            </a:r>
          </a:p>
          <a:p>
            <a:pPr marL="171450" lvl="0" indent="-171450">
              <a:buFontTx/>
              <a:buChar char="-"/>
            </a:pPr>
            <a:r>
              <a:rPr lang="en-US" sz="882" kern="1200">
                <a:solidFill>
                  <a:schemeClr val="tx1"/>
                </a:solidFill>
                <a:effectLst/>
                <a:latin typeface="Segoe UI" panose="020B0502040204020203" pitchFamily="34" charset="0"/>
                <a:ea typeface="+mn-ea"/>
                <a:cs typeface="+mn-cs"/>
              </a:rPr>
              <a:t>We’re working on integrating the </a:t>
            </a:r>
            <a:r>
              <a:rPr lang="en-US" sz="882" kern="1200" err="1">
                <a:solidFill>
                  <a:schemeClr val="tx1"/>
                </a:solidFill>
                <a:effectLst/>
                <a:latin typeface="Segoe UI" panose="020B0502040204020203" pitchFamily="34" charset="0"/>
                <a:ea typeface="+mn-ea"/>
                <a:cs typeface="+mn-cs"/>
              </a:rPr>
              <a:t>Microsoft.IdentityModel</a:t>
            </a:r>
            <a:r>
              <a:rPr lang="en-US" sz="882" kern="1200">
                <a:solidFill>
                  <a:schemeClr val="tx1"/>
                </a:solidFill>
                <a:effectLst/>
                <a:latin typeface="Segoe UI" panose="020B0502040204020203" pitchFamily="34" charset="0"/>
                <a:ea typeface="+mn-ea"/>
                <a:cs typeface="+mn-cs"/>
              </a:rPr>
              <a:t> logs with ASP.NET core logging</a:t>
            </a:r>
          </a:p>
          <a:p>
            <a:pPr marL="171450" lvl="0" indent="-171450">
              <a:buFontTx/>
              <a:buChar char="-"/>
            </a:pPr>
            <a:r>
              <a:rPr lang="en-US" sz="882" kern="1200">
                <a:solidFill>
                  <a:schemeClr val="tx1"/>
                </a:solidFill>
                <a:effectLst/>
                <a:latin typeface="Segoe UI" panose="020B0502040204020203" pitchFamily="34" charset="0"/>
                <a:ea typeface="+mn-ea"/>
                <a:cs typeface="+mn-cs"/>
              </a:rPr>
              <a:t>And we’re looking at adding </a:t>
            </a:r>
            <a:r>
              <a:rPr lang="en-US" sz="882" b="1" kern="1200">
                <a:solidFill>
                  <a:schemeClr val="tx1"/>
                </a:solidFill>
                <a:effectLst/>
                <a:latin typeface="Segoe UI" panose="020B0502040204020203" pitchFamily="34" charset="0"/>
                <a:ea typeface="+mn-ea"/>
                <a:cs typeface="+mn-cs"/>
              </a:rPr>
              <a:t>built-in </a:t>
            </a:r>
            <a:r>
              <a:rPr lang="en-US" sz="882" b="1" kern="1200" err="1">
                <a:solidFill>
                  <a:schemeClr val="tx1"/>
                </a:solidFill>
                <a:effectLst/>
                <a:latin typeface="Segoe UI" panose="020B0502040204020203" pitchFamily="34" charset="0"/>
                <a:ea typeface="+mn-ea"/>
                <a:cs typeface="+mn-cs"/>
              </a:rPr>
              <a:t>OpenTelemetry</a:t>
            </a:r>
            <a:r>
              <a:rPr lang="en-US" sz="882" b="1" kern="1200">
                <a:solidFill>
                  <a:schemeClr val="tx1"/>
                </a:solidFill>
                <a:effectLst/>
                <a:latin typeface="Segoe UI" panose="020B0502040204020203" pitchFamily="34" charset="0"/>
                <a:ea typeface="+mn-ea"/>
                <a:cs typeface="+mn-cs"/>
              </a:rPr>
              <a:t> (</a:t>
            </a:r>
            <a:r>
              <a:rPr lang="en-US" sz="882" b="1" kern="1200" err="1">
                <a:solidFill>
                  <a:schemeClr val="tx1"/>
                </a:solidFill>
                <a:effectLst/>
                <a:latin typeface="Segoe UI" panose="020B0502040204020203" pitchFamily="34" charset="0"/>
                <a:ea typeface="+mn-ea"/>
                <a:cs typeface="+mn-cs"/>
              </a:rPr>
              <a:t>OTel</a:t>
            </a:r>
            <a:r>
              <a:rPr lang="en-US" sz="882" b="1" kern="1200">
                <a:solidFill>
                  <a:schemeClr val="tx1"/>
                </a:solidFill>
                <a:effectLst/>
                <a:latin typeface="Segoe UI" panose="020B0502040204020203" pitchFamily="34" charset="0"/>
                <a:ea typeface="+mn-ea"/>
                <a:cs typeface="+mn-cs"/>
              </a:rPr>
              <a:t>) trace instrumentation</a:t>
            </a:r>
            <a:r>
              <a:rPr lang="en-US" sz="882" kern="1200">
                <a:solidFill>
                  <a:schemeClr val="tx1"/>
                </a:solidFill>
                <a:effectLst/>
                <a:latin typeface="Segoe UI" panose="020B0502040204020203" pitchFamily="34" charset="0"/>
                <a:ea typeface="+mn-ea"/>
                <a:cs typeface="+mn-cs"/>
              </a:rPr>
              <a:t> so that traced activities use </a:t>
            </a:r>
            <a:r>
              <a:rPr lang="en-US" sz="882" kern="1200" err="1">
                <a:solidFill>
                  <a:schemeClr val="tx1"/>
                </a:solidFill>
                <a:effectLst/>
                <a:latin typeface="Segoe UI" panose="020B0502040204020203" pitchFamily="34" charset="0"/>
                <a:ea typeface="+mn-ea"/>
                <a:cs typeface="+mn-cs"/>
              </a:rPr>
              <a:t>OTel</a:t>
            </a:r>
            <a:r>
              <a:rPr lang="en-US" sz="882" kern="1200">
                <a:solidFill>
                  <a:schemeClr val="tx1"/>
                </a:solidFill>
                <a:effectLst/>
                <a:latin typeface="Segoe UI" panose="020B0502040204020203" pitchFamily="34" charset="0"/>
                <a:ea typeface="+mn-ea"/>
                <a:cs typeface="+mn-cs"/>
              </a:rPr>
              <a:t> semantic conventions without the need for a separate library.</a:t>
            </a:r>
            <a:endParaRPr lang="en-US" sz="850">
              <a:latin typeface="Segoe UI"/>
              <a:cs typeface="Segoe UI"/>
            </a:endParaRPr>
          </a:p>
          <a:p>
            <a:endParaRPr lang="en-US" sz="850">
              <a:latin typeface="Segoe UI"/>
              <a:cs typeface="Segoe UI"/>
            </a:endParaRPr>
          </a:p>
          <a:p>
            <a:endParaRPr lang="en-US" sz="850">
              <a:latin typeface="Segoe UI"/>
              <a:cs typeface="Segoe UI"/>
            </a:endParaRPr>
          </a:p>
          <a:p>
            <a:r>
              <a:rPr lang="en-US" sz="850">
                <a:latin typeface="Segoe UI"/>
                <a:cs typeface="Segoe UI"/>
              </a:rPr>
              <a:t>Built-in </a:t>
            </a:r>
            <a:r>
              <a:rPr lang="en-US" sz="850" err="1">
                <a:latin typeface="Segoe UI"/>
                <a:cs typeface="Segoe UI"/>
              </a:rPr>
              <a:t>OpenTelemetry</a:t>
            </a:r>
            <a:r>
              <a:rPr lang="en-US" sz="850">
                <a:latin typeface="Segoe UI"/>
                <a:cs typeface="Segoe UI"/>
              </a:rPr>
              <a:t> trace instrumentation means that ASP.NET Core has </a:t>
            </a:r>
            <a:r>
              <a:rPr lang="en-US" sz="850" err="1">
                <a:latin typeface="Segoe UI"/>
                <a:cs typeface="Segoe UI"/>
              </a:rPr>
              <a:t>OTel</a:t>
            </a:r>
            <a:r>
              <a:rPr lang="en-US" sz="850">
                <a:latin typeface="Segoe UI"/>
                <a:cs typeface="Segoe UI"/>
              </a:rPr>
              <a:t> semantic convention compliant tracing without requiring another library. This reduces a dependency and sets us up for being able to collect trace data without going through </a:t>
            </a:r>
            <a:r>
              <a:rPr lang="en-US" sz="850" err="1">
                <a:latin typeface="Segoe UI"/>
                <a:cs typeface="Segoe UI"/>
              </a:rPr>
              <a:t>OTel</a:t>
            </a:r>
            <a:r>
              <a:rPr lang="en-US" sz="850">
                <a:latin typeface="Segoe UI"/>
                <a:cs typeface="Segoe UI"/>
              </a:rPr>
              <a:t>:</a:t>
            </a:r>
          </a:p>
          <a:p>
            <a:pPr marL="171450" indent="-171450">
              <a:buFont typeface="Calibri"/>
              <a:buChar char="-"/>
            </a:pPr>
            <a:r>
              <a:rPr lang="en-US" sz="850">
                <a:latin typeface="Segoe UI"/>
                <a:cs typeface="Segoe UI"/>
              </a:rPr>
              <a:t>Adding implicit </a:t>
            </a:r>
            <a:r>
              <a:rPr lang="en-US" sz="850" err="1">
                <a:latin typeface="Segoe UI"/>
                <a:cs typeface="Segoe UI"/>
              </a:rPr>
              <a:t>OTel</a:t>
            </a:r>
            <a:r>
              <a:rPr lang="en-US" sz="850">
                <a:latin typeface="Segoe UI"/>
                <a:cs typeface="Segoe UI"/>
              </a:rPr>
              <a:t> collection to dotnet-monitor so you can collect traces/metrics/logs in </a:t>
            </a:r>
            <a:r>
              <a:rPr lang="en-US" sz="850" err="1">
                <a:latin typeface="Segoe UI"/>
                <a:cs typeface="Segoe UI"/>
              </a:rPr>
              <a:t>OTel</a:t>
            </a:r>
            <a:r>
              <a:rPr lang="en-US" sz="850">
                <a:latin typeface="Segoe UI"/>
                <a:cs typeface="Segoe UI"/>
              </a:rPr>
              <a:t> format without having to add </a:t>
            </a:r>
            <a:r>
              <a:rPr lang="en-US" sz="850" err="1">
                <a:latin typeface="Segoe UI"/>
                <a:cs typeface="Segoe UI"/>
              </a:rPr>
              <a:t>OTel</a:t>
            </a:r>
            <a:r>
              <a:rPr lang="en-US" sz="850">
                <a:latin typeface="Segoe UI"/>
                <a:cs typeface="Segoe UI"/>
              </a:rPr>
              <a:t> SDK to the application, or perform other configuration. You will be able to point dotnet-monitor at any .NET 10 asp.net app and collect telemetry. This replaces the auto-instrumentation mechanism that uses profiler hooks to inject an instrumentation SDK at runtime, which has become fragile due to dependency mismatches</a:t>
            </a:r>
          </a:p>
          <a:p>
            <a:pPr marL="171450" indent="-171450">
              <a:buFont typeface="Calibri"/>
              <a:buChar char="-"/>
            </a:pPr>
            <a:r>
              <a:rPr lang="en-US" sz="850">
                <a:latin typeface="Segoe UI"/>
                <a:cs typeface="Segoe UI"/>
              </a:rPr>
              <a:t>Enables other tools to collect trace instrumentation as part of the diagnostic experience (what I was working on with VS, but we don't have a timeline for shipping that).</a:t>
            </a:r>
          </a:p>
          <a:p>
            <a:pPr marL="171450" indent="-171450">
              <a:buFont typeface="Calibri"/>
              <a:buChar char="-"/>
            </a:pPr>
            <a:endParaRPr lang="en-US" sz="850">
              <a:latin typeface="Segoe UI"/>
              <a:cs typeface="Segoe UI"/>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D91FF38-03BF-E345-8DFA-92A7B1D66F0D}" type="datetime8">
              <a:rPr lang="en-US" smtClean="0"/>
              <a:t>1/7/2026 10:15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1156448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dirty="0">
                <a:effectLst/>
              </a:rPr>
              <a:t>Since the release of .NET Framework 4.8, Microsoft has transformed .NET into an efficient, cross‑platform runtime that delivers order‑of‑magnitude performance gains. Through a decade of layered investments—Tiered Compilation, Dynamic PGO, Guarded </a:t>
            </a:r>
            <a:r>
              <a:rPr lang="en-US" dirty="0" err="1">
                <a:effectLst/>
              </a:rPr>
              <a:t>Devirtualization</a:t>
            </a:r>
            <a:r>
              <a:rPr lang="en-US" dirty="0">
                <a:effectLst/>
              </a:rPr>
              <a:t>, and deep JIT/GC refinements—.NET 10 now executes high‑level C# with the efficiency of hand‑tuned native code.</a:t>
            </a:r>
            <a:endParaRPr lang="en-US" dirty="0"/>
          </a:p>
          <a:p>
            <a:r>
              <a:rPr lang="en-US" dirty="0"/>
              <a:t> </a:t>
            </a:r>
          </a:p>
          <a:p>
            <a:r>
              <a:rPr lang="en-US" dirty="0">
                <a:effectLst/>
              </a:rPr>
              <a:t>With .NET’s adaptive garbage collection (DATAS) it has considerably improved memory usage while improving throughput and scalability. On our internal version of the TechEmpower Fortunes Benchmark (a benchmark that compares tech stacks against a realistic app scenario that includes data access) .NET 10 uses 93% less memory than .NET 8 while seeing a 15% increase in throughput. </a:t>
            </a:r>
            <a:endParaRPr lang="en-US" dirty="0"/>
          </a:p>
          <a:p>
            <a:r>
              <a:rPr lang="en-US" dirty="0"/>
              <a:t> </a:t>
            </a:r>
          </a:p>
          <a:p>
            <a:r>
              <a:rPr lang="en-US" dirty="0">
                <a:effectLst/>
              </a:rPr>
              <a:t>The leap from .NET Framework 4.8 to .NET 10 is not the result of a single breakthrough, but of a decade‑long strategy to make .NET the most performant developer platform Microsoft has ever created. There have been improvements up and down the entire stack, from the runtime up through all of the libraries and up into higher-level frameworks like ASP.NET. Access to hardware intrinsics for fine-tuning vectorized implementations bubble up through .NET's standard libraries themselves so APIs automatically get faster every version without any changes in your code. New primitives like Span pervade the whole stack and enable safe code with low-allocation and high-throughput. </a:t>
            </a:r>
            <a:endParaRPr lang="en-US" dirty="0"/>
          </a:p>
          <a:p>
            <a:r>
              <a:rPr lang="en-US" dirty="0"/>
              <a:t> </a:t>
            </a:r>
          </a:p>
          <a:p>
            <a:r>
              <a:rPr lang="en-US" dirty="0">
                <a:effectLst/>
              </a:rPr>
              <a:t>For organizations, this work translates directly into higher throughput, lower CPU and memory usage, and faster time‑to‑results—often without touching a line of application code. Upgrading to .NET 10 is not just a feature update; it is a performance windfall that redefines what developers can expect from a managed runtime.</a:t>
            </a:r>
            <a:endParaRPr lang="en-US" dirty="0"/>
          </a:p>
          <a:p>
            <a:r>
              <a:rPr lang="en-US" dirty="0"/>
              <a:t> </a:t>
            </a:r>
          </a:p>
          <a:p>
            <a:r>
              <a:rPr lang="en-US" dirty="0">
                <a:effectLst/>
              </a:rPr>
              <a:t>Stephen Toub chronicles this incredible journey on our blog.</a:t>
            </a:r>
            <a:endParaRPr lang="en-US" dirty="0"/>
          </a:p>
          <a:p>
            <a:endParaRPr lang="en-US" dirty="0"/>
          </a:p>
        </p:txBody>
      </p:sp>
    </p:spTree>
    <p:extLst>
      <p:ext uri="{BB962C8B-B14F-4D97-AF65-F5344CB8AC3E}">
        <p14:creationId xmlns:p14="http://schemas.microsoft.com/office/powerpoint/2010/main" val="947514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ensure that .NET 10 is the fastest release of ASP.NET Core ever:</a:t>
            </a:r>
          </a:p>
          <a:p>
            <a:pPr marL="342900" marR="0" lvl="0" indent="-342900">
              <a:lnSpc>
                <a:spcPct val="115000"/>
              </a:lnSpc>
              <a:buFont typeface="Aptos" panose="020B0004020202020204" pitchFamily="34" charset="0"/>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We’re updating Kestrel’s memory pool so that it can release memory</a:t>
            </a:r>
          </a:p>
          <a:p>
            <a:pPr marL="342900" marR="0" lvl="0" indent="-342900">
              <a:lnSpc>
                <a:spcPct val="115000"/>
              </a:lnSpc>
              <a:buFont typeface="Aptos" panose="020B0004020202020204" pitchFamily="34" charset="0"/>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We’re improving minimal API JSON deserialization performance using the new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PIpeReader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support in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System.Text.Json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D91FF38-03BF-E345-8DFA-92A7B1D66F0D}" type="datetime8">
              <a:rPr lang="en-US" smtClean="0"/>
              <a:t>1/7/2026 10:15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765686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3795530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dirty="0"/>
          </a:p>
        </p:txBody>
      </p:sp>
    </p:spTree>
    <p:extLst>
      <p:ext uri="{BB962C8B-B14F-4D97-AF65-F5344CB8AC3E}">
        <p14:creationId xmlns:p14="http://schemas.microsoft.com/office/powerpoint/2010/main" val="1120845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Also demonstrates OpenAPI 3.1, XML doc comments, </a:t>
            </a:r>
          </a:p>
        </p:txBody>
      </p:sp>
    </p:spTree>
    <p:extLst>
      <p:ext uri="{BB962C8B-B14F-4D97-AF65-F5344CB8AC3E}">
        <p14:creationId xmlns:p14="http://schemas.microsoft.com/office/powerpoint/2010/main" val="3353939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2028E-AF62-A4AB-CDFA-4CD77310E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B5583-DBD9-B352-0CC9-8435CBF19ACE}"/>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22BD5E9-2BE3-FF42-32B4-5F4BF406F43F}"/>
              </a:ext>
            </a:extLst>
          </p:cNvPr>
          <p:cNvSpPr>
            <a:spLocks noGrp="1"/>
          </p:cNvSpPr>
          <p:nvPr>
            <p:ph type="body" idx="1"/>
          </p:nvPr>
        </p:nvSpPr>
        <p:spPr>
          <a:xfrm>
            <a:off x="1371600" y="11736388"/>
            <a:ext cx="10972800" cy="9602787"/>
          </a:xfrm>
          <a:prstGeom prst="rect">
            <a:avLst/>
          </a:prstGeom>
        </p:spPr>
        <p:txBody>
          <a:bodyPr/>
          <a:lstStyle/>
          <a:p>
            <a:r>
              <a:rPr lang="en-US"/>
              <a:t>Also demonstrates OpenAPI 3.1, XML doc comments, </a:t>
            </a:r>
          </a:p>
        </p:txBody>
      </p:sp>
    </p:spTree>
    <p:extLst>
      <p:ext uri="{BB962C8B-B14F-4D97-AF65-F5344CB8AC3E}">
        <p14:creationId xmlns:p14="http://schemas.microsoft.com/office/powerpoint/2010/main" val="806255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DC6B9-AE53-E4E0-67B2-645E4A4B7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7D470-B3BA-7972-020A-6939463FA26B}"/>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59C6DD8-2AFA-9CB2-BCA7-E881885AE1BD}"/>
              </a:ext>
            </a:extLst>
          </p:cNvPr>
          <p:cNvSpPr>
            <a:spLocks noGrp="1"/>
          </p:cNvSpPr>
          <p:nvPr>
            <p:ph type="body" idx="1"/>
          </p:nvPr>
        </p:nvSpPr>
        <p:spPr>
          <a:xfrm>
            <a:off x="1371600" y="11736388"/>
            <a:ext cx="10972800" cy="9602787"/>
          </a:xfrm>
          <a:prstGeom prst="rect">
            <a:avLst/>
          </a:prstGeom>
        </p:spPr>
        <p:txBody>
          <a:bodyPr/>
          <a:lstStyle/>
          <a:p>
            <a:endParaRPr lang="en-US"/>
          </a:p>
        </p:txBody>
      </p:sp>
    </p:spTree>
    <p:extLst>
      <p:ext uri="{BB962C8B-B14F-4D97-AF65-F5344CB8AC3E}">
        <p14:creationId xmlns:p14="http://schemas.microsoft.com/office/powerpoint/2010/main" val="7847644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0">
              <a:srgbClr val="0657B2"/>
            </a:gs>
            <a:gs pos="100000">
              <a:srgbClr val="1E0756"/>
            </a:gs>
          </a:gsLst>
          <a:lin ang="5400000" scaled="1"/>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7B5EEFF-2BB5-A52C-260D-554CFB706928}"/>
              </a:ext>
            </a:extLst>
          </p:cNvPr>
          <p:cNvPicPr>
            <a:picLocks noChangeAspect="1"/>
          </p:cNvPicPr>
          <p:nvPr userDrawn="1"/>
        </p:nvPicPr>
        <p:blipFill>
          <a:blip r:embed="rId2"/>
          <a:stretch>
            <a:fillRect/>
          </a:stretch>
        </p:blipFill>
        <p:spPr>
          <a:xfrm>
            <a:off x="0" y="0"/>
            <a:ext cx="24387175" cy="2648295"/>
          </a:xfrm>
          <a:prstGeom prst="rect">
            <a:avLst/>
          </a:prstGeom>
        </p:spPr>
      </p:pic>
      <p:sp>
        <p:nvSpPr>
          <p:cNvPr id="12" name="Text Placeholder 11">
            <a:extLst>
              <a:ext uri="{FF2B5EF4-FFF2-40B4-BE49-F238E27FC236}">
                <a16:creationId xmlns:a16="http://schemas.microsoft.com/office/drawing/2014/main" id="{FB2202B6-F7AE-4B3E-3EEE-7AD38C243F62}"/>
              </a:ext>
            </a:extLst>
          </p:cNvPr>
          <p:cNvSpPr>
            <a:spLocks noGrp="1"/>
          </p:cNvSpPr>
          <p:nvPr>
            <p:ph type="body" sz="quarter" idx="10" hasCustomPrompt="1"/>
          </p:nvPr>
        </p:nvSpPr>
        <p:spPr>
          <a:xfrm>
            <a:off x="1088058" y="1041400"/>
            <a:ext cx="11658600" cy="1828800"/>
          </a:xfrm>
          <a:prstGeom prst="rect">
            <a:avLst/>
          </a:prstGeom>
        </p:spPr>
        <p:txBody>
          <a:bodyPr/>
          <a:lstStyle>
            <a:lvl1pPr marL="0" indent="0" algn="l" defTabSz="914400" rtl="0" eaLnBrk="1" latinLnBrk="0" hangingPunct="1">
              <a:lnSpc>
                <a:spcPts val="15000"/>
              </a:lnSpc>
              <a:buNone/>
              <a:defRPr lang="en-US" sz="15000" b="1" i="0" kern="0" spc="-750" dirty="0" smtClean="0">
                <a:solidFill>
                  <a:schemeClr val="bg1"/>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13" name="Text Placeholder 11">
            <a:extLst>
              <a:ext uri="{FF2B5EF4-FFF2-40B4-BE49-F238E27FC236}">
                <a16:creationId xmlns:a16="http://schemas.microsoft.com/office/drawing/2014/main" id="{D6E4B5D0-1A1D-7256-DDEF-FFD34D9EC122}"/>
              </a:ext>
            </a:extLst>
          </p:cNvPr>
          <p:cNvSpPr>
            <a:spLocks noGrp="1"/>
          </p:cNvSpPr>
          <p:nvPr>
            <p:ph type="body" sz="quarter" idx="11" hasCustomPrompt="1"/>
          </p:nvPr>
        </p:nvSpPr>
        <p:spPr>
          <a:xfrm>
            <a:off x="1088058" y="2921000"/>
            <a:ext cx="11658600" cy="1828800"/>
          </a:xfrm>
          <a:prstGeom prst="rect">
            <a:avLst/>
          </a:prstGeom>
        </p:spPr>
        <p:txBody>
          <a:bodyPr/>
          <a:lstStyle>
            <a:lvl1pPr marL="0" indent="0" algn="l" defTabSz="914400" rtl="0" eaLnBrk="1" latinLnBrk="0" hangingPunct="1">
              <a:lnSpc>
                <a:spcPts val="15000"/>
              </a:lnSpc>
              <a:buNone/>
              <a:defRPr lang="en-US" sz="15000" b="0" i="0" kern="0" spc="-750" dirty="0" smtClean="0">
                <a:solidFill>
                  <a:schemeClr val="bg2"/>
                </a:solidFill>
                <a:latin typeface="Poppins" pitchFamily="2" charset="77"/>
                <a:ea typeface="Poppins" pitchFamily="2" charset="77"/>
                <a:cs typeface="Poppins" pitchFamily="2" charset="77"/>
              </a:defRPr>
            </a:lvl1pPr>
          </a:lstStyle>
          <a:p>
            <a:pPr lvl="0"/>
            <a:r>
              <a:rPr lang="en-US"/>
              <a:t>Subtitle</a:t>
            </a:r>
          </a:p>
        </p:txBody>
      </p:sp>
      <p:pic>
        <p:nvPicPr>
          <p:cNvPr id="4" name="Picture 3">
            <a:extLst>
              <a:ext uri="{FF2B5EF4-FFF2-40B4-BE49-F238E27FC236}">
                <a16:creationId xmlns:a16="http://schemas.microsoft.com/office/drawing/2014/main" id="{2E58028D-48E9-F953-AF99-287F28B4BC9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470317" y="1041400"/>
            <a:ext cx="1828800" cy="1828800"/>
          </a:xfrm>
          <a:prstGeom prst="rect">
            <a:avLst/>
          </a:prstGeom>
        </p:spPr>
      </p:pic>
      <p:pic>
        <p:nvPicPr>
          <p:cNvPr id="3" name="Picture 2" descr="A purple object with light beams">
            <a:extLst>
              <a:ext uri="{FF2B5EF4-FFF2-40B4-BE49-F238E27FC236}">
                <a16:creationId xmlns:a16="http://schemas.microsoft.com/office/drawing/2014/main" id="{B95DBEA6-A735-B2EF-582C-219438B2AB07}"/>
              </a:ext>
            </a:extLst>
          </p:cNvPr>
          <p:cNvPicPr>
            <a:picLocks noChangeAspect="1"/>
          </p:cNvPicPr>
          <p:nvPr userDrawn="1"/>
        </p:nvPicPr>
        <p:blipFill>
          <a:blip r:embed="rId4"/>
          <a:stretch>
            <a:fillRect/>
          </a:stretch>
        </p:blipFill>
        <p:spPr>
          <a:xfrm>
            <a:off x="-322730" y="3835400"/>
            <a:ext cx="24387175" cy="9554819"/>
          </a:xfrm>
          <a:prstGeom prst="rect">
            <a:avLst/>
          </a:prstGeom>
        </p:spPr>
      </p:pic>
    </p:spTree>
    <p:extLst>
      <p:ext uri="{BB962C8B-B14F-4D97-AF65-F5344CB8AC3E}">
        <p14:creationId xmlns:p14="http://schemas.microsoft.com/office/powerpoint/2010/main" val="909952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ubtitle only">
    <p:bg>
      <p:bgPr>
        <a:solidFill>
          <a:schemeClr val="tx2"/>
        </a:solidFill>
        <a:effectLst/>
      </p:bgPr>
    </p:bg>
    <p:spTree>
      <p:nvGrpSpPr>
        <p:cNvPr id="1" name=""/>
        <p:cNvGrpSpPr/>
        <p:nvPr/>
      </p:nvGrpSpPr>
      <p:grpSpPr>
        <a:xfrm>
          <a:off x="0" y="0"/>
          <a:ext cx="0" cy="0"/>
          <a:chOff x="0" y="0"/>
          <a:chExt cx="0" cy="0"/>
        </a:xfrm>
      </p:grpSpPr>
      <p:sp>
        <p:nvSpPr>
          <p:cNvPr id="5" name="Text Placeholder 19">
            <a:extLst>
              <a:ext uri="{FF2B5EF4-FFF2-40B4-BE49-F238E27FC236}">
                <a16:creationId xmlns:a16="http://schemas.microsoft.com/office/drawing/2014/main" id="{DC24AF06-9E24-29B8-6CAD-503F1F6D1B76}"/>
              </a:ext>
            </a:extLst>
          </p:cNvPr>
          <p:cNvSpPr>
            <a:spLocks noGrp="1"/>
          </p:cNvSpPr>
          <p:nvPr>
            <p:ph type="body" sz="quarter" idx="10" hasCustomPrompt="1"/>
          </p:nvPr>
        </p:nvSpPr>
        <p:spPr>
          <a:xfrm>
            <a:off x="1140565" y="1066800"/>
            <a:ext cx="7010400" cy="939800"/>
          </a:xfrm>
          <a:prstGeom prst="rect">
            <a:avLst/>
          </a:prstGeom>
        </p:spPr>
        <p:txBody>
          <a:bodyPr/>
          <a:lstStyle>
            <a:lvl1pPr marL="0" indent="0" algn="l" defTabSz="914400" rtl="0" eaLnBrk="1" latinLnBrk="0" hangingPunct="1">
              <a:lnSpc>
                <a:spcPts val="6800"/>
              </a:lnSpc>
              <a:buNone/>
              <a:defRPr lang="en-US" sz="6000" b="1" i="0" kern="0" spc="-120" dirty="0" smtClean="0">
                <a:solidFill>
                  <a:schemeClr val="bg1"/>
                </a:solidFill>
                <a:latin typeface="Poppins" pitchFamily="2" charset="77"/>
                <a:ea typeface="Poppins" pitchFamily="2" charset="77"/>
                <a:cs typeface="Poppins" pitchFamily="2" charset="77"/>
              </a:defRPr>
            </a:lvl1pPr>
          </a:lstStyle>
          <a:p>
            <a:pPr lvl="0"/>
            <a:r>
              <a:rPr lang="en-US"/>
              <a:t>Title</a:t>
            </a:r>
          </a:p>
          <a:p>
            <a:pPr lvl="0"/>
            <a:endParaRPr lang="en-US"/>
          </a:p>
        </p:txBody>
      </p:sp>
      <p:sp>
        <p:nvSpPr>
          <p:cNvPr id="6" name="Text Placeholder 19">
            <a:extLst>
              <a:ext uri="{FF2B5EF4-FFF2-40B4-BE49-F238E27FC236}">
                <a16:creationId xmlns:a16="http://schemas.microsoft.com/office/drawing/2014/main" id="{CC4C3579-39BD-FD7E-6A30-B13AA438333B}"/>
              </a:ext>
            </a:extLst>
          </p:cNvPr>
          <p:cNvSpPr>
            <a:spLocks noGrp="1"/>
          </p:cNvSpPr>
          <p:nvPr>
            <p:ph type="body" sz="quarter" idx="11" hasCustomPrompt="1"/>
          </p:nvPr>
        </p:nvSpPr>
        <p:spPr>
          <a:xfrm>
            <a:off x="1140565" y="1930400"/>
            <a:ext cx="7010400" cy="939800"/>
          </a:xfrm>
          <a:prstGeom prst="rect">
            <a:avLst/>
          </a:prstGeom>
        </p:spPr>
        <p:txBody>
          <a:bodyPr/>
          <a:lstStyle>
            <a:lvl1pPr marL="0" indent="0" algn="l" defTabSz="914400" rtl="0" eaLnBrk="1" latinLnBrk="0" hangingPunct="1">
              <a:lnSpc>
                <a:spcPts val="6800"/>
              </a:lnSpc>
              <a:buNone/>
              <a:defRPr lang="en-US" sz="6000" b="0" i="0" kern="0" spc="-120" dirty="0" smtClean="0">
                <a:solidFill>
                  <a:schemeClr val="bg2"/>
                </a:solidFill>
                <a:latin typeface="Poppins" pitchFamily="2" charset="77"/>
                <a:ea typeface="Poppins" pitchFamily="2" charset="77"/>
                <a:cs typeface="Poppins" pitchFamily="2" charset="77"/>
              </a:defRPr>
            </a:lvl1pPr>
          </a:lstStyle>
          <a:p>
            <a:pPr lvl="0"/>
            <a:r>
              <a:rPr lang="en-US"/>
              <a:t>Subtitle</a:t>
            </a:r>
          </a:p>
          <a:p>
            <a:pPr lvl="0"/>
            <a:endParaRPr lang="en-US"/>
          </a:p>
        </p:txBody>
      </p:sp>
      <p:sp>
        <p:nvSpPr>
          <p:cNvPr id="3" name="Chart Placeholder 2">
            <a:extLst>
              <a:ext uri="{FF2B5EF4-FFF2-40B4-BE49-F238E27FC236}">
                <a16:creationId xmlns:a16="http://schemas.microsoft.com/office/drawing/2014/main" id="{37FAA54B-2E67-1405-41E1-8BC64A2278D6}"/>
              </a:ext>
            </a:extLst>
          </p:cNvPr>
          <p:cNvSpPr>
            <a:spLocks noGrp="1"/>
          </p:cNvSpPr>
          <p:nvPr>
            <p:ph type="chart" sz="quarter" idx="12"/>
          </p:nvPr>
        </p:nvSpPr>
        <p:spPr>
          <a:xfrm>
            <a:off x="9359160" y="1104900"/>
            <a:ext cx="13887450" cy="11506200"/>
          </a:xfrm>
          <a:prstGeom prst="roundRect">
            <a:avLst>
              <a:gd name="adj" fmla="val 3505"/>
            </a:avLst>
          </a:prstGeom>
        </p:spPr>
        <p:txBody>
          <a:bodyPr/>
          <a:lstStyle>
            <a:lvl1pPr>
              <a:defRPr b="0" i="0">
                <a:latin typeface="Poppins" pitchFamily="2" charset="77"/>
              </a:defRPr>
            </a:lvl1pPr>
          </a:lstStyle>
          <a:p>
            <a:endParaRPr lang="en-US"/>
          </a:p>
        </p:txBody>
      </p:sp>
    </p:spTree>
    <p:extLst>
      <p:ext uri="{BB962C8B-B14F-4D97-AF65-F5344CB8AC3E}">
        <p14:creationId xmlns:p14="http://schemas.microsoft.com/office/powerpoint/2010/main" val="2385097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p:bg>
      <p:bgPr>
        <a:solidFill>
          <a:schemeClr val="tx2"/>
        </a:solidFill>
        <a:effectLst/>
      </p:bgPr>
    </p:bg>
    <p:spTree>
      <p:nvGrpSpPr>
        <p:cNvPr id="1" name=""/>
        <p:cNvGrpSpPr/>
        <p:nvPr/>
      </p:nvGrpSpPr>
      <p:grpSpPr>
        <a:xfrm>
          <a:off x="0" y="0"/>
          <a:ext cx="0" cy="0"/>
          <a:chOff x="0" y="0"/>
          <a:chExt cx="0" cy="0"/>
        </a:xfrm>
      </p:grpSpPr>
      <p:sp>
        <p:nvSpPr>
          <p:cNvPr id="12" name="Text Placeholder 19">
            <a:extLst>
              <a:ext uri="{FF2B5EF4-FFF2-40B4-BE49-F238E27FC236}">
                <a16:creationId xmlns:a16="http://schemas.microsoft.com/office/drawing/2014/main" id="{FDB64B77-E38D-1ACA-5A15-6809BD7C672C}"/>
              </a:ext>
            </a:extLst>
          </p:cNvPr>
          <p:cNvSpPr>
            <a:spLocks noGrp="1"/>
          </p:cNvSpPr>
          <p:nvPr>
            <p:ph type="body" sz="quarter" idx="29" hasCustomPrompt="1"/>
          </p:nvPr>
        </p:nvSpPr>
        <p:spPr>
          <a:xfrm>
            <a:off x="1123701" y="4219279"/>
            <a:ext cx="7010400" cy="1890091"/>
          </a:xfrm>
          <a:prstGeom prst="rect">
            <a:avLst/>
          </a:prstGeom>
        </p:spPr>
        <p:txBody>
          <a:bodyPr/>
          <a:lstStyle>
            <a:lvl1pPr marL="0" marR="0" indent="0" algn="l" defTabSz="914400" rtl="0" eaLnBrk="1" fontAlgn="auto" latinLnBrk="0" hangingPunct="1">
              <a:lnSpc>
                <a:spcPts val="6800"/>
              </a:lnSpc>
              <a:spcBef>
                <a:spcPts val="0"/>
              </a:spcBef>
              <a:spcAft>
                <a:spcPts val="0"/>
              </a:spcAft>
              <a:buClrTx/>
              <a:buSzTx/>
              <a:buFontTx/>
              <a:buNone/>
              <a:tabLst/>
              <a:defRPr lang="en-US" sz="6000" b="0" i="0" kern="0" spc="-120">
                <a:solidFill>
                  <a:schemeClr val="bg1"/>
                </a:solidFill>
                <a:latin typeface="Poppins" pitchFamily="2" charset="77"/>
                <a:ea typeface="Segoe UI Variable Display Bold" pitchFamily="34" charset="-122"/>
                <a:cs typeface="Segoe UI Variable Display Bold" pitchFamily="34" charset="-120"/>
              </a:defRPr>
            </a:lvl1pPr>
          </a:lstStyle>
          <a:p>
            <a:pPr marL="0" marR="0" lvl="0" indent="0" algn="l" defTabSz="914400" rtl="0" eaLnBrk="1" fontAlgn="auto" latinLnBrk="0" hangingPunct="1">
              <a:lnSpc>
                <a:spcPts val="6800"/>
              </a:lnSpc>
              <a:spcBef>
                <a:spcPts val="0"/>
              </a:spcBef>
              <a:spcAft>
                <a:spcPts val="0"/>
              </a:spcAft>
              <a:buClrTx/>
              <a:buSzTx/>
              <a:buFontTx/>
              <a:buNone/>
              <a:tabLst/>
              <a:defRPr/>
            </a:pPr>
            <a:r>
              <a:rPr kumimoji="0" lang="en-US" sz="6000" b="1" i="0" u="none" strike="noStrike" kern="0" cap="none" spc="-120" normalizeH="0" baseline="0" noProof="0">
                <a:ln>
                  <a:noFill/>
                </a:ln>
                <a:effectLst/>
                <a:uLnTx/>
                <a:uFillTx/>
                <a:latin typeface="Segoe UI Variable Display" pitchFamily="2" charset="0"/>
                <a:ea typeface="Segoe UI Variable Display Bold" pitchFamily="34" charset="-122"/>
                <a:cs typeface="Segoe UI Variable Display Bold" pitchFamily="34" charset="-120"/>
              </a:rPr>
              <a:t>GitHub Copilot </a:t>
            </a:r>
            <a:br>
              <a:rPr kumimoji="0" lang="en-US" sz="6000" b="1" i="0" u="none" strike="noStrike" kern="0" cap="none" spc="-120" normalizeH="0" baseline="0" noProof="0">
                <a:ln>
                  <a:noFill/>
                </a:ln>
                <a:effectLst/>
                <a:uLnTx/>
                <a:uFillTx/>
                <a:latin typeface="Segoe UI Variable Display" pitchFamily="2" charset="0"/>
                <a:ea typeface="Segoe UI Variable Display Bold" pitchFamily="34" charset="-122"/>
                <a:cs typeface="Segoe UI Variable Display Bold" pitchFamily="34" charset="-120"/>
              </a:rPr>
            </a:br>
            <a:r>
              <a:rPr kumimoji="0" lang="en-US" sz="6000" b="1" i="0" u="none" strike="noStrike" kern="0" cap="none" spc="-120" normalizeH="0" baseline="0" noProof="0">
                <a:ln>
                  <a:noFill/>
                </a:ln>
                <a:effectLst/>
                <a:uLnTx/>
                <a:uFillTx/>
                <a:latin typeface="Segoe UI Variable Display" pitchFamily="2" charset="0"/>
                <a:ea typeface="Segoe UI Variable Display Bold" pitchFamily="34" charset="-122"/>
                <a:cs typeface="Segoe UI Variable Display Bold" pitchFamily="34" charset="-120"/>
              </a:rPr>
              <a:t>app modernization</a:t>
            </a:r>
          </a:p>
        </p:txBody>
      </p:sp>
      <p:sp>
        <p:nvSpPr>
          <p:cNvPr id="3" name="Picture Placeholder 5">
            <a:extLst>
              <a:ext uri="{FF2B5EF4-FFF2-40B4-BE49-F238E27FC236}">
                <a16:creationId xmlns:a16="http://schemas.microsoft.com/office/drawing/2014/main" id="{D7D85207-8BBB-CCE1-CB12-F932B4FFD4BB}"/>
              </a:ext>
            </a:extLst>
          </p:cNvPr>
          <p:cNvSpPr>
            <a:spLocks noGrp="1"/>
          </p:cNvSpPr>
          <p:nvPr>
            <p:ph type="pic" sz="quarter" idx="28"/>
          </p:nvPr>
        </p:nvSpPr>
        <p:spPr>
          <a:xfrm>
            <a:off x="10544175" y="1143000"/>
            <a:ext cx="12687300" cy="11315700"/>
          </a:xfrm>
          <a:prstGeom prst="roundRect">
            <a:avLst>
              <a:gd name="adj" fmla="val 3536"/>
            </a:avLst>
          </a:prstGeom>
          <a:noFill/>
          <a:ln w="38100">
            <a:gradFill>
              <a:gsLst>
                <a:gs pos="0">
                  <a:schemeClr val="accent3"/>
                </a:gs>
                <a:gs pos="32000">
                  <a:schemeClr val="accent6"/>
                </a:gs>
                <a:gs pos="65000">
                  <a:srgbClr val="8853F0"/>
                </a:gs>
                <a:gs pos="100000">
                  <a:schemeClr val="accent1"/>
                </a:gs>
              </a:gsLst>
              <a:lin ang="3000000" scaled="0"/>
            </a:gradFill>
          </a:ln>
          <a:effectLst>
            <a:glow rad="254000">
              <a:schemeClr val="accent4">
                <a:alpha val="9137"/>
              </a:schemeClr>
            </a:glow>
            <a:softEdge rad="0"/>
          </a:effectLst>
        </p:spPr>
        <p:style>
          <a:lnRef idx="2">
            <a:schemeClr val="accent1">
              <a:shade val="15000"/>
            </a:schemeClr>
          </a:lnRef>
          <a:fillRef idx="1">
            <a:schemeClr val="accent1"/>
          </a:fillRef>
          <a:effectRef idx="0">
            <a:schemeClr val="accent1"/>
          </a:effectRef>
          <a:fontRef idx="minor">
            <a:schemeClr val="lt1"/>
          </a:fontRef>
        </p:style>
        <p:txBody>
          <a:bodyPr/>
          <a:lstStyle>
            <a:lvl1pPr>
              <a:defRPr lang="en-US" sz="1800" b="0" i="0" dirty="0">
                <a:latin typeface="Poppins" pitchFamily="2" charset="77"/>
              </a:defRPr>
            </a:lvl1pPr>
          </a:lstStyle>
          <a:p>
            <a:pPr marL="0" lvl="0" algn="ctr"/>
            <a:endParaRPr lang="en-US"/>
          </a:p>
        </p:txBody>
      </p:sp>
      <p:sp>
        <p:nvSpPr>
          <p:cNvPr id="4" name="TextBox 3">
            <a:extLst>
              <a:ext uri="{FF2B5EF4-FFF2-40B4-BE49-F238E27FC236}">
                <a16:creationId xmlns:a16="http://schemas.microsoft.com/office/drawing/2014/main" id="{C5E21DE6-35C9-049F-DAB0-6C145F3846EB}"/>
              </a:ext>
            </a:extLst>
          </p:cNvPr>
          <p:cNvSpPr txBox="1"/>
          <p:nvPr userDrawn="1"/>
        </p:nvSpPr>
        <p:spPr>
          <a:xfrm>
            <a:off x="1123701" y="974035"/>
            <a:ext cx="2874505" cy="1323439"/>
          </a:xfrm>
          <a:prstGeom prst="rect">
            <a:avLst/>
          </a:prstGeom>
          <a:noFill/>
        </p:spPr>
        <p:txBody>
          <a:bodyPr wrap="none" rtlCol="0">
            <a:spAutoFit/>
          </a:bodyPr>
          <a:lstStyle/>
          <a:p>
            <a:r>
              <a:rPr lang="en-US" sz="8000">
                <a:solidFill>
                  <a:schemeClr val="bg1"/>
                </a:solidFill>
              </a:rPr>
              <a:t>DEMO</a:t>
            </a:r>
            <a:endParaRPr lang="en-US" sz="4000">
              <a:solidFill>
                <a:schemeClr val="bg1"/>
              </a:solidFill>
            </a:endParaRPr>
          </a:p>
        </p:txBody>
      </p:sp>
    </p:spTree>
    <p:extLst>
      <p:ext uri="{BB962C8B-B14F-4D97-AF65-F5344CB8AC3E}">
        <p14:creationId xmlns:p14="http://schemas.microsoft.com/office/powerpoint/2010/main" val="3540439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2"/>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018E0206-ABFD-233B-CA82-D4589F7C8DBC}"/>
              </a:ext>
            </a:extLst>
          </p:cNvPr>
          <p:cNvSpPr>
            <a:spLocks noGrp="1"/>
          </p:cNvSpPr>
          <p:nvPr>
            <p:ph type="body" sz="quarter" idx="12" hasCustomPrompt="1"/>
          </p:nvPr>
        </p:nvSpPr>
        <p:spPr>
          <a:xfrm>
            <a:off x="2757377" y="6096225"/>
            <a:ext cx="7010400" cy="1289311"/>
          </a:xfrm>
          <a:prstGeom prst="rect">
            <a:avLst/>
          </a:prstGeom>
        </p:spPr>
        <p:txBody>
          <a:bodyPr/>
          <a:lstStyle>
            <a:lvl1pPr marL="0" indent="0" algn="l" defTabSz="914400" rtl="0" eaLnBrk="1" latinLnBrk="0" hangingPunct="1">
              <a:lnSpc>
                <a:spcPts val="10800"/>
              </a:lnSpc>
              <a:buNone/>
              <a:defRPr lang="en-US" sz="10000" b="0" i="0" kern="0" spc="-120" dirty="0" smtClean="0">
                <a:solidFill>
                  <a:schemeClr val="bg1"/>
                </a:solidFill>
                <a:latin typeface="Poppins" pitchFamily="2" charset="77"/>
                <a:ea typeface="Poppins" pitchFamily="2" charset="77"/>
                <a:cs typeface="Poppins" pitchFamily="2" charset="77"/>
              </a:defRPr>
            </a:lvl1pPr>
          </a:lstStyle>
          <a:p>
            <a:pPr marL="0" indent="0" algn="l">
              <a:lnSpc>
                <a:spcPts val="10800"/>
              </a:lnSpc>
              <a:buNone/>
            </a:pPr>
            <a:r>
              <a:rPr lang="en-US" sz="10000" kern="0" spc="-400">
                <a:solidFill>
                  <a:schemeClr val="bg1"/>
                </a:solidFill>
                <a:latin typeface="Segoe UI Variable Display Semibold" pitchFamily="34" charset="0"/>
                <a:ea typeface="Segoe UI Variable Display Semibold" pitchFamily="34" charset="-122"/>
                <a:cs typeface="Segoe UI Variable Display Semibold" pitchFamily="34" charset="-120"/>
              </a:rPr>
              <a:t>Section title</a:t>
            </a:r>
            <a:endParaRPr lang="en-US" sz="10000">
              <a:solidFill>
                <a:schemeClr val="bg1"/>
              </a:solidFill>
            </a:endParaRPr>
          </a:p>
        </p:txBody>
      </p:sp>
      <p:sp>
        <p:nvSpPr>
          <p:cNvPr id="8" name="Text Placeholder 19">
            <a:extLst>
              <a:ext uri="{FF2B5EF4-FFF2-40B4-BE49-F238E27FC236}">
                <a16:creationId xmlns:a16="http://schemas.microsoft.com/office/drawing/2014/main" id="{3293E78D-709C-33A8-2CDF-C6266EB45DB3}"/>
              </a:ext>
            </a:extLst>
          </p:cNvPr>
          <p:cNvSpPr>
            <a:spLocks noGrp="1"/>
          </p:cNvSpPr>
          <p:nvPr>
            <p:ph type="body" sz="quarter" idx="19" hasCustomPrompt="1"/>
          </p:nvPr>
        </p:nvSpPr>
        <p:spPr>
          <a:xfrm>
            <a:off x="1039105" y="6096226"/>
            <a:ext cx="1553370" cy="1289312"/>
          </a:xfrm>
          <a:prstGeom prst="rect">
            <a:avLst/>
          </a:prstGeom>
        </p:spPr>
        <p:txBody>
          <a:bodyPr/>
          <a:lstStyle>
            <a:lvl1pPr marL="0" indent="0" algn="l" defTabSz="914400" rtl="0" eaLnBrk="1" latinLnBrk="0" hangingPunct="1">
              <a:lnSpc>
                <a:spcPts val="10800"/>
              </a:lnSpc>
              <a:buNone/>
              <a:defRPr lang="en-US" sz="10000" b="0" i="0" kern="0" spc="-400" dirty="0">
                <a:solidFill>
                  <a:schemeClr val="tx2"/>
                </a:solidFill>
                <a:latin typeface="Poppins" pitchFamily="2" charset="77"/>
                <a:ea typeface="Poppins" pitchFamily="2" charset="77"/>
                <a:cs typeface="Poppins" pitchFamily="2" charset="77"/>
              </a:defRPr>
            </a:lvl1pPr>
          </a:lstStyle>
          <a:p>
            <a:pPr lvl="0"/>
            <a:r>
              <a:rPr lang="en-US" sz="10000" kern="0" spc="-400">
                <a:solidFill>
                  <a:schemeClr val="bg2"/>
                </a:solidFill>
                <a:latin typeface="Segoe UI Variable Display Semibold" pitchFamily="34" charset="0"/>
                <a:ea typeface="Segoe UI Variable Display Semibold" pitchFamily="34" charset="-122"/>
                <a:cs typeface="Segoe UI Variable Display Semibold" pitchFamily="34" charset="-120"/>
              </a:rPr>
              <a:t>01</a:t>
            </a:r>
            <a:endParaRPr lang="en-US"/>
          </a:p>
        </p:txBody>
      </p:sp>
      <p:pic>
        <p:nvPicPr>
          <p:cNvPr id="7" name="Picture 6" descr="A cartoon robot with a black background&#10;&#10;AI-generated content may be incorrect.">
            <a:extLst>
              <a:ext uri="{FF2B5EF4-FFF2-40B4-BE49-F238E27FC236}">
                <a16:creationId xmlns:a16="http://schemas.microsoft.com/office/drawing/2014/main" id="{FB84EBE4-D76E-246F-EA29-FA79222DA5F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621500" y="8761413"/>
            <a:ext cx="4383087" cy="4383087"/>
          </a:xfrm>
          <a:prstGeom prst="rect">
            <a:avLst/>
          </a:prstGeom>
        </p:spPr>
      </p:pic>
    </p:spTree>
    <p:extLst>
      <p:ext uri="{BB962C8B-B14F-4D97-AF65-F5344CB8AC3E}">
        <p14:creationId xmlns:p14="http://schemas.microsoft.com/office/powerpoint/2010/main" val="3242860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3" name="Text Placeholder 19">
            <a:extLst>
              <a:ext uri="{FF2B5EF4-FFF2-40B4-BE49-F238E27FC236}">
                <a16:creationId xmlns:a16="http://schemas.microsoft.com/office/drawing/2014/main" id="{D1DA0781-BBE4-E3D7-52FC-37514CB11786}"/>
              </a:ext>
            </a:extLst>
          </p:cNvPr>
          <p:cNvSpPr>
            <a:spLocks noGrp="1"/>
          </p:cNvSpPr>
          <p:nvPr>
            <p:ph type="body" sz="quarter" idx="12" hasCustomPrompt="1"/>
          </p:nvPr>
        </p:nvSpPr>
        <p:spPr>
          <a:xfrm>
            <a:off x="1039108" y="6078642"/>
            <a:ext cx="7010400" cy="1289311"/>
          </a:xfrm>
          <a:prstGeom prst="rect">
            <a:avLst/>
          </a:prstGeom>
        </p:spPr>
        <p:txBody>
          <a:bodyPr/>
          <a:lstStyle>
            <a:lvl1pPr marL="0" indent="0" algn="l" defTabSz="914400" rtl="0" eaLnBrk="1" latinLnBrk="0" hangingPunct="1">
              <a:lnSpc>
                <a:spcPts val="10800"/>
              </a:lnSpc>
              <a:buNone/>
              <a:defRPr lang="en-US" sz="10000" b="0" i="0" kern="0" spc="-120" dirty="0" smtClean="0">
                <a:solidFill>
                  <a:srgbClr val="0F0F0F">
                    <a:alpha val="100000"/>
                  </a:srgbClr>
                </a:solidFill>
                <a:latin typeface="Poppins" pitchFamily="2" charset="77"/>
                <a:ea typeface="Poppins" pitchFamily="2" charset="77"/>
                <a:cs typeface="Poppins" pitchFamily="2" charset="77"/>
              </a:defRPr>
            </a:lvl1pPr>
          </a:lstStyle>
          <a:p>
            <a:pPr marL="0" indent="0" algn="l">
              <a:lnSpc>
                <a:spcPts val="10800"/>
              </a:lnSpc>
              <a:buNone/>
            </a:pPr>
            <a:r>
              <a:rPr lang="en-US" sz="10000" kern="0" spc="-400">
                <a:solidFill>
                  <a:schemeClr val="bg1"/>
                </a:solidFill>
                <a:latin typeface="Segoe UI Variable Display Semibold" pitchFamily="34" charset="0"/>
                <a:ea typeface="Segoe UI Variable Display Semibold" pitchFamily="34" charset="-122"/>
                <a:cs typeface="Segoe UI Variable Display Semibold" pitchFamily="34" charset="-120"/>
              </a:rPr>
              <a:t>Thank you</a:t>
            </a:r>
            <a:endParaRPr lang="en-US" sz="10000">
              <a:solidFill>
                <a:schemeClr val="bg1"/>
              </a:solidFill>
            </a:endParaRPr>
          </a:p>
        </p:txBody>
      </p:sp>
      <p:pic>
        <p:nvPicPr>
          <p:cNvPr id="15" name="Picture 14" descr="A purple square object with white text&#10;&#10;AI-generated content may be incorrect.">
            <a:extLst>
              <a:ext uri="{FF2B5EF4-FFF2-40B4-BE49-F238E27FC236}">
                <a16:creationId xmlns:a16="http://schemas.microsoft.com/office/drawing/2014/main" id="{93B04985-6D98-3A22-ECB5-A16BB5BB940A}"/>
              </a:ext>
            </a:extLst>
          </p:cNvPr>
          <p:cNvPicPr>
            <a:picLocks noChangeAspect="1"/>
          </p:cNvPicPr>
          <p:nvPr userDrawn="1"/>
        </p:nvPicPr>
        <p:blipFill>
          <a:blip r:embed="rId2"/>
          <a:stretch>
            <a:fillRect/>
          </a:stretch>
        </p:blipFill>
        <p:spPr>
          <a:xfrm>
            <a:off x="6099175" y="1866900"/>
            <a:ext cx="18288000" cy="10287000"/>
          </a:xfrm>
          <a:prstGeom prst="rect">
            <a:avLst/>
          </a:prstGeom>
        </p:spPr>
      </p:pic>
    </p:spTree>
    <p:extLst>
      <p:ext uri="{BB962C8B-B14F-4D97-AF65-F5344CB8AC3E}">
        <p14:creationId xmlns:p14="http://schemas.microsoft.com/office/powerpoint/2010/main" val="3960253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676619" y="2882347"/>
            <a:ext cx="21033938" cy="101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2734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76618" y="2923067"/>
            <a:ext cx="10364549" cy="10062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6008" y="2923069"/>
            <a:ext cx="10364549" cy="100626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612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94758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9027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771702"/>
      </p:ext>
    </p:extLst>
  </p:cSld>
  <p:clrMap bg1="lt1" tx1="dk1" bg2="lt2" tx2="dk2" accent1="accent1" accent2="accent2" accent3="accent3" accent4="accent4" accent5="accent5" accent6="accent6" hlink="hlink" folHlink="folHlink"/>
  <p:sldLayoutIdLst>
    <p:sldLayoutId id="2147483678" r:id="rId1"/>
    <p:sldLayoutId id="2147483687" r:id="rId2"/>
    <p:sldLayoutId id="2147483713" r:id="rId3"/>
    <p:sldLayoutId id="2147483701" r:id="rId4"/>
    <p:sldLayoutId id="2147483702"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F1E3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183404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676619" y="2862470"/>
            <a:ext cx="21033938" cy="94914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5011581"/>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2.png"/><Relationship Id="rId5" Type="http://schemas.microsoft.com/office/2007/relationships/hdphoto" Target="../media/hdphoto1.wdp"/><Relationship Id="rId10" Type="http://schemas.microsoft.com/office/2007/relationships/hdphoto" Target="../media/hdphoto2.wdp"/><Relationship Id="rId4" Type="http://schemas.openxmlformats.org/officeDocument/2006/relationships/image" Target="../media/image7.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8.xml"/><Relationship Id="rId5" Type="http://schemas.openxmlformats.org/officeDocument/2006/relationships/image" Target="../media/image16.jpe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dotnet/core/whats-new" TargetMode="External"/><Relationship Id="rId2" Type="http://schemas.openxmlformats.org/officeDocument/2006/relationships/hyperlink" Target="https://get.dot.net/10" TargetMode="External"/><Relationship Id="rId1" Type="http://schemas.openxmlformats.org/officeDocument/2006/relationships/slideLayout" Target="../slideLayouts/slideLayout6.xml"/><Relationship Id="rId4" Type="http://schemas.openxmlformats.org/officeDocument/2006/relationships/hyperlink" Target="https://learn.microsoft.com/aspnet/core"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F2D443-CCBA-F493-BB9C-5979025923DF}"/>
              </a:ext>
            </a:extLst>
          </p:cNvPr>
          <p:cNvSpPr>
            <a:spLocks noGrp="1"/>
          </p:cNvSpPr>
          <p:nvPr>
            <p:ph type="body" sz="quarter" idx="10"/>
          </p:nvPr>
        </p:nvSpPr>
        <p:spPr>
          <a:xfrm>
            <a:off x="1088057" y="1041400"/>
            <a:ext cx="13074509" cy="1828800"/>
          </a:xfrm>
        </p:spPr>
        <p:txBody>
          <a:bodyPr/>
          <a:lstStyle/>
          <a:p>
            <a:r>
              <a:rPr lang="en-US"/>
              <a:t>What’s New in ASP.NET Core</a:t>
            </a:r>
          </a:p>
        </p:txBody>
      </p:sp>
      <p:sp>
        <p:nvSpPr>
          <p:cNvPr id="3" name="Text Placeholder 2">
            <a:extLst>
              <a:ext uri="{FF2B5EF4-FFF2-40B4-BE49-F238E27FC236}">
                <a16:creationId xmlns:a16="http://schemas.microsoft.com/office/drawing/2014/main" id="{3E57981F-227E-29FE-3B14-7FCCEA312221}"/>
              </a:ext>
            </a:extLst>
          </p:cNvPr>
          <p:cNvSpPr>
            <a:spLocks noGrp="1"/>
          </p:cNvSpPr>
          <p:nvPr>
            <p:ph type="body" sz="quarter" idx="11"/>
          </p:nvPr>
        </p:nvSpPr>
        <p:spPr>
          <a:xfrm>
            <a:off x="1112121" y="5685464"/>
            <a:ext cx="14116500" cy="1828800"/>
          </a:xfrm>
        </p:spPr>
        <p:txBody>
          <a:bodyPr/>
          <a:lstStyle/>
          <a:p>
            <a:pPr>
              <a:lnSpc>
                <a:spcPct val="100000"/>
              </a:lnSpc>
            </a:pPr>
            <a:r>
              <a:rPr lang="en-US" sz="6000">
                <a:solidFill>
                  <a:srgbClr val="969696"/>
                </a:solidFill>
              </a:rPr>
              <a:t>Mike Kistler, Principal Product Manager</a:t>
            </a:r>
          </a:p>
          <a:p>
            <a:pPr>
              <a:lnSpc>
                <a:spcPct val="100000"/>
              </a:lnSpc>
            </a:pPr>
            <a:r>
              <a:rPr lang="en-US" sz="6000">
                <a:solidFill>
                  <a:srgbClr val="969696"/>
                </a:solidFill>
              </a:rPr>
              <a:t>Safia Abdalla, Principal Software Engineer</a:t>
            </a:r>
          </a:p>
        </p:txBody>
      </p:sp>
    </p:spTree>
    <p:extLst>
      <p:ext uri="{BB962C8B-B14F-4D97-AF65-F5344CB8AC3E}">
        <p14:creationId xmlns:p14="http://schemas.microsoft.com/office/powerpoint/2010/main" val="3345922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E13BB39-21FB-48E9-6EAC-E7E5E5009E2D}"/>
              </a:ext>
            </a:extLst>
          </p:cNvPr>
          <p:cNvSpPr>
            <a:spLocks noGrp="1"/>
          </p:cNvSpPr>
          <p:nvPr>
            <p:ph type="title"/>
          </p:nvPr>
        </p:nvSpPr>
        <p:spPr>
          <a:xfrm>
            <a:off x="990819" y="2178160"/>
            <a:ext cx="7438800" cy="9359680"/>
          </a:xfrm>
        </p:spPr>
        <p:txBody>
          <a:bodyPr/>
          <a:lstStyle/>
          <a:p>
            <a:r>
              <a:rPr lang="en-US" dirty="0"/>
              <a:t>ASP.NET Core:</a:t>
            </a:r>
            <a:br>
              <a:rPr lang="en-US" dirty="0"/>
            </a:br>
            <a:r>
              <a:rPr lang="en-US" dirty="0"/>
              <a:t>A complete modern web framework</a:t>
            </a:r>
          </a:p>
        </p:txBody>
      </p:sp>
      <p:sp>
        <p:nvSpPr>
          <p:cNvPr id="11" name="Content Placeholder 10">
            <a:extLst>
              <a:ext uri="{FF2B5EF4-FFF2-40B4-BE49-F238E27FC236}">
                <a16:creationId xmlns:a16="http://schemas.microsoft.com/office/drawing/2014/main" id="{DEC5EFFF-FB65-3C03-B11E-8FD4C5FB518B}"/>
              </a:ext>
            </a:extLst>
          </p:cNvPr>
          <p:cNvSpPr>
            <a:spLocks noGrp="1"/>
          </p:cNvSpPr>
          <p:nvPr>
            <p:ph sz="half" idx="2"/>
          </p:nvPr>
        </p:nvSpPr>
        <p:spPr>
          <a:xfrm>
            <a:off x="9344025" y="1892410"/>
            <a:ext cx="14366656" cy="10062678"/>
          </a:xfrm>
        </p:spPr>
        <p:txBody>
          <a:bodyPr anchor="ctr">
            <a:normAutofit fontScale="92500"/>
          </a:bodyPr>
          <a:lstStyle/>
          <a:p>
            <a:pPr>
              <a:lnSpc>
                <a:spcPct val="150000"/>
              </a:lnSpc>
            </a:pPr>
            <a:r>
              <a:rPr lang="en-US" sz="6600" b="1" dirty="0"/>
              <a:t>Blazor</a:t>
            </a:r>
            <a:r>
              <a:rPr lang="en-US" sz="6600" dirty="0"/>
              <a:t> – Rich interactive Web UI</a:t>
            </a:r>
          </a:p>
          <a:p>
            <a:pPr>
              <a:lnSpc>
                <a:spcPct val="150000"/>
              </a:lnSpc>
            </a:pPr>
            <a:r>
              <a:rPr lang="en-US" sz="6600" b="1" dirty="0"/>
              <a:t>Minimal APIs </a:t>
            </a:r>
            <a:r>
              <a:rPr lang="en-US" sz="6600" dirty="0"/>
              <a:t>– Fast HTTP APIs</a:t>
            </a:r>
          </a:p>
          <a:p>
            <a:pPr>
              <a:lnSpc>
                <a:spcPct val="150000"/>
              </a:lnSpc>
            </a:pPr>
            <a:r>
              <a:rPr lang="en-US" sz="6600" b="1" dirty="0" err="1"/>
              <a:t>SignalR</a:t>
            </a:r>
            <a:r>
              <a:rPr lang="en-US" sz="6600" dirty="0"/>
              <a:t> -- Real-time services</a:t>
            </a:r>
          </a:p>
          <a:p>
            <a:pPr>
              <a:lnSpc>
                <a:spcPct val="150000"/>
              </a:lnSpc>
            </a:pPr>
            <a:r>
              <a:rPr lang="en-US" sz="6600" b="1" dirty="0" err="1"/>
              <a:t>gRPC</a:t>
            </a:r>
            <a:r>
              <a:rPr lang="en-US" sz="6600" dirty="0"/>
              <a:t> – Backend RPC calls</a:t>
            </a:r>
          </a:p>
          <a:p>
            <a:pPr>
              <a:lnSpc>
                <a:spcPct val="150000"/>
              </a:lnSpc>
            </a:pPr>
            <a:r>
              <a:rPr lang="en-US" sz="6600" b="1" dirty="0"/>
              <a:t>Middleware</a:t>
            </a:r>
            <a:r>
              <a:rPr lang="en-US" sz="6600" dirty="0"/>
              <a:t> – Built-in &amp; custom</a:t>
            </a:r>
          </a:p>
          <a:p>
            <a:pPr>
              <a:lnSpc>
                <a:spcPct val="150000"/>
              </a:lnSpc>
            </a:pPr>
            <a:r>
              <a:rPr lang="en-US" sz="6600" b="1" dirty="0"/>
              <a:t>Kestrel</a:t>
            </a:r>
            <a:r>
              <a:rPr lang="en-US" sz="6600" dirty="0"/>
              <a:t> – High performance HTTP server</a:t>
            </a:r>
          </a:p>
        </p:txBody>
      </p:sp>
      <p:cxnSp>
        <p:nvCxnSpPr>
          <p:cNvPr id="13" name="Straight Connector 12">
            <a:extLst>
              <a:ext uri="{FF2B5EF4-FFF2-40B4-BE49-F238E27FC236}">
                <a16:creationId xmlns:a16="http://schemas.microsoft.com/office/drawing/2014/main" id="{E08594DB-5C81-D3E8-2186-A3EF9BD8E338}"/>
              </a:ext>
            </a:extLst>
          </p:cNvPr>
          <p:cNvCxnSpPr>
            <a:cxnSpLocks/>
          </p:cNvCxnSpPr>
          <p:nvPr/>
        </p:nvCxnSpPr>
        <p:spPr>
          <a:xfrm>
            <a:off x="8426974" y="3314700"/>
            <a:ext cx="0" cy="7086600"/>
          </a:xfrm>
          <a:prstGeom prst="line">
            <a:avLst/>
          </a:prstGeom>
          <a:ln w="412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736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C3C72-E7FF-E935-4C9C-559E5C17A695}"/>
              </a:ext>
            </a:extLst>
          </p:cNvPr>
          <p:cNvSpPr>
            <a:spLocks noGrp="1"/>
          </p:cNvSpPr>
          <p:nvPr>
            <p:ph type="title"/>
          </p:nvPr>
        </p:nvSpPr>
        <p:spPr/>
        <p:txBody>
          <a:bodyPr/>
          <a:lstStyle/>
          <a:p>
            <a:r>
              <a:rPr lang="en-US"/>
              <a:t>Web development with ASP.NET Core</a:t>
            </a:r>
          </a:p>
        </p:txBody>
      </p:sp>
      <p:sp>
        <p:nvSpPr>
          <p:cNvPr id="3" name="Text Placeholder 2">
            <a:extLst>
              <a:ext uri="{FF2B5EF4-FFF2-40B4-BE49-F238E27FC236}">
                <a16:creationId xmlns:a16="http://schemas.microsoft.com/office/drawing/2014/main" id="{C12F042C-7C90-3EA1-E24C-D93789C64431}"/>
              </a:ext>
            </a:extLst>
          </p:cNvPr>
          <p:cNvSpPr>
            <a:spLocks noGrp="1"/>
          </p:cNvSpPr>
          <p:nvPr>
            <p:ph sz="half" idx="1"/>
          </p:nvPr>
        </p:nvSpPr>
        <p:spPr/>
        <p:txBody>
          <a:bodyPr vert="horz" wrap="square" lIns="0" tIns="0" rIns="0" bIns="0" rtlCol="0" anchor="t">
            <a:spAutoFit/>
          </a:bodyPr>
          <a:lstStyle/>
          <a:p>
            <a:pPr marL="914400" indent="-914400"/>
            <a:r>
              <a:rPr lang="en-US">
                <a:cs typeface="Segoe UI"/>
              </a:rPr>
              <a:t>Trusted by millions of developers</a:t>
            </a:r>
          </a:p>
          <a:p>
            <a:pPr marL="914400" indent="-914400"/>
            <a:r>
              <a:rPr lang="en-US">
                <a:cs typeface="Segoe UI"/>
              </a:rPr>
              <a:t>Powers the world’s largest services</a:t>
            </a:r>
          </a:p>
          <a:p>
            <a:pPr marL="914400" indent="-914400"/>
            <a:r>
              <a:rPr lang="en-US">
                <a:cs typeface="Segoe UI"/>
              </a:rPr>
              <a:t>Industry leading performance</a:t>
            </a:r>
          </a:p>
          <a:p>
            <a:pPr marL="914400" indent="-914400"/>
            <a:r>
              <a:rPr lang="en-US">
                <a:cs typeface="Segoe UI"/>
              </a:rPr>
              <a:t>Foundation of modern cloud &amp; AI powered apps</a:t>
            </a:r>
          </a:p>
        </p:txBody>
      </p:sp>
      <p:grpSp>
        <p:nvGrpSpPr>
          <p:cNvPr id="19" name="Group 18">
            <a:extLst>
              <a:ext uri="{FF2B5EF4-FFF2-40B4-BE49-F238E27FC236}">
                <a16:creationId xmlns:a16="http://schemas.microsoft.com/office/drawing/2014/main" id="{7F036CCD-7533-7C45-F502-06E12F4FFBA4}"/>
              </a:ext>
            </a:extLst>
          </p:cNvPr>
          <p:cNvGrpSpPr/>
          <p:nvPr/>
        </p:nvGrpSpPr>
        <p:grpSpPr>
          <a:xfrm>
            <a:off x="7041318" y="-6499022"/>
            <a:ext cx="15063526" cy="17055436"/>
            <a:chOff x="3535630" y="-2774730"/>
            <a:chExt cx="7531763" cy="8527718"/>
          </a:xfrm>
        </p:grpSpPr>
        <p:cxnSp>
          <p:nvCxnSpPr>
            <p:cNvPr id="7" name="Straight Connector 6">
              <a:extLst>
                <a:ext uri="{FF2B5EF4-FFF2-40B4-BE49-F238E27FC236}">
                  <a16:creationId xmlns:a16="http://schemas.microsoft.com/office/drawing/2014/main" id="{109ABB5B-1B0D-E2D6-0EAA-C49C07C1C65C}"/>
                </a:ext>
              </a:extLst>
            </p:cNvPr>
            <p:cNvCxnSpPr>
              <a:cxnSpLocks/>
            </p:cNvCxnSpPr>
            <p:nvPr/>
          </p:nvCxnSpPr>
          <p:spPr>
            <a:xfrm>
              <a:off x="6700345" y="2144110"/>
              <a:ext cx="0" cy="3216166"/>
            </a:xfrm>
            <a:prstGeom prst="line">
              <a:avLst/>
            </a:prstGeom>
            <a:ln>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5EB0BBA-8AF8-E5D2-60A9-27A0E35A46F7}"/>
                </a:ext>
              </a:extLst>
            </p:cNvPr>
            <p:cNvCxnSpPr/>
            <p:nvPr/>
          </p:nvCxnSpPr>
          <p:spPr>
            <a:xfrm>
              <a:off x="6700345" y="5360276"/>
              <a:ext cx="4367048" cy="0"/>
            </a:xfrm>
            <a:prstGeom prst="line">
              <a:avLst/>
            </a:prstGeom>
            <a:ln>
              <a:solidFill>
                <a:schemeClr val="accent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Arc 9">
              <a:extLst>
                <a:ext uri="{FF2B5EF4-FFF2-40B4-BE49-F238E27FC236}">
                  <a16:creationId xmlns:a16="http://schemas.microsoft.com/office/drawing/2014/main" id="{195E560B-A13F-374A-4529-5193A09603EE}"/>
                </a:ext>
              </a:extLst>
            </p:cNvPr>
            <p:cNvSpPr/>
            <p:nvPr/>
          </p:nvSpPr>
          <p:spPr>
            <a:xfrm rot="5400000">
              <a:off x="3036940" y="-2276040"/>
              <a:ext cx="8135006" cy="7137626"/>
            </a:xfrm>
            <a:prstGeom prst="arc">
              <a:avLst>
                <a:gd name="adj1" fmla="val 17613442"/>
                <a:gd name="adj2" fmla="val 21586829"/>
              </a:avLst>
            </a:prstGeom>
            <a:ln w="53975">
              <a:solidFill>
                <a:schemeClr val="tx1"/>
              </a:solidFill>
              <a:headEnd type="triangle" w="lg" len="lg"/>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600"/>
            </a:p>
          </p:txBody>
        </p:sp>
        <p:sp>
          <p:nvSpPr>
            <p:cNvPr id="12" name="Star: 5 Points 11">
              <a:extLst>
                <a:ext uri="{FF2B5EF4-FFF2-40B4-BE49-F238E27FC236}">
                  <a16:creationId xmlns:a16="http://schemas.microsoft.com/office/drawing/2014/main" id="{3CE7D6DB-FB50-CA33-FB14-AE4EA14DC4AA}"/>
                </a:ext>
              </a:extLst>
            </p:cNvPr>
            <p:cNvSpPr/>
            <p:nvPr/>
          </p:nvSpPr>
          <p:spPr bwMode="auto">
            <a:xfrm>
              <a:off x="10216054" y="2227511"/>
              <a:ext cx="567559" cy="553999"/>
            </a:xfrm>
            <a:prstGeom prst="star5">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365760" tIns="292608" rIns="365760" bIns="292608" numCol="1" spcCol="0" rtlCol="0" fromWordArt="0" anchor="t" anchorCtr="0" forceAA="0" compatLnSpc="1">
              <a:prstTxWarp prst="textNoShape">
                <a:avLst/>
              </a:prstTxWarp>
              <a:noAutofit/>
            </a:bodyPr>
            <a:lstStyle/>
            <a:p>
              <a:pPr defTabSz="1864944" fontAlgn="base">
                <a:spcBef>
                  <a:spcPct val="0"/>
                </a:spcBef>
                <a:spcAft>
                  <a:spcPct val="0"/>
                </a:spcAft>
              </a:pPr>
              <a:endParaRPr lang="en-US" sz="4000" err="1">
                <a:solidFill>
                  <a:schemeClr val="bg1"/>
                </a:solidFill>
                <a:ea typeface="Segoe UI" pitchFamily="34" charset="0"/>
                <a:cs typeface="Segoe UI" pitchFamily="34" charset="0"/>
              </a:endParaRPr>
            </a:p>
          </p:txBody>
        </p:sp>
        <p:sp>
          <p:nvSpPr>
            <p:cNvPr id="14" name="TextBox 13">
              <a:extLst>
                <a:ext uri="{FF2B5EF4-FFF2-40B4-BE49-F238E27FC236}">
                  <a16:creationId xmlns:a16="http://schemas.microsoft.com/office/drawing/2014/main" id="{BF427EDE-6F01-E5EB-496C-92D5B7A17318}"/>
                </a:ext>
              </a:extLst>
            </p:cNvPr>
            <p:cNvSpPr txBox="1"/>
            <p:nvPr/>
          </p:nvSpPr>
          <p:spPr>
            <a:xfrm>
              <a:off x="10072632" y="1796623"/>
              <a:ext cx="785472" cy="430887"/>
            </a:xfrm>
            <a:prstGeom prst="rect">
              <a:avLst/>
            </a:prstGeom>
            <a:noFill/>
          </p:spPr>
          <p:txBody>
            <a:bodyPr wrap="none" lIns="0" tIns="0" rIns="0" bIns="0" rtlCol="0">
              <a:spAutoFit/>
            </a:bodyPr>
            <a:lstStyle/>
            <a:p>
              <a:pPr algn="l"/>
              <a:r>
                <a:rPr lang="en-US" sz="5600" b="1" dirty="0"/>
                <a:t>2.2M</a:t>
              </a:r>
            </a:p>
          </p:txBody>
        </p:sp>
        <p:sp>
          <p:nvSpPr>
            <p:cNvPr id="15" name="TextBox 14">
              <a:extLst>
                <a:ext uri="{FF2B5EF4-FFF2-40B4-BE49-F238E27FC236}">
                  <a16:creationId xmlns:a16="http://schemas.microsoft.com/office/drawing/2014/main" id="{F999EC0B-1C3B-3223-F1A4-34F2E3FA823C}"/>
                </a:ext>
              </a:extLst>
            </p:cNvPr>
            <p:cNvSpPr txBox="1"/>
            <p:nvPr/>
          </p:nvSpPr>
          <p:spPr>
            <a:xfrm>
              <a:off x="10216054" y="5445211"/>
              <a:ext cx="519373" cy="307777"/>
            </a:xfrm>
            <a:prstGeom prst="rect">
              <a:avLst/>
            </a:prstGeom>
            <a:noFill/>
          </p:spPr>
          <p:txBody>
            <a:bodyPr wrap="none" lIns="0" tIns="0" rIns="0" bIns="0" rtlCol="0">
              <a:spAutoFit/>
            </a:bodyPr>
            <a:lstStyle/>
            <a:p>
              <a:pPr algn="l"/>
              <a:r>
                <a:rPr lang="en-US" sz="4000"/>
                <a:t>2025</a:t>
              </a:r>
            </a:p>
          </p:txBody>
        </p:sp>
        <p:sp>
          <p:nvSpPr>
            <p:cNvPr id="16" name="TextBox 15">
              <a:extLst>
                <a:ext uri="{FF2B5EF4-FFF2-40B4-BE49-F238E27FC236}">
                  <a16:creationId xmlns:a16="http://schemas.microsoft.com/office/drawing/2014/main" id="{FB12309B-874B-FD9C-4400-0867125C3F8A}"/>
                </a:ext>
              </a:extLst>
            </p:cNvPr>
            <p:cNvSpPr txBox="1"/>
            <p:nvPr/>
          </p:nvSpPr>
          <p:spPr>
            <a:xfrm>
              <a:off x="6915804" y="5445210"/>
              <a:ext cx="519373" cy="307777"/>
            </a:xfrm>
            <a:prstGeom prst="rect">
              <a:avLst/>
            </a:prstGeom>
            <a:noFill/>
          </p:spPr>
          <p:txBody>
            <a:bodyPr wrap="none" lIns="0" tIns="0" rIns="0" bIns="0" rtlCol="0">
              <a:spAutoFit/>
            </a:bodyPr>
            <a:lstStyle/>
            <a:p>
              <a:pPr algn="l"/>
              <a:r>
                <a:rPr lang="en-US" sz="4000"/>
                <a:t>2016</a:t>
              </a:r>
            </a:p>
          </p:txBody>
        </p:sp>
        <p:sp>
          <p:nvSpPr>
            <p:cNvPr id="17" name="Oval 16">
              <a:extLst>
                <a:ext uri="{FF2B5EF4-FFF2-40B4-BE49-F238E27FC236}">
                  <a16:creationId xmlns:a16="http://schemas.microsoft.com/office/drawing/2014/main" id="{280271CD-AE68-BF0C-74C3-5A8445509D20}"/>
                </a:ext>
              </a:extLst>
            </p:cNvPr>
            <p:cNvSpPr/>
            <p:nvPr/>
          </p:nvSpPr>
          <p:spPr bwMode="auto">
            <a:xfrm>
              <a:off x="7075669" y="5266376"/>
              <a:ext cx="182880" cy="18288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365760" tIns="292608" rIns="365760" bIns="292608" numCol="1" spcCol="0" rtlCol="0" fromWordArt="0" anchor="t" anchorCtr="0" forceAA="0" compatLnSpc="1">
              <a:prstTxWarp prst="textNoShape">
                <a:avLst/>
              </a:prstTxWarp>
              <a:noAutofit/>
            </a:bodyPr>
            <a:lstStyle/>
            <a:p>
              <a:pPr defTabSz="1864944" fontAlgn="base">
                <a:spcBef>
                  <a:spcPct val="0"/>
                </a:spcBef>
                <a:spcAft>
                  <a:spcPct val="0"/>
                </a:spcAft>
              </a:pPr>
              <a:endParaRPr lang="en-US" sz="4000" err="1">
                <a:solidFill>
                  <a:schemeClr val="bg1"/>
                </a:solidFill>
                <a:ea typeface="Segoe UI" pitchFamily="34" charset="0"/>
                <a:cs typeface="Segoe UI" pitchFamily="34" charset="0"/>
              </a:endParaRPr>
            </a:p>
          </p:txBody>
        </p:sp>
        <p:sp>
          <p:nvSpPr>
            <p:cNvPr id="18" name="Oval 17">
              <a:extLst>
                <a:ext uri="{FF2B5EF4-FFF2-40B4-BE49-F238E27FC236}">
                  <a16:creationId xmlns:a16="http://schemas.microsoft.com/office/drawing/2014/main" id="{417B2938-B557-21FC-A52D-8BBC2F4F4CBA}"/>
                </a:ext>
              </a:extLst>
            </p:cNvPr>
            <p:cNvSpPr/>
            <p:nvPr/>
          </p:nvSpPr>
          <p:spPr bwMode="auto">
            <a:xfrm>
              <a:off x="10408392" y="5267162"/>
              <a:ext cx="182880" cy="1828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365760" tIns="292608" rIns="365760" bIns="292608" numCol="1" spcCol="0" rtlCol="0" fromWordArt="0" anchor="t" anchorCtr="0" forceAA="0" compatLnSpc="1">
              <a:prstTxWarp prst="textNoShape">
                <a:avLst/>
              </a:prstTxWarp>
              <a:noAutofit/>
            </a:bodyPr>
            <a:lstStyle/>
            <a:p>
              <a:pPr defTabSz="1864944" fontAlgn="base">
                <a:spcBef>
                  <a:spcPct val="0"/>
                </a:spcBef>
                <a:spcAft>
                  <a:spcPct val="0"/>
                </a:spcAft>
              </a:pPr>
              <a:endParaRPr lang="en-US" sz="4000" err="1">
                <a:solidFill>
                  <a:schemeClr val="bg1"/>
                </a:solidFill>
                <a:ea typeface="Segoe UI" pitchFamily="34" charset="0"/>
                <a:cs typeface="Segoe UI" pitchFamily="34" charset="0"/>
              </a:endParaRPr>
            </a:p>
          </p:txBody>
        </p:sp>
      </p:grpSp>
      <p:sp>
        <p:nvSpPr>
          <p:cNvPr id="20" name="Rectangle: Rounded Corners 19">
            <a:extLst>
              <a:ext uri="{FF2B5EF4-FFF2-40B4-BE49-F238E27FC236}">
                <a16:creationId xmlns:a16="http://schemas.microsoft.com/office/drawing/2014/main" id="{29F068BD-8FFE-28C0-D11B-A5C5E819F20C}"/>
              </a:ext>
            </a:extLst>
          </p:cNvPr>
          <p:cNvSpPr/>
          <p:nvPr/>
        </p:nvSpPr>
        <p:spPr bwMode="auto">
          <a:xfrm>
            <a:off x="1169989" y="11087252"/>
            <a:ext cx="22037040" cy="1714348"/>
          </a:xfrm>
          <a:prstGeom prst="round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292608" rIns="365760" bIns="292608" numCol="1" spcCol="0" rtlCol="0" fromWordArt="0" anchor="t" anchorCtr="0" forceAA="0" compatLnSpc="1">
            <a:prstTxWarp prst="textNoShape">
              <a:avLst/>
            </a:prstTxWarp>
            <a:noAutofit/>
          </a:bodyPr>
          <a:lstStyle/>
          <a:p>
            <a:pPr defTabSz="1864944" fontAlgn="base">
              <a:spcBef>
                <a:spcPct val="0"/>
              </a:spcBef>
              <a:spcAft>
                <a:spcPct val="0"/>
              </a:spcAft>
            </a:pPr>
            <a:endParaRPr lang="en-US" sz="4000" err="1">
              <a:solidFill>
                <a:schemeClr val="bg1"/>
              </a:solidFill>
              <a:ea typeface="Segoe UI" pitchFamily="34" charset="0"/>
              <a:cs typeface="Segoe UI" pitchFamily="34" charset="0"/>
            </a:endParaRPr>
          </a:p>
        </p:txBody>
      </p:sp>
      <p:grpSp>
        <p:nvGrpSpPr>
          <p:cNvPr id="21" name="Group 20">
            <a:extLst>
              <a:ext uri="{FF2B5EF4-FFF2-40B4-BE49-F238E27FC236}">
                <a16:creationId xmlns:a16="http://schemas.microsoft.com/office/drawing/2014/main" id="{DFADB266-0CD4-42DB-FE02-EFD446598C92}"/>
              </a:ext>
              <a:ext uri="{C183D7F6-B498-43B3-948B-1728B52AA6E4}">
                <adec:decorative xmlns:adec="http://schemas.microsoft.com/office/drawing/2017/decorative" val="1"/>
              </a:ext>
            </a:extLst>
          </p:cNvPr>
          <p:cNvGrpSpPr/>
          <p:nvPr/>
        </p:nvGrpSpPr>
        <p:grpSpPr>
          <a:xfrm>
            <a:off x="6866955" y="11514732"/>
            <a:ext cx="4717820" cy="859388"/>
            <a:chOff x="-4139308" y="3185867"/>
            <a:chExt cx="3011895" cy="548640"/>
          </a:xfrm>
        </p:grpSpPr>
        <p:pic>
          <p:nvPicPr>
            <p:cNvPr id="22" name="Picture 21" descr="Graphical user interface, application&#10;&#10;Description automatically generated">
              <a:extLst>
                <a:ext uri="{FF2B5EF4-FFF2-40B4-BE49-F238E27FC236}">
                  <a16:creationId xmlns:a16="http://schemas.microsoft.com/office/drawing/2014/main" id="{23CB68FA-135E-FECE-344B-6D3BD62EFD6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4139308" y="3185867"/>
              <a:ext cx="585617" cy="548640"/>
            </a:xfrm>
            <a:custGeom>
              <a:avLst/>
              <a:gdLst>
                <a:gd name="connsiteX0" fmla="*/ 0 w 3011895"/>
                <a:gd name="connsiteY0" fmla="*/ 0 h 548640"/>
                <a:gd name="connsiteX1" fmla="*/ 3011895 w 3011895"/>
                <a:gd name="connsiteY1" fmla="*/ 0 h 548640"/>
                <a:gd name="connsiteX2" fmla="*/ 3011895 w 3011895"/>
                <a:gd name="connsiteY2" fmla="*/ 548640 h 548640"/>
                <a:gd name="connsiteX3" fmla="*/ 0 w 3011895"/>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3011895" h="548640">
                  <a:moveTo>
                    <a:pt x="0" y="0"/>
                  </a:moveTo>
                  <a:lnTo>
                    <a:pt x="3011895" y="0"/>
                  </a:lnTo>
                  <a:lnTo>
                    <a:pt x="3011895" y="548640"/>
                  </a:lnTo>
                  <a:lnTo>
                    <a:pt x="0" y="548640"/>
                  </a:lnTo>
                  <a:close/>
                </a:path>
              </a:pathLst>
            </a:custGeom>
          </p:spPr>
        </p:pic>
        <p:pic>
          <p:nvPicPr>
            <p:cNvPr id="23" name="Picture 22" descr="Graphical user interface, application&#10;&#10;Description automatically generated">
              <a:extLst>
                <a:ext uri="{FF2B5EF4-FFF2-40B4-BE49-F238E27FC236}">
                  <a16:creationId xmlns:a16="http://schemas.microsoft.com/office/drawing/2014/main" id="{9C8ADBA2-799B-8AF1-CB10-F5D13A279455}"/>
                </a:ext>
              </a:extLst>
            </p:cNvPr>
            <p:cNvPicPr>
              <a:picLocks noChangeAspect="1"/>
            </p:cNvPicPr>
            <p:nvPr/>
          </p:nvPicPr>
          <p:blipFill>
            <a:blip r:embed="rId4" cstate="email">
              <a:duotone>
                <a:prstClr val="black"/>
                <a:srgbClr val="737373">
                  <a:tint val="45000"/>
                  <a:satMod val="400000"/>
                </a:srgbClr>
              </a:duotone>
              <a:extLst>
                <a:ext uri="{BEBA8EAE-BF5A-486C-A8C5-ECC9F3942E4B}">
                  <a14:imgProps xmlns:a14="http://schemas.microsoft.com/office/drawing/2010/main">
                    <a14:imgLayer r:embed="rId5">
                      <a14:imgEffect>
                        <a14:brightnessContrast bright="-43000"/>
                      </a14:imgEffect>
                    </a14:imgLayer>
                  </a14:imgProps>
                </a:ext>
                <a:ext uri="{28A0092B-C50C-407E-A947-70E740481C1C}">
                  <a14:useLocalDpi xmlns:a14="http://schemas.microsoft.com/office/drawing/2010/main"/>
                </a:ext>
              </a:extLst>
            </a:blip>
            <a:srcRect/>
            <a:stretch/>
          </p:blipFill>
          <p:spPr>
            <a:xfrm>
              <a:off x="-3553691" y="3185867"/>
              <a:ext cx="2426278" cy="548640"/>
            </a:xfrm>
            <a:custGeom>
              <a:avLst/>
              <a:gdLst>
                <a:gd name="connsiteX0" fmla="*/ 0 w 3011895"/>
                <a:gd name="connsiteY0" fmla="*/ 0 h 548640"/>
                <a:gd name="connsiteX1" fmla="*/ 3011895 w 3011895"/>
                <a:gd name="connsiteY1" fmla="*/ 0 h 548640"/>
                <a:gd name="connsiteX2" fmla="*/ 3011895 w 3011895"/>
                <a:gd name="connsiteY2" fmla="*/ 548640 h 548640"/>
                <a:gd name="connsiteX3" fmla="*/ 0 w 3011895"/>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3011895" h="548640">
                  <a:moveTo>
                    <a:pt x="0" y="0"/>
                  </a:moveTo>
                  <a:lnTo>
                    <a:pt x="3011895" y="0"/>
                  </a:lnTo>
                  <a:lnTo>
                    <a:pt x="3011895" y="548640"/>
                  </a:lnTo>
                  <a:lnTo>
                    <a:pt x="0" y="548640"/>
                  </a:lnTo>
                  <a:close/>
                </a:path>
              </a:pathLst>
            </a:custGeom>
          </p:spPr>
        </p:pic>
      </p:grpSp>
      <p:pic>
        <p:nvPicPr>
          <p:cNvPr id="24" name="Picture 4">
            <a:extLst>
              <a:ext uri="{FF2B5EF4-FFF2-40B4-BE49-F238E27FC236}">
                <a16:creationId xmlns:a16="http://schemas.microsoft.com/office/drawing/2014/main" id="{BB107F7A-5805-C104-E313-685A90FF4F4D}"/>
              </a:ext>
              <a:ext uri="{C183D7F6-B498-43B3-948B-1728B52AA6E4}">
                <adec:decorative xmlns:adec="http://schemas.microsoft.com/office/drawing/2017/decorative" val="1"/>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17657198" y="11421079"/>
            <a:ext cx="3312518" cy="101534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B07DEBF3-57D2-D9ED-25B8-43D4B08EA977}"/>
              </a:ext>
              <a:ext uri="{C183D7F6-B498-43B3-948B-1728B52AA6E4}">
                <adec:decorative xmlns:adec="http://schemas.microsoft.com/office/drawing/2017/decorative" val="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p:blipFill>
        <p:spPr bwMode="auto">
          <a:xfrm>
            <a:off x="1912460" y="10660324"/>
            <a:ext cx="4565698" cy="2568204"/>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1B8027EF-3D43-5716-B7CC-484E63C88866}"/>
              </a:ext>
              <a:ext uri="{C183D7F6-B498-43B3-948B-1728B52AA6E4}">
                <adec:decorative xmlns:adec="http://schemas.microsoft.com/office/drawing/2017/decorative" val="1"/>
              </a:ext>
            </a:extLst>
          </p:cNvPr>
          <p:cNvGrpSpPr/>
          <p:nvPr/>
        </p:nvGrpSpPr>
        <p:grpSpPr>
          <a:xfrm>
            <a:off x="12075000" y="11514732"/>
            <a:ext cx="5184898" cy="859388"/>
            <a:chOff x="-4139310" y="4259812"/>
            <a:chExt cx="3310079" cy="548640"/>
          </a:xfrm>
        </p:grpSpPr>
        <p:pic>
          <p:nvPicPr>
            <p:cNvPr id="27" name="Picture 26" descr="Graphical user interface, application&#10;&#10;Description automatically generated">
              <a:extLst>
                <a:ext uri="{FF2B5EF4-FFF2-40B4-BE49-F238E27FC236}">
                  <a16:creationId xmlns:a16="http://schemas.microsoft.com/office/drawing/2014/main" id="{B3B993BB-FD91-EFD6-2E2A-F4BAB43C09BF}"/>
                </a:ext>
              </a:extLst>
            </p:cNvPr>
            <p:cNvPicPr>
              <a:picLocks noChangeAspect="1"/>
            </p:cNvPicPr>
            <p:nvPr/>
          </p:nvPicPr>
          <p:blipFill>
            <a:blip r:embed="rId8" cstate="email">
              <a:extLst>
                <a:ext uri="{28A0092B-C50C-407E-A947-70E740481C1C}">
                  <a14:useLocalDpi xmlns:a14="http://schemas.microsoft.com/office/drawing/2010/main"/>
                </a:ext>
              </a:extLst>
            </a:blip>
            <a:srcRect/>
            <a:stretch/>
          </p:blipFill>
          <p:spPr>
            <a:xfrm>
              <a:off x="-4139310" y="4259812"/>
              <a:ext cx="585619" cy="548640"/>
            </a:xfrm>
            <a:custGeom>
              <a:avLst/>
              <a:gdLst>
                <a:gd name="connsiteX0" fmla="*/ 0 w 3310079"/>
                <a:gd name="connsiteY0" fmla="*/ 0 h 548640"/>
                <a:gd name="connsiteX1" fmla="*/ 3310079 w 3310079"/>
                <a:gd name="connsiteY1" fmla="*/ 0 h 548640"/>
                <a:gd name="connsiteX2" fmla="*/ 3310079 w 3310079"/>
                <a:gd name="connsiteY2" fmla="*/ 548640 h 548640"/>
                <a:gd name="connsiteX3" fmla="*/ 0 w 3310079"/>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3310079" h="548640">
                  <a:moveTo>
                    <a:pt x="0" y="0"/>
                  </a:moveTo>
                  <a:lnTo>
                    <a:pt x="3310079" y="0"/>
                  </a:lnTo>
                  <a:lnTo>
                    <a:pt x="3310079" y="548640"/>
                  </a:lnTo>
                  <a:lnTo>
                    <a:pt x="0" y="548640"/>
                  </a:lnTo>
                  <a:close/>
                </a:path>
              </a:pathLst>
            </a:custGeom>
          </p:spPr>
        </p:pic>
        <p:pic>
          <p:nvPicPr>
            <p:cNvPr id="28" name="Picture 27" descr="Graphical user interface, application&#10;&#10;Description automatically generated">
              <a:extLst>
                <a:ext uri="{FF2B5EF4-FFF2-40B4-BE49-F238E27FC236}">
                  <a16:creationId xmlns:a16="http://schemas.microsoft.com/office/drawing/2014/main" id="{BDF8AF43-E84B-690F-B549-E38EB6931E1C}"/>
                </a:ext>
              </a:extLst>
            </p:cNvPr>
            <p:cNvPicPr>
              <a:picLocks noChangeAspect="1"/>
            </p:cNvPicPr>
            <p:nvPr/>
          </p:nvPicPr>
          <p:blipFill>
            <a:blip r:embed="rId9" cstate="email">
              <a:duotone>
                <a:prstClr val="black"/>
                <a:srgbClr val="737373">
                  <a:tint val="45000"/>
                  <a:satMod val="400000"/>
                </a:srgbClr>
              </a:duotone>
              <a:extLst>
                <a:ext uri="{BEBA8EAE-BF5A-486C-A8C5-ECC9F3942E4B}">
                  <a14:imgProps xmlns:a14="http://schemas.microsoft.com/office/drawing/2010/main">
                    <a14:imgLayer r:embed="rId10">
                      <a14:imgEffect>
                        <a14:brightnessContrast bright="-43000"/>
                      </a14:imgEffect>
                    </a14:imgLayer>
                  </a14:imgProps>
                </a:ext>
                <a:ext uri="{28A0092B-C50C-407E-A947-70E740481C1C}">
                  <a14:useLocalDpi xmlns:a14="http://schemas.microsoft.com/office/drawing/2010/main"/>
                </a:ext>
              </a:extLst>
            </a:blip>
            <a:srcRect/>
            <a:stretch/>
          </p:blipFill>
          <p:spPr>
            <a:xfrm>
              <a:off x="-3553691" y="4259812"/>
              <a:ext cx="2724460" cy="548640"/>
            </a:xfrm>
            <a:custGeom>
              <a:avLst/>
              <a:gdLst>
                <a:gd name="connsiteX0" fmla="*/ 0 w 3011895"/>
                <a:gd name="connsiteY0" fmla="*/ 0 h 548640"/>
                <a:gd name="connsiteX1" fmla="*/ 3011895 w 3011895"/>
                <a:gd name="connsiteY1" fmla="*/ 0 h 548640"/>
                <a:gd name="connsiteX2" fmla="*/ 3011895 w 3011895"/>
                <a:gd name="connsiteY2" fmla="*/ 548640 h 548640"/>
                <a:gd name="connsiteX3" fmla="*/ 0 w 3011895"/>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3011895" h="548640">
                  <a:moveTo>
                    <a:pt x="0" y="0"/>
                  </a:moveTo>
                  <a:lnTo>
                    <a:pt x="3011895" y="0"/>
                  </a:lnTo>
                  <a:lnTo>
                    <a:pt x="3011895" y="548640"/>
                  </a:lnTo>
                  <a:lnTo>
                    <a:pt x="0" y="548640"/>
                  </a:lnTo>
                  <a:close/>
                </a:path>
              </a:pathLst>
            </a:custGeom>
          </p:spPr>
        </p:pic>
      </p:grpSp>
      <p:pic>
        <p:nvPicPr>
          <p:cNvPr id="33" name="Picture 32">
            <a:extLst>
              <a:ext uri="{FF2B5EF4-FFF2-40B4-BE49-F238E27FC236}">
                <a16:creationId xmlns:a16="http://schemas.microsoft.com/office/drawing/2014/main" id="{BCBDD0C3-2AAD-13CC-1014-A0C81DBCA026}"/>
              </a:ext>
              <a:ext uri="{C183D7F6-B498-43B3-948B-1728B52AA6E4}">
                <adec:decorative xmlns:adec="http://schemas.microsoft.com/office/drawing/2017/decorative" val="1"/>
              </a:ext>
            </a:extLst>
          </p:cNvPr>
          <p:cNvPicPr>
            <a:picLocks noChangeAspect="1"/>
          </p:cNvPicPr>
          <p:nvPr/>
        </p:nvPicPr>
        <p:blipFill>
          <a:blip r:embed="rId11" cstate="email">
            <a:extLst>
              <a:ext uri="{28A0092B-C50C-407E-A947-70E740481C1C}">
                <a14:useLocalDpi xmlns:a14="http://schemas.microsoft.com/office/drawing/2010/main"/>
              </a:ext>
            </a:extLst>
          </a:blip>
          <a:srcRect/>
          <a:stretch/>
        </p:blipFill>
        <p:spPr>
          <a:xfrm>
            <a:off x="21116660" y="11124801"/>
            <a:ext cx="1757350" cy="1517906"/>
          </a:xfrm>
          <a:prstGeom prst="rect">
            <a:avLst/>
          </a:prstGeom>
          <a:ln>
            <a:noFill/>
          </a:ln>
        </p:spPr>
      </p:pic>
    </p:spTree>
    <p:extLst>
      <p:ext uri="{BB962C8B-B14F-4D97-AF65-F5344CB8AC3E}">
        <p14:creationId xmlns:p14="http://schemas.microsoft.com/office/powerpoint/2010/main" val="2164932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25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25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25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25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48B8FCF-EC5C-6D48-6004-9F3EADAE313E}"/>
              </a:ext>
            </a:extLst>
          </p:cNvPr>
          <p:cNvSpPr txBox="1">
            <a:spLocks/>
          </p:cNvSpPr>
          <p:nvPr/>
        </p:nvSpPr>
        <p:spPr>
          <a:xfrm>
            <a:off x="1178113" y="1166014"/>
            <a:ext cx="22037040" cy="22311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800"/>
              <a:t>ASP.NET Core focus areas for .NET 10</a:t>
            </a:r>
          </a:p>
        </p:txBody>
      </p:sp>
      <p:pic>
        <p:nvPicPr>
          <p:cNvPr id="3" name="Picture Placeholder 2" descr="Padlock on computer motherboard">
            <a:extLst>
              <a:ext uri="{FF2B5EF4-FFF2-40B4-BE49-F238E27FC236}">
                <a16:creationId xmlns:a16="http://schemas.microsoft.com/office/drawing/2014/main" id="{EC9F1D8D-F00B-19EA-1EAC-A9D89C724CB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69987" y="4572000"/>
            <a:ext cx="4626864" cy="4626864"/>
          </a:xfrm>
          <a:prstGeom prst="ellipse">
            <a:avLst/>
          </a:prstGeom>
        </p:spPr>
      </p:pic>
      <p:sp>
        <p:nvSpPr>
          <p:cNvPr id="4" name="Text Placeholder 13">
            <a:extLst>
              <a:ext uri="{FF2B5EF4-FFF2-40B4-BE49-F238E27FC236}">
                <a16:creationId xmlns:a16="http://schemas.microsoft.com/office/drawing/2014/main" id="{F1F34DEA-2621-D5E5-FF85-D80F885D3FDE}"/>
              </a:ext>
            </a:extLst>
          </p:cNvPr>
          <p:cNvSpPr txBox="1">
            <a:spLocks/>
          </p:cNvSpPr>
          <p:nvPr/>
        </p:nvSpPr>
        <p:spPr>
          <a:xfrm>
            <a:off x="970853" y="9596928"/>
            <a:ext cx="5029200" cy="110799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 Easier to create secure apps</a:t>
            </a:r>
          </a:p>
        </p:txBody>
      </p:sp>
      <p:pic>
        <p:nvPicPr>
          <p:cNvPr id="5" name="Picture Placeholder 3" descr="Create a realistic image of a developer monitoring and troubleshooting a deployed web app. The developer should be looking at logs, metrics, and traces on multiple screens. The setting should be a professional office environment with modern equipment. Include elements such as code snippets, graphs, and charts on the screens to represent the data being analyzed. Use a color scheme that is appropriate for a professional presentation, with a focus on blues and grays. The mood should be focused and analytical, reflecting the importance of app observability and diagnostics in web app development.">
            <a:extLst>
              <a:ext uri="{FF2B5EF4-FFF2-40B4-BE49-F238E27FC236}">
                <a16:creationId xmlns:a16="http://schemas.microsoft.com/office/drawing/2014/main" id="{41D1D07C-A008-A5DA-CAC5-E07B532F2F9D}"/>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976087" y="4572000"/>
            <a:ext cx="4626864" cy="4626864"/>
          </a:xfrm>
          <a:prstGeom prst="ellipse">
            <a:avLst/>
          </a:prstGeom>
        </p:spPr>
      </p:pic>
      <p:sp>
        <p:nvSpPr>
          <p:cNvPr id="6" name="Text Placeholder 14">
            <a:extLst>
              <a:ext uri="{FF2B5EF4-FFF2-40B4-BE49-F238E27FC236}">
                <a16:creationId xmlns:a16="http://schemas.microsoft.com/office/drawing/2014/main" id="{26F12479-BAE9-BDBF-E59E-071E180F8936}"/>
              </a:ext>
            </a:extLst>
          </p:cNvPr>
          <p:cNvSpPr txBox="1">
            <a:spLocks/>
          </p:cNvSpPr>
          <p:nvPr/>
        </p:nvSpPr>
        <p:spPr>
          <a:xfrm>
            <a:off x="6774919" y="9601200"/>
            <a:ext cx="5029200" cy="110799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 App observability &amp; diagnostics</a:t>
            </a:r>
          </a:p>
        </p:txBody>
      </p:sp>
      <p:pic>
        <p:nvPicPr>
          <p:cNvPr id="7" name="Picture Placeholder 5" descr="Digitally generated image of Secure Internet Speed bckgrounds with copy space">
            <a:extLst>
              <a:ext uri="{FF2B5EF4-FFF2-40B4-BE49-F238E27FC236}">
                <a16:creationId xmlns:a16="http://schemas.microsoft.com/office/drawing/2014/main" id="{2DB59EDA-E3D2-5B15-2D4C-08091FB8AE32}"/>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12782187" y="4572000"/>
            <a:ext cx="4626864" cy="4626864"/>
          </a:xfrm>
          <a:prstGeom prst="ellipse">
            <a:avLst/>
          </a:prstGeom>
        </p:spPr>
      </p:pic>
      <p:sp>
        <p:nvSpPr>
          <p:cNvPr id="8" name="Text Placeholder 15">
            <a:extLst>
              <a:ext uri="{FF2B5EF4-FFF2-40B4-BE49-F238E27FC236}">
                <a16:creationId xmlns:a16="http://schemas.microsoft.com/office/drawing/2014/main" id="{DD1DF182-18D6-00BF-37B8-E2073A37385A}"/>
              </a:ext>
            </a:extLst>
          </p:cNvPr>
          <p:cNvSpPr txBox="1">
            <a:spLocks/>
          </p:cNvSpPr>
          <p:nvPr/>
        </p:nvSpPr>
        <p:spPr>
          <a:xfrm>
            <a:off x="12352419" y="9596928"/>
            <a:ext cx="5486400" cy="110799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 Targeted performance improvements</a:t>
            </a:r>
          </a:p>
        </p:txBody>
      </p:sp>
      <p:pic>
        <p:nvPicPr>
          <p:cNvPr id="9" name="Picture Placeholder 6" descr="delighted .NET developer">
            <a:extLst>
              <a:ext uri="{FF2B5EF4-FFF2-40B4-BE49-F238E27FC236}">
                <a16:creationId xmlns:a16="http://schemas.microsoft.com/office/drawing/2014/main" id="{40B82598-D690-4C30-ABB6-23D5C16EEA68}"/>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8588289" y="4572000"/>
            <a:ext cx="4626864" cy="4626864"/>
          </a:xfrm>
          <a:prstGeom prst="ellipse">
            <a:avLst/>
          </a:prstGeom>
        </p:spPr>
      </p:pic>
      <p:sp>
        <p:nvSpPr>
          <p:cNvPr id="10" name="Text Placeholder 19">
            <a:extLst>
              <a:ext uri="{FF2B5EF4-FFF2-40B4-BE49-F238E27FC236}">
                <a16:creationId xmlns:a16="http://schemas.microsoft.com/office/drawing/2014/main" id="{5159B45A-8660-C22F-5883-FF04393F7FD6}"/>
              </a:ext>
            </a:extLst>
          </p:cNvPr>
          <p:cNvSpPr txBox="1">
            <a:spLocks/>
          </p:cNvSpPr>
          <p:nvPr/>
        </p:nvSpPr>
        <p:spPr>
          <a:xfrm>
            <a:off x="18387121" y="9601200"/>
            <a:ext cx="5029200" cy="110799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 Address top pain points &amp; gaps</a:t>
            </a:r>
          </a:p>
        </p:txBody>
      </p:sp>
    </p:spTree>
    <p:extLst>
      <p:ext uri="{BB962C8B-B14F-4D97-AF65-F5344CB8AC3E}">
        <p14:creationId xmlns:p14="http://schemas.microsoft.com/office/powerpoint/2010/main" val="398433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25000"/>
          </a:schemeClr>
        </a:solidFill>
        <a:effectLst/>
      </p:bgPr>
    </p:bg>
    <p:spTree>
      <p:nvGrpSpPr>
        <p:cNvPr id="1" name="">
          <a:extLst>
            <a:ext uri="{FF2B5EF4-FFF2-40B4-BE49-F238E27FC236}">
              <a16:creationId xmlns:a16="http://schemas.microsoft.com/office/drawing/2014/main" id="{D4D64D80-A126-C883-510E-26D4F2060F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BB028E-210D-C2C4-FDAC-78E1617C29BD}"/>
              </a:ext>
            </a:extLst>
          </p:cNvPr>
          <p:cNvSpPr>
            <a:spLocks noGrp="1"/>
          </p:cNvSpPr>
          <p:nvPr>
            <p:ph type="body" sz="quarter" idx="12"/>
          </p:nvPr>
        </p:nvSpPr>
        <p:spPr>
          <a:xfrm>
            <a:off x="2757376" y="6096225"/>
            <a:ext cx="9899845" cy="1289311"/>
          </a:xfrm>
        </p:spPr>
        <p:txBody>
          <a:bodyPr/>
          <a:lstStyle/>
          <a:p>
            <a:r>
              <a:rPr lang="en-US" b="1"/>
              <a:t>Security Improvements</a:t>
            </a:r>
          </a:p>
        </p:txBody>
      </p:sp>
      <p:sp>
        <p:nvSpPr>
          <p:cNvPr id="3" name="Text Placeholder 2">
            <a:extLst>
              <a:ext uri="{FF2B5EF4-FFF2-40B4-BE49-F238E27FC236}">
                <a16:creationId xmlns:a16="http://schemas.microsoft.com/office/drawing/2014/main" id="{6ADA93F0-C53A-19C9-3730-F7D10E2CC2FE}"/>
              </a:ext>
            </a:extLst>
          </p:cNvPr>
          <p:cNvSpPr>
            <a:spLocks noGrp="1"/>
          </p:cNvSpPr>
          <p:nvPr>
            <p:ph type="body" sz="quarter" idx="19"/>
          </p:nvPr>
        </p:nvSpPr>
        <p:spPr/>
        <p:txBody>
          <a:bodyPr/>
          <a:lstStyle/>
          <a:p>
            <a:r>
              <a:rPr lang="en-US" b="1">
                <a:solidFill>
                  <a:schemeClr val="bg2"/>
                </a:solidFill>
              </a:rPr>
              <a:t>01</a:t>
            </a:r>
          </a:p>
        </p:txBody>
      </p:sp>
    </p:spTree>
    <p:extLst>
      <p:ext uri="{BB962C8B-B14F-4D97-AF65-F5344CB8AC3E}">
        <p14:creationId xmlns:p14="http://schemas.microsoft.com/office/powerpoint/2010/main" val="3285160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8390B-5B21-FEEE-2736-358C05F666B3}"/>
              </a:ext>
            </a:extLst>
          </p:cNvPr>
          <p:cNvSpPr>
            <a:spLocks noGrp="1"/>
          </p:cNvSpPr>
          <p:nvPr>
            <p:ph type="title"/>
          </p:nvPr>
        </p:nvSpPr>
        <p:spPr/>
        <p:txBody>
          <a:bodyPr/>
          <a:lstStyle/>
          <a:p>
            <a:r>
              <a:rPr lang="en-US" err="1"/>
              <a:t>WebAuthN</a:t>
            </a:r>
            <a:r>
              <a:rPr lang="en-US"/>
              <a:t> &amp; Passkey support</a:t>
            </a:r>
          </a:p>
        </p:txBody>
      </p:sp>
      <p:sp>
        <p:nvSpPr>
          <p:cNvPr id="3" name="Content Placeholder 2">
            <a:extLst>
              <a:ext uri="{FF2B5EF4-FFF2-40B4-BE49-F238E27FC236}">
                <a16:creationId xmlns:a16="http://schemas.microsoft.com/office/drawing/2014/main" id="{0B246D82-5B3C-ECC7-2D92-E89953930A64}"/>
              </a:ext>
            </a:extLst>
          </p:cNvPr>
          <p:cNvSpPr>
            <a:spLocks noGrp="1"/>
          </p:cNvSpPr>
          <p:nvPr>
            <p:ph idx="1"/>
          </p:nvPr>
        </p:nvSpPr>
        <p:spPr/>
        <p:txBody>
          <a:bodyPr>
            <a:normAutofit lnSpcReduction="10000"/>
          </a:bodyPr>
          <a:lstStyle/>
          <a:p>
            <a:r>
              <a:rPr lang="en-US" dirty="0"/>
              <a:t>Passkeys are cryptographic credentials that replace traditional passwords. </a:t>
            </a:r>
          </a:p>
          <a:p>
            <a:pPr lvl="1"/>
            <a:r>
              <a:rPr lang="en-US" dirty="0"/>
              <a:t>They are phishing-resistant, easy to use, and secure by design.</a:t>
            </a:r>
          </a:p>
          <a:p>
            <a:pPr marL="914400" lvl="1" indent="0">
              <a:buNone/>
            </a:pPr>
            <a:endParaRPr lang="en-US" dirty="0"/>
          </a:p>
          <a:p>
            <a:r>
              <a:rPr lang="en-US" dirty="0"/>
              <a:t>Added built-in support for Passkeys to ASP.NET Core Identity</a:t>
            </a:r>
          </a:p>
          <a:p>
            <a:pPr lvl="1"/>
            <a:r>
              <a:rPr lang="en-US" dirty="0"/>
              <a:t>Built into the shared framework, but inspired by fido2-net-lib</a:t>
            </a:r>
          </a:p>
          <a:p>
            <a:pPr lvl="1"/>
            <a:r>
              <a:rPr lang="en-US" dirty="0"/>
              <a:t>No support for attestation (in .NET 10)</a:t>
            </a:r>
          </a:p>
          <a:p>
            <a:pPr lvl="1"/>
            <a:endParaRPr lang="en-US" dirty="0"/>
          </a:p>
          <a:p>
            <a:r>
              <a:rPr lang="en-US" dirty="0"/>
              <a:t>Project templates now include Passkey support</a:t>
            </a:r>
          </a:p>
          <a:p>
            <a:endParaRPr lang="en-US" dirty="0"/>
          </a:p>
          <a:p>
            <a:r>
              <a:rPr lang="en-US" dirty="0"/>
              <a:t>Existing projects using ASP.NET Identity can add Passkey support</a:t>
            </a:r>
          </a:p>
          <a:p>
            <a:pPr lvl="1"/>
            <a:r>
              <a:rPr lang="en-US" dirty="0"/>
              <a:t>Requires a database schema migration</a:t>
            </a:r>
          </a:p>
        </p:txBody>
      </p:sp>
    </p:spTree>
    <p:extLst>
      <p:ext uri="{BB962C8B-B14F-4D97-AF65-F5344CB8AC3E}">
        <p14:creationId xmlns:p14="http://schemas.microsoft.com/office/powerpoint/2010/main" val="2764486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5000"/>
          </a:schemeClr>
        </a:solidFill>
        <a:effectLst/>
      </p:bgPr>
    </p:bg>
    <p:spTree>
      <p:nvGrpSpPr>
        <p:cNvPr id="1" name="">
          <a:extLst>
            <a:ext uri="{FF2B5EF4-FFF2-40B4-BE49-F238E27FC236}">
              <a16:creationId xmlns:a16="http://schemas.microsoft.com/office/drawing/2014/main" id="{942C830F-1CDD-8572-5C16-42C3F026D71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A08B95-31C9-303E-153E-3616D92B1692}"/>
              </a:ext>
            </a:extLst>
          </p:cNvPr>
          <p:cNvSpPr>
            <a:spLocks noGrp="1"/>
          </p:cNvSpPr>
          <p:nvPr>
            <p:ph type="body" sz="quarter" idx="12"/>
          </p:nvPr>
        </p:nvSpPr>
        <p:spPr>
          <a:xfrm>
            <a:off x="2757376" y="6096225"/>
            <a:ext cx="9899845" cy="1289311"/>
          </a:xfrm>
        </p:spPr>
        <p:txBody>
          <a:bodyPr/>
          <a:lstStyle/>
          <a:p>
            <a:r>
              <a:rPr lang="en-US" b="1" dirty="0" err="1"/>
              <a:t>Observatility</a:t>
            </a:r>
            <a:r>
              <a:rPr lang="en-US" b="1" dirty="0"/>
              <a:t> &amp; Diagnostics</a:t>
            </a:r>
          </a:p>
        </p:txBody>
      </p:sp>
      <p:sp>
        <p:nvSpPr>
          <p:cNvPr id="3" name="Text Placeholder 2">
            <a:extLst>
              <a:ext uri="{FF2B5EF4-FFF2-40B4-BE49-F238E27FC236}">
                <a16:creationId xmlns:a16="http://schemas.microsoft.com/office/drawing/2014/main" id="{E2772D57-6E08-DA9E-4FCD-58C375383E71}"/>
              </a:ext>
            </a:extLst>
          </p:cNvPr>
          <p:cNvSpPr>
            <a:spLocks noGrp="1"/>
          </p:cNvSpPr>
          <p:nvPr>
            <p:ph type="body" sz="quarter" idx="19"/>
          </p:nvPr>
        </p:nvSpPr>
        <p:spPr>
          <a:xfrm>
            <a:off x="1039104" y="6096226"/>
            <a:ext cx="1718271" cy="1289312"/>
          </a:xfrm>
        </p:spPr>
        <p:txBody>
          <a:bodyPr/>
          <a:lstStyle/>
          <a:p>
            <a:r>
              <a:rPr lang="en-US" b="1">
                <a:solidFill>
                  <a:schemeClr val="bg2"/>
                </a:solidFill>
              </a:rPr>
              <a:t>02</a:t>
            </a:r>
          </a:p>
        </p:txBody>
      </p:sp>
    </p:spTree>
    <p:extLst>
      <p:ext uri="{BB962C8B-B14F-4D97-AF65-F5344CB8AC3E}">
        <p14:creationId xmlns:p14="http://schemas.microsoft.com/office/powerpoint/2010/main" val="2792446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86C829-2C13-C31E-BEBC-D713529FF742}"/>
              </a:ext>
            </a:extLst>
          </p:cNvPr>
          <p:cNvSpPr>
            <a:spLocks noGrp="1"/>
          </p:cNvSpPr>
          <p:nvPr>
            <p:ph type="title"/>
          </p:nvPr>
        </p:nvSpPr>
        <p:spPr/>
        <p:txBody>
          <a:bodyPr/>
          <a:lstStyle/>
          <a:p>
            <a:r>
              <a:rPr lang="en-US"/>
              <a:t>🩺App observability &amp; diagnostics</a:t>
            </a:r>
          </a:p>
        </p:txBody>
      </p:sp>
      <p:sp>
        <p:nvSpPr>
          <p:cNvPr id="10" name="Content Placeholder 9">
            <a:extLst>
              <a:ext uri="{FF2B5EF4-FFF2-40B4-BE49-F238E27FC236}">
                <a16:creationId xmlns:a16="http://schemas.microsoft.com/office/drawing/2014/main" id="{337CEAFD-6995-ADDE-B7BE-423D8B7A797E}"/>
              </a:ext>
            </a:extLst>
          </p:cNvPr>
          <p:cNvSpPr>
            <a:spLocks noGrp="1"/>
          </p:cNvSpPr>
          <p:nvPr>
            <p:ph idx="1"/>
          </p:nvPr>
        </p:nvSpPr>
        <p:spPr>
          <a:xfrm>
            <a:off x="1676619" y="2882347"/>
            <a:ext cx="21033938" cy="4191789"/>
          </a:xfrm>
        </p:spPr>
        <p:txBody>
          <a:bodyPr vert="horz" wrap="square" lIns="0" tIns="0" rIns="0" bIns="0" rtlCol="0" anchor="t">
            <a:spAutoFit/>
          </a:bodyPr>
          <a:lstStyle/>
          <a:p>
            <a:r>
              <a:rPr lang="en-US">
                <a:cs typeface="Segoe UI"/>
              </a:rPr>
              <a:t>More metrics</a:t>
            </a:r>
          </a:p>
          <a:p>
            <a:pPr lvl="1">
              <a:buFont typeface="Courier New" panose="05000000000000000000" pitchFamily="2" charset="2"/>
              <a:buChar char="o"/>
            </a:pPr>
            <a:r>
              <a:rPr lang="en-US">
                <a:cs typeface="Segoe UI"/>
              </a:rPr>
              <a:t>Memory pool diagnosability metrics</a:t>
            </a:r>
          </a:p>
          <a:p>
            <a:pPr lvl="1">
              <a:buFont typeface="Courier New" panose="05000000000000000000" pitchFamily="2" charset="2"/>
              <a:buChar char="o"/>
            </a:pPr>
            <a:r>
              <a:rPr lang="en-US">
                <a:cs typeface="Segoe UI"/>
              </a:rPr>
              <a:t>Authentication &amp; authorization metrics</a:t>
            </a:r>
            <a:endParaRPr lang="en-US"/>
          </a:p>
          <a:p>
            <a:pPr lvl="1">
              <a:buFont typeface="Courier New" panose="05000000000000000000" pitchFamily="2" charset="2"/>
              <a:buChar char="o"/>
            </a:pPr>
            <a:r>
              <a:rPr lang="en-US">
                <a:cs typeface="Segoe UI"/>
              </a:rPr>
              <a:t>Blazor specific metrics</a:t>
            </a:r>
          </a:p>
          <a:p>
            <a:r>
              <a:rPr lang="en-US">
                <a:cs typeface="Segoe UI"/>
              </a:rPr>
              <a:t>Built-in </a:t>
            </a:r>
            <a:r>
              <a:rPr lang="en-US" err="1">
                <a:cs typeface="Segoe UI"/>
              </a:rPr>
              <a:t>OpenTelemetry</a:t>
            </a:r>
            <a:r>
              <a:rPr lang="en-US">
                <a:cs typeface="Segoe UI"/>
              </a:rPr>
              <a:t> (</a:t>
            </a:r>
            <a:r>
              <a:rPr lang="en-US" err="1">
                <a:cs typeface="Segoe UI"/>
              </a:rPr>
              <a:t>OTel</a:t>
            </a:r>
            <a:r>
              <a:rPr lang="en-US">
                <a:cs typeface="Segoe UI"/>
              </a:rPr>
              <a:t>) trace instrumentation</a:t>
            </a:r>
          </a:p>
        </p:txBody>
      </p:sp>
    </p:spTree>
    <p:extLst>
      <p:ext uri="{BB962C8B-B14F-4D97-AF65-F5344CB8AC3E}">
        <p14:creationId xmlns:p14="http://schemas.microsoft.com/office/powerpoint/2010/main" val="2148093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CFFFA-4F2E-04D7-0BF0-F3C0447753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4C7C94-79B9-68A1-B63D-7E7D62459EA2}"/>
              </a:ext>
            </a:extLst>
          </p:cNvPr>
          <p:cNvSpPr>
            <a:spLocks noGrp="1"/>
          </p:cNvSpPr>
          <p:nvPr>
            <p:ph type="body" sz="quarter" idx="29"/>
          </p:nvPr>
        </p:nvSpPr>
        <p:spPr>
          <a:xfrm>
            <a:off x="1123701" y="4219279"/>
            <a:ext cx="8333289" cy="1890091"/>
          </a:xfrm>
        </p:spPr>
        <p:txBody>
          <a:bodyPr lIns="91440" tIns="45720" rIns="91440" bIns="45720" anchor="t"/>
          <a:lstStyle/>
          <a:p>
            <a:r>
              <a:rPr lang="en-US" b="1" dirty="0" err="1"/>
              <a:t>Observatility</a:t>
            </a:r>
            <a:r>
              <a:rPr lang="en-US" b="1" dirty="0"/>
              <a:t> &amp; Diagnostics</a:t>
            </a:r>
          </a:p>
        </p:txBody>
      </p:sp>
      <p:pic>
        <p:nvPicPr>
          <p:cNvPr id="5" name="Picture Placeholder 4">
            <a:extLst>
              <a:ext uri="{FF2B5EF4-FFF2-40B4-BE49-F238E27FC236}">
                <a16:creationId xmlns:a16="http://schemas.microsoft.com/office/drawing/2014/main" id="{4F9DCE87-EDC3-3D53-9E15-BF9118E668CC}"/>
              </a:ext>
            </a:extLst>
          </p:cNvPr>
          <p:cNvPicPr>
            <a:picLocks noGrp="1" noChangeAspect="1"/>
          </p:cNvPicPr>
          <p:nvPr>
            <p:ph type="pic" sz="quarter" idx="28"/>
          </p:nvPr>
        </p:nvPicPr>
        <p:blipFill>
          <a:blip r:embed="rId2" cstate="email">
            <a:extLst>
              <a:ext uri="{28A0092B-C50C-407E-A947-70E740481C1C}">
                <a14:useLocalDpi xmlns:a14="http://schemas.microsoft.com/office/drawing/2010/main"/>
              </a:ext>
            </a:extLst>
          </a:blip>
          <a:srcRect/>
          <a:stretch>
            <a:fillRect/>
          </a:stretch>
        </p:blipFill>
        <p:spPr>
          <a:prstGeom prst="rect">
            <a:avLst/>
          </a:prstGeom>
        </p:spPr>
      </p:pic>
    </p:spTree>
    <p:extLst>
      <p:ext uri="{BB962C8B-B14F-4D97-AF65-F5344CB8AC3E}">
        <p14:creationId xmlns:p14="http://schemas.microsoft.com/office/powerpoint/2010/main" val="176902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5000"/>
          </a:schemeClr>
        </a:solidFill>
        <a:effectLst/>
      </p:bgPr>
    </p:bg>
    <p:spTree>
      <p:nvGrpSpPr>
        <p:cNvPr id="1" name="">
          <a:extLst>
            <a:ext uri="{FF2B5EF4-FFF2-40B4-BE49-F238E27FC236}">
              <a16:creationId xmlns:a16="http://schemas.microsoft.com/office/drawing/2014/main" id="{93EB95C8-0BA6-9F1F-3439-5926453368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90D896-23B7-D850-DFE2-D532153132D2}"/>
              </a:ext>
            </a:extLst>
          </p:cNvPr>
          <p:cNvSpPr>
            <a:spLocks noGrp="1"/>
          </p:cNvSpPr>
          <p:nvPr>
            <p:ph type="body" sz="quarter" idx="12"/>
          </p:nvPr>
        </p:nvSpPr>
        <p:spPr>
          <a:xfrm>
            <a:off x="2757376" y="6096225"/>
            <a:ext cx="9899845" cy="1289311"/>
          </a:xfrm>
        </p:spPr>
        <p:txBody>
          <a:bodyPr/>
          <a:lstStyle/>
          <a:p>
            <a:r>
              <a:rPr lang="en-US" b="1"/>
              <a:t>Performance Improvements</a:t>
            </a:r>
          </a:p>
        </p:txBody>
      </p:sp>
      <p:sp>
        <p:nvSpPr>
          <p:cNvPr id="3" name="Text Placeholder 2">
            <a:extLst>
              <a:ext uri="{FF2B5EF4-FFF2-40B4-BE49-F238E27FC236}">
                <a16:creationId xmlns:a16="http://schemas.microsoft.com/office/drawing/2014/main" id="{EEB0A1D8-D729-BE40-2C85-395EBF26C1D5}"/>
              </a:ext>
            </a:extLst>
          </p:cNvPr>
          <p:cNvSpPr>
            <a:spLocks noGrp="1"/>
          </p:cNvSpPr>
          <p:nvPr>
            <p:ph type="body" sz="quarter" idx="19"/>
          </p:nvPr>
        </p:nvSpPr>
        <p:spPr>
          <a:xfrm>
            <a:off x="1039104" y="6096226"/>
            <a:ext cx="1718271" cy="1289312"/>
          </a:xfrm>
        </p:spPr>
        <p:txBody>
          <a:bodyPr/>
          <a:lstStyle/>
          <a:p>
            <a:r>
              <a:rPr lang="en-US" b="1">
                <a:solidFill>
                  <a:schemeClr val="bg2"/>
                </a:solidFill>
              </a:rPr>
              <a:t>03</a:t>
            </a:r>
          </a:p>
        </p:txBody>
      </p:sp>
    </p:spTree>
    <p:extLst>
      <p:ext uri="{BB962C8B-B14F-4D97-AF65-F5344CB8AC3E}">
        <p14:creationId xmlns:p14="http://schemas.microsoft.com/office/powerpoint/2010/main" val="3166214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0C681-6787-3EDA-501B-C0B10AD4BE5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468BECA-E49A-76E1-3BB4-26F8D71EA2AD}"/>
              </a:ext>
            </a:extLst>
          </p:cNvPr>
          <p:cNvSpPr>
            <a:spLocks noGrp="1"/>
          </p:cNvSpPr>
          <p:nvPr>
            <p:ph type="body" sz="quarter" idx="10"/>
          </p:nvPr>
        </p:nvSpPr>
        <p:spPr>
          <a:xfrm>
            <a:off x="1140565" y="1066800"/>
            <a:ext cx="13915720" cy="939800"/>
          </a:xfrm>
        </p:spPr>
        <p:txBody>
          <a:bodyPr>
            <a:noAutofit/>
          </a:bodyPr>
          <a:lstStyle/>
          <a:p>
            <a:r>
              <a:rPr lang="en-US"/>
              <a:t>.NET minimal APIs performance </a:t>
            </a:r>
          </a:p>
        </p:txBody>
      </p:sp>
      <p:sp>
        <p:nvSpPr>
          <p:cNvPr id="3" name="Text Placeholder 2">
            <a:extLst>
              <a:ext uri="{FF2B5EF4-FFF2-40B4-BE49-F238E27FC236}">
                <a16:creationId xmlns:a16="http://schemas.microsoft.com/office/drawing/2014/main" id="{7A63BC13-9ED5-824F-DAC2-40C0E166A47F}"/>
              </a:ext>
            </a:extLst>
          </p:cNvPr>
          <p:cNvSpPr>
            <a:spLocks noGrp="1"/>
          </p:cNvSpPr>
          <p:nvPr>
            <p:ph type="body" sz="quarter" idx="11"/>
          </p:nvPr>
        </p:nvSpPr>
        <p:spPr/>
        <p:txBody>
          <a:bodyPr>
            <a:noAutofit/>
          </a:bodyPr>
          <a:lstStyle/>
          <a:p>
            <a:r>
              <a:rPr lang="en-US" sz="4000" dirty="0"/>
              <a:t>TechEmpower Benchmarks</a:t>
            </a:r>
          </a:p>
        </p:txBody>
      </p:sp>
      <p:graphicFrame>
        <p:nvGraphicFramePr>
          <p:cNvPr id="5" name="Chart Placeholder 4">
            <a:extLst>
              <a:ext uri="{FF2B5EF4-FFF2-40B4-BE49-F238E27FC236}">
                <a16:creationId xmlns:a16="http://schemas.microsoft.com/office/drawing/2014/main" id="{AAD97A59-B5BF-9B36-03E3-30D843D4CF8B}"/>
              </a:ext>
            </a:extLst>
          </p:cNvPr>
          <p:cNvGraphicFramePr>
            <a:graphicFrameLocks noGrp="1"/>
          </p:cNvGraphicFramePr>
          <p:nvPr>
            <p:ph type="chart" sz="quarter" idx="12"/>
          </p:nvPr>
        </p:nvGraphicFramePr>
        <p:xfrm>
          <a:off x="12783821" y="4164687"/>
          <a:ext cx="10058400" cy="7400693"/>
        </p:xfrm>
        <a:graphic>
          <a:graphicData uri="http://schemas.openxmlformats.org/drawingml/2006/chart">
            <c:chart xmlns:c="http://schemas.openxmlformats.org/drawingml/2006/chart" xmlns:r="http://schemas.openxmlformats.org/officeDocument/2006/relationships" r:id="rId3"/>
          </a:graphicData>
        </a:graphic>
      </p:graphicFrame>
      <p:cxnSp>
        <p:nvCxnSpPr>
          <p:cNvPr id="7" name="Straight Connector 6">
            <a:extLst>
              <a:ext uri="{FF2B5EF4-FFF2-40B4-BE49-F238E27FC236}">
                <a16:creationId xmlns:a16="http://schemas.microsoft.com/office/drawing/2014/main" id="{3DE5BAB7-89D0-F521-6D2F-A9ACF621D6D4}"/>
              </a:ext>
            </a:extLst>
          </p:cNvPr>
          <p:cNvCxnSpPr>
            <a:cxnSpLocks/>
          </p:cNvCxnSpPr>
          <p:nvPr/>
        </p:nvCxnSpPr>
        <p:spPr>
          <a:xfrm>
            <a:off x="13240011" y="11415117"/>
            <a:ext cx="9883036"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BBE0180-5E1D-D2E9-DE4B-20700DA9163B}"/>
              </a:ext>
            </a:extLst>
          </p:cNvPr>
          <p:cNvSpPr txBox="1"/>
          <p:nvPr/>
        </p:nvSpPr>
        <p:spPr>
          <a:xfrm>
            <a:off x="14023898" y="11724594"/>
            <a:ext cx="2698955" cy="461665"/>
          </a:xfrm>
          <a:prstGeom prst="rect">
            <a:avLst/>
          </a:prstGeom>
          <a:noFill/>
        </p:spPr>
        <p:txBody>
          <a:bodyPr wrap="square" rtlCol="0">
            <a:spAutoFit/>
          </a:bodyPr>
          <a:lstStyle/>
          <a:p>
            <a:pPr algn="ctr"/>
            <a:r>
              <a:rPr lang="en-US" sz="2400">
                <a:solidFill>
                  <a:schemeClr val="bg1"/>
                </a:solidFill>
              </a:rPr>
              <a:t>.NET 8</a:t>
            </a:r>
          </a:p>
        </p:txBody>
      </p:sp>
      <p:sp>
        <p:nvSpPr>
          <p:cNvPr id="10" name="TextBox 9">
            <a:extLst>
              <a:ext uri="{FF2B5EF4-FFF2-40B4-BE49-F238E27FC236}">
                <a16:creationId xmlns:a16="http://schemas.microsoft.com/office/drawing/2014/main" id="{13A44B6D-80A9-F1FD-75DC-1D86E3FACF53}"/>
              </a:ext>
            </a:extLst>
          </p:cNvPr>
          <p:cNvSpPr txBox="1"/>
          <p:nvPr/>
        </p:nvSpPr>
        <p:spPr>
          <a:xfrm>
            <a:off x="18895428" y="11742177"/>
            <a:ext cx="2698955" cy="461665"/>
          </a:xfrm>
          <a:prstGeom prst="rect">
            <a:avLst/>
          </a:prstGeom>
          <a:noFill/>
        </p:spPr>
        <p:txBody>
          <a:bodyPr wrap="square" rtlCol="0">
            <a:spAutoFit/>
          </a:bodyPr>
          <a:lstStyle/>
          <a:p>
            <a:pPr algn="ctr"/>
            <a:r>
              <a:rPr lang="en-US" sz="2400">
                <a:solidFill>
                  <a:schemeClr val="bg1"/>
                </a:solidFill>
              </a:rPr>
              <a:t>.NET 10</a:t>
            </a:r>
          </a:p>
        </p:txBody>
      </p:sp>
      <p:cxnSp>
        <p:nvCxnSpPr>
          <p:cNvPr id="12" name="Straight Arrow Connector 11">
            <a:extLst>
              <a:ext uri="{FF2B5EF4-FFF2-40B4-BE49-F238E27FC236}">
                <a16:creationId xmlns:a16="http://schemas.microsoft.com/office/drawing/2014/main" id="{0ACB7D18-8B91-33A2-18BE-4DF4234CCA7D}"/>
              </a:ext>
            </a:extLst>
          </p:cNvPr>
          <p:cNvCxnSpPr>
            <a:cxnSpLocks/>
          </p:cNvCxnSpPr>
          <p:nvPr/>
        </p:nvCxnSpPr>
        <p:spPr>
          <a:xfrm>
            <a:off x="21088575" y="5536504"/>
            <a:ext cx="0" cy="4957574"/>
          </a:xfrm>
          <a:prstGeom prst="straightConnector1">
            <a:avLst/>
          </a:prstGeom>
          <a:ln w="57150">
            <a:solidFill>
              <a:schemeClr val="accent1">
                <a:lumMod val="40000"/>
                <a:lumOff val="6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0D0CD03-63B9-37E3-66A9-0F42EAA29265}"/>
              </a:ext>
            </a:extLst>
          </p:cNvPr>
          <p:cNvSpPr txBox="1"/>
          <p:nvPr/>
        </p:nvSpPr>
        <p:spPr>
          <a:xfrm>
            <a:off x="16887870" y="7143244"/>
            <a:ext cx="4015116" cy="1877437"/>
          </a:xfrm>
          <a:prstGeom prst="rect">
            <a:avLst/>
          </a:prstGeom>
          <a:noFill/>
        </p:spPr>
        <p:txBody>
          <a:bodyPr wrap="square" rtlCol="0">
            <a:spAutoFit/>
          </a:bodyPr>
          <a:lstStyle/>
          <a:p>
            <a:pPr algn="l"/>
            <a:r>
              <a:rPr lang="en-US" sz="7200">
                <a:solidFill>
                  <a:schemeClr val="bg1"/>
                </a:solidFill>
              </a:rPr>
              <a:t>93% </a:t>
            </a:r>
            <a:br>
              <a:rPr lang="en-US" sz="7200">
                <a:solidFill>
                  <a:schemeClr val="bg1"/>
                </a:solidFill>
              </a:rPr>
            </a:br>
            <a:r>
              <a:rPr lang="en-US" sz="4400">
                <a:solidFill>
                  <a:schemeClr val="bg1"/>
                </a:solidFill>
              </a:rPr>
              <a:t>less memory</a:t>
            </a:r>
            <a:endParaRPr lang="en-US" sz="7200">
              <a:solidFill>
                <a:schemeClr val="bg1"/>
              </a:solidFill>
            </a:endParaRPr>
          </a:p>
        </p:txBody>
      </p:sp>
      <p:sp>
        <p:nvSpPr>
          <p:cNvPr id="18" name="TextBox 17">
            <a:extLst>
              <a:ext uri="{FF2B5EF4-FFF2-40B4-BE49-F238E27FC236}">
                <a16:creationId xmlns:a16="http://schemas.microsoft.com/office/drawing/2014/main" id="{9121FE41-17CA-3E42-A6AF-428231C98DEE}"/>
              </a:ext>
            </a:extLst>
          </p:cNvPr>
          <p:cNvSpPr txBox="1"/>
          <p:nvPr/>
        </p:nvSpPr>
        <p:spPr>
          <a:xfrm>
            <a:off x="1140565" y="12862838"/>
            <a:ext cx="8306556" cy="677108"/>
          </a:xfrm>
          <a:prstGeom prst="rect">
            <a:avLst/>
          </a:prstGeom>
          <a:noFill/>
        </p:spPr>
        <p:txBody>
          <a:bodyPr wrap="square" lIns="0" tIns="0" rIns="0" bIns="0" rtlCol="0">
            <a:spAutoFit/>
          </a:bodyPr>
          <a:lstStyle/>
          <a:p>
            <a:pPr>
              <a:defRPr/>
            </a:pPr>
            <a:r>
              <a:rPr kumimoji="0" lang="en-US" sz="2200" b="0" i="0" u="none" strike="noStrike" kern="1200" cap="none" spc="0" normalizeH="0" baseline="0" noProof="0">
                <a:ln>
                  <a:noFill/>
                </a:ln>
                <a:solidFill>
                  <a:srgbClr val="E6E6E6">
                    <a:lumMod val="50000"/>
                  </a:srgbClr>
                </a:solidFill>
                <a:effectLst/>
                <a:uLnTx/>
                <a:uFillTx/>
                <a:latin typeface="Aptos" panose="020B0004020202020204" pitchFamily="34" charset="0"/>
              </a:rPr>
              <a:t>Source: </a:t>
            </a:r>
            <a:r>
              <a:rPr lang="en-US" sz="2200" kern="0">
                <a:solidFill>
                  <a:srgbClr val="E6E6E6">
                    <a:lumMod val="50000"/>
                  </a:srgbClr>
                </a:solidFill>
                <a:latin typeface="Aptos" panose="020B0004020202020204" pitchFamily="34" charset="0"/>
                <a:cs typeface="Segoe UI" panose="020B0502040204020203" pitchFamily="34" charset="0"/>
              </a:rPr>
              <a:t>aka.ms/</a:t>
            </a:r>
            <a:r>
              <a:rPr lang="en-US" sz="2200" kern="0" err="1">
                <a:solidFill>
                  <a:srgbClr val="E6E6E6">
                    <a:lumMod val="50000"/>
                  </a:srgbClr>
                </a:solidFill>
                <a:latin typeface="Aptos" panose="020B0004020202020204" pitchFamily="34" charset="0"/>
                <a:cs typeface="Segoe UI" panose="020B0502040204020203" pitchFamily="34" charset="0"/>
              </a:rPr>
              <a:t>aspnet</a:t>
            </a:r>
            <a:r>
              <a:rPr lang="en-US" sz="2200" kern="0">
                <a:solidFill>
                  <a:srgbClr val="E6E6E6">
                    <a:lumMod val="50000"/>
                  </a:srgbClr>
                </a:solidFill>
                <a:latin typeface="Aptos" panose="020B0004020202020204" pitchFamily="34" charset="0"/>
                <a:cs typeface="Segoe UI" panose="020B0502040204020203" pitchFamily="34" charset="0"/>
              </a:rPr>
              <a:t>/benchmarks</a:t>
            </a:r>
            <a:endParaRPr lang="en-US" sz="2200">
              <a:solidFill>
                <a:srgbClr val="E6E6E6">
                  <a:lumMod val="50000"/>
                </a:srgbClr>
              </a:solidFill>
              <a:latin typeface="Aptos" panose="020B0004020202020204"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a:ln>
                <a:noFill/>
              </a:ln>
              <a:solidFill>
                <a:srgbClr val="E6E6E6">
                  <a:lumMod val="50000"/>
                </a:srgbClr>
              </a:solidFill>
              <a:effectLst/>
              <a:uLnTx/>
              <a:uFillTx/>
              <a:latin typeface="Aptos" panose="020B0004020202020204" pitchFamily="34" charset="0"/>
            </a:endParaRPr>
          </a:p>
        </p:txBody>
      </p:sp>
      <p:sp>
        <p:nvSpPr>
          <p:cNvPr id="11" name="TextBox 10">
            <a:extLst>
              <a:ext uri="{FF2B5EF4-FFF2-40B4-BE49-F238E27FC236}">
                <a16:creationId xmlns:a16="http://schemas.microsoft.com/office/drawing/2014/main" id="{D1F22CD3-7D44-A7B9-4C4F-9109712E3601}"/>
              </a:ext>
            </a:extLst>
          </p:cNvPr>
          <p:cNvSpPr txBox="1"/>
          <p:nvPr/>
        </p:nvSpPr>
        <p:spPr>
          <a:xfrm>
            <a:off x="-661632" y="2870200"/>
            <a:ext cx="7914202" cy="430887"/>
          </a:xfrm>
          <a:prstGeom prst="rect">
            <a:avLst/>
          </a:prstGeom>
          <a:noFill/>
        </p:spPr>
        <p:txBody>
          <a:bodyPr wrap="square">
            <a:spAutoFit/>
          </a:bodyPr>
          <a:lstStyle/>
          <a:p>
            <a:pPr algn="ctr"/>
            <a:r>
              <a:rPr lang="en-US" sz="2200">
                <a:solidFill>
                  <a:schemeClr val="bg1"/>
                </a:solidFill>
                <a:latin typeface="Aptos" panose="020B0004020202020204" pitchFamily="34" charset="0"/>
              </a:rPr>
              <a:t>Intel Gold, 56 logical cores (Linux)</a:t>
            </a:r>
          </a:p>
        </p:txBody>
      </p:sp>
      <p:graphicFrame>
        <p:nvGraphicFramePr>
          <p:cNvPr id="16" name="Chart Placeholder 4">
            <a:extLst>
              <a:ext uri="{FF2B5EF4-FFF2-40B4-BE49-F238E27FC236}">
                <a16:creationId xmlns:a16="http://schemas.microsoft.com/office/drawing/2014/main" id="{4D0CEFBA-C29D-1C90-7072-E297C1D1F8C4}"/>
              </a:ext>
            </a:extLst>
          </p:cNvPr>
          <p:cNvGraphicFramePr>
            <a:graphicFrameLocks/>
          </p:cNvGraphicFramePr>
          <p:nvPr/>
        </p:nvGraphicFramePr>
        <p:xfrm>
          <a:off x="1458617" y="4164687"/>
          <a:ext cx="10058400" cy="7400693"/>
        </p:xfrm>
        <a:graphic>
          <a:graphicData uri="http://schemas.openxmlformats.org/drawingml/2006/chart">
            <c:chart xmlns:c="http://schemas.openxmlformats.org/drawingml/2006/chart" xmlns:r="http://schemas.openxmlformats.org/officeDocument/2006/relationships" r:id="rId4"/>
          </a:graphicData>
        </a:graphic>
      </p:graphicFrame>
      <p:cxnSp>
        <p:nvCxnSpPr>
          <p:cNvPr id="20" name="Straight Connector 19">
            <a:extLst>
              <a:ext uri="{FF2B5EF4-FFF2-40B4-BE49-F238E27FC236}">
                <a16:creationId xmlns:a16="http://schemas.microsoft.com/office/drawing/2014/main" id="{A4C1FFBC-1407-D371-46A8-4A0BDE77C5C6}"/>
              </a:ext>
            </a:extLst>
          </p:cNvPr>
          <p:cNvCxnSpPr>
            <a:cxnSpLocks/>
          </p:cNvCxnSpPr>
          <p:nvPr/>
        </p:nvCxnSpPr>
        <p:spPr>
          <a:xfrm>
            <a:off x="1140565" y="11415117"/>
            <a:ext cx="9883036"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E84D659-4933-B740-2B0D-EBFEAA3A4C6D}"/>
              </a:ext>
            </a:extLst>
          </p:cNvPr>
          <p:cNvSpPr txBox="1"/>
          <p:nvPr/>
        </p:nvSpPr>
        <p:spPr>
          <a:xfrm>
            <a:off x="2624043" y="11742178"/>
            <a:ext cx="2698955" cy="461665"/>
          </a:xfrm>
          <a:prstGeom prst="rect">
            <a:avLst/>
          </a:prstGeom>
          <a:noFill/>
        </p:spPr>
        <p:txBody>
          <a:bodyPr wrap="square" rtlCol="0">
            <a:spAutoFit/>
          </a:bodyPr>
          <a:lstStyle/>
          <a:p>
            <a:pPr algn="ctr"/>
            <a:r>
              <a:rPr lang="en-US" sz="2400">
                <a:solidFill>
                  <a:schemeClr val="bg1"/>
                </a:solidFill>
              </a:rPr>
              <a:t>.NET 8</a:t>
            </a:r>
          </a:p>
        </p:txBody>
      </p:sp>
      <p:sp>
        <p:nvSpPr>
          <p:cNvPr id="22" name="TextBox 21">
            <a:extLst>
              <a:ext uri="{FF2B5EF4-FFF2-40B4-BE49-F238E27FC236}">
                <a16:creationId xmlns:a16="http://schemas.microsoft.com/office/drawing/2014/main" id="{F7E4C4E4-BDFC-E6F7-D534-120A8E80AA8D}"/>
              </a:ext>
            </a:extLst>
          </p:cNvPr>
          <p:cNvSpPr txBox="1"/>
          <p:nvPr/>
        </p:nvSpPr>
        <p:spPr>
          <a:xfrm>
            <a:off x="7495573" y="11742178"/>
            <a:ext cx="2698955" cy="461665"/>
          </a:xfrm>
          <a:prstGeom prst="rect">
            <a:avLst/>
          </a:prstGeom>
          <a:noFill/>
        </p:spPr>
        <p:txBody>
          <a:bodyPr wrap="square" rtlCol="0">
            <a:spAutoFit/>
          </a:bodyPr>
          <a:lstStyle/>
          <a:p>
            <a:pPr algn="ctr"/>
            <a:r>
              <a:rPr lang="en-US" sz="2400">
                <a:solidFill>
                  <a:schemeClr val="bg1"/>
                </a:solidFill>
              </a:rPr>
              <a:t>.NET 10</a:t>
            </a:r>
          </a:p>
        </p:txBody>
      </p:sp>
      <p:cxnSp>
        <p:nvCxnSpPr>
          <p:cNvPr id="23" name="Straight Arrow Connector 22">
            <a:extLst>
              <a:ext uri="{FF2B5EF4-FFF2-40B4-BE49-F238E27FC236}">
                <a16:creationId xmlns:a16="http://schemas.microsoft.com/office/drawing/2014/main" id="{AE6CFDF4-EB5A-A42C-7A5B-4504C69A6C94}"/>
              </a:ext>
            </a:extLst>
          </p:cNvPr>
          <p:cNvCxnSpPr>
            <a:cxnSpLocks/>
          </p:cNvCxnSpPr>
          <p:nvPr/>
        </p:nvCxnSpPr>
        <p:spPr>
          <a:xfrm flipV="1">
            <a:off x="7555695" y="5273458"/>
            <a:ext cx="0" cy="1113349"/>
          </a:xfrm>
          <a:prstGeom prst="straightConnector1">
            <a:avLst/>
          </a:prstGeom>
          <a:ln w="57150">
            <a:solidFill>
              <a:schemeClr val="accent1">
                <a:lumMod val="40000"/>
                <a:lumOff val="6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8AA1DD8-B1F4-5E18-878D-E67266938785}"/>
              </a:ext>
            </a:extLst>
          </p:cNvPr>
          <p:cNvSpPr txBox="1"/>
          <p:nvPr/>
        </p:nvSpPr>
        <p:spPr>
          <a:xfrm>
            <a:off x="5549516" y="7143244"/>
            <a:ext cx="2354405" cy="1877437"/>
          </a:xfrm>
          <a:prstGeom prst="rect">
            <a:avLst/>
          </a:prstGeom>
          <a:noFill/>
        </p:spPr>
        <p:txBody>
          <a:bodyPr wrap="square" rtlCol="0">
            <a:spAutoFit/>
          </a:bodyPr>
          <a:lstStyle/>
          <a:p>
            <a:pPr algn="l"/>
            <a:r>
              <a:rPr lang="en-US" sz="7200">
                <a:solidFill>
                  <a:schemeClr val="bg1"/>
                </a:solidFill>
              </a:rPr>
              <a:t>15% </a:t>
            </a:r>
            <a:br>
              <a:rPr lang="en-US" sz="7200">
                <a:solidFill>
                  <a:schemeClr val="bg1"/>
                </a:solidFill>
              </a:rPr>
            </a:br>
            <a:r>
              <a:rPr lang="en-US" sz="4400">
                <a:solidFill>
                  <a:schemeClr val="bg1"/>
                </a:solidFill>
              </a:rPr>
              <a:t>faster</a:t>
            </a:r>
            <a:endParaRPr lang="en-US" sz="7200">
              <a:solidFill>
                <a:schemeClr val="bg1"/>
              </a:solidFill>
            </a:endParaRPr>
          </a:p>
        </p:txBody>
      </p:sp>
    </p:spTree>
    <p:extLst>
      <p:ext uri="{BB962C8B-B14F-4D97-AF65-F5344CB8AC3E}">
        <p14:creationId xmlns:p14="http://schemas.microsoft.com/office/powerpoint/2010/main" val="3872341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4EE29-8D31-496C-9603-EB9C2AD432C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30807AD-B867-9CA4-D3BA-C9DCE20EFD97}"/>
              </a:ext>
            </a:extLst>
          </p:cNvPr>
          <p:cNvSpPr>
            <a:spLocks noGrp="1"/>
          </p:cNvSpPr>
          <p:nvPr>
            <p:ph type="title"/>
          </p:nvPr>
        </p:nvSpPr>
        <p:spPr/>
        <p:txBody>
          <a:bodyPr/>
          <a:lstStyle/>
          <a:p>
            <a:r>
              <a:rPr lang="en-US"/>
              <a:t>🚀Targeted performance improvements</a:t>
            </a:r>
          </a:p>
        </p:txBody>
      </p:sp>
      <p:sp>
        <p:nvSpPr>
          <p:cNvPr id="10" name="Content Placeholder 9">
            <a:extLst>
              <a:ext uri="{FF2B5EF4-FFF2-40B4-BE49-F238E27FC236}">
                <a16:creationId xmlns:a16="http://schemas.microsoft.com/office/drawing/2014/main" id="{AAF14E8A-6EB0-2BE6-D6DA-C90AAE9A4E7B}"/>
              </a:ext>
            </a:extLst>
          </p:cNvPr>
          <p:cNvSpPr>
            <a:spLocks noGrp="1"/>
          </p:cNvSpPr>
          <p:nvPr>
            <p:ph idx="1"/>
          </p:nvPr>
        </p:nvSpPr>
        <p:spPr/>
        <p:txBody>
          <a:bodyPr>
            <a:normAutofit/>
          </a:bodyPr>
          <a:lstStyle/>
          <a:p>
            <a:r>
              <a:rPr lang="en-US" dirty="0"/>
              <a:t>Releasing memory from Kestrel memory pool</a:t>
            </a:r>
          </a:p>
          <a:p>
            <a:r>
              <a:rPr lang="en-US" dirty="0">
                <a:ea typeface="+mn-lt"/>
                <a:cs typeface="+mn-lt"/>
              </a:rPr>
              <a:t>API JSON deserialization performance</a:t>
            </a:r>
          </a:p>
        </p:txBody>
      </p:sp>
    </p:spTree>
    <p:extLst>
      <p:ext uri="{BB962C8B-B14F-4D97-AF65-F5344CB8AC3E}">
        <p14:creationId xmlns:p14="http://schemas.microsoft.com/office/powerpoint/2010/main" val="2342601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C9D4-C5C3-4142-8160-47EF65C000E5}"/>
              </a:ext>
            </a:extLst>
          </p:cNvPr>
          <p:cNvSpPr>
            <a:spLocks noGrp="1"/>
          </p:cNvSpPr>
          <p:nvPr>
            <p:ph type="title"/>
          </p:nvPr>
        </p:nvSpPr>
        <p:spPr/>
        <p:txBody>
          <a:bodyPr/>
          <a:lstStyle/>
          <a:p>
            <a:r>
              <a:rPr lang="en-US"/>
              <a:t>Kestrel gets smarter about memory</a:t>
            </a:r>
          </a:p>
        </p:txBody>
      </p:sp>
      <p:sp>
        <p:nvSpPr>
          <p:cNvPr id="4" name="Content Placeholder 3">
            <a:extLst>
              <a:ext uri="{FF2B5EF4-FFF2-40B4-BE49-F238E27FC236}">
                <a16:creationId xmlns:a16="http://schemas.microsoft.com/office/drawing/2014/main" id="{C97EF22D-9D10-84A7-31D5-F754C8DD5814}"/>
              </a:ext>
            </a:extLst>
          </p:cNvPr>
          <p:cNvSpPr>
            <a:spLocks noGrp="1"/>
          </p:cNvSpPr>
          <p:nvPr>
            <p:ph sz="half" idx="1"/>
          </p:nvPr>
        </p:nvSpPr>
        <p:spPr>
          <a:xfrm>
            <a:off x="10750379" y="2923067"/>
            <a:ext cx="12387170" cy="10062682"/>
          </a:xfrm>
        </p:spPr>
        <p:txBody>
          <a:bodyPr>
            <a:normAutofit fontScale="92500" lnSpcReduction="20000"/>
          </a:bodyPr>
          <a:lstStyle/>
          <a:p>
            <a:r>
              <a:rPr lang="en-US"/>
              <a:t>💪 Kestrel grows its memory pool as needed.</a:t>
            </a:r>
          </a:p>
          <a:p>
            <a:endParaRPr lang="en-US"/>
          </a:p>
          <a:p>
            <a:r>
              <a:rPr lang="en-US"/>
              <a:t>📈 But it used to hold onto that memory, even after traffic dropped.</a:t>
            </a:r>
          </a:p>
          <a:p>
            <a:endParaRPr lang="en-US"/>
          </a:p>
          <a:p>
            <a:r>
              <a:rPr lang="en-US"/>
              <a:t>🧊 This kept apps stuck at high memory watermarks, e.g. after load spikes.</a:t>
            </a:r>
          </a:p>
          <a:p>
            <a:endParaRPr lang="en-US"/>
          </a:p>
          <a:p>
            <a:r>
              <a:rPr lang="en-US"/>
              <a:t>🧹 Now, Kestrel trims memory over time reducing your app’s footprint.</a:t>
            </a:r>
          </a:p>
          <a:p>
            <a:endParaRPr lang="en-US"/>
          </a:p>
          <a:p>
            <a:r>
              <a:rPr lang="en-US"/>
              <a:t>💡 Result: Better scaling, lower idle costs, smarter resource use.</a:t>
            </a:r>
          </a:p>
          <a:p>
            <a:endParaRPr lang="en-US"/>
          </a:p>
        </p:txBody>
      </p:sp>
      <p:grpSp>
        <p:nvGrpSpPr>
          <p:cNvPr id="5" name="Group 4">
            <a:extLst>
              <a:ext uri="{FF2B5EF4-FFF2-40B4-BE49-F238E27FC236}">
                <a16:creationId xmlns:a16="http://schemas.microsoft.com/office/drawing/2014/main" id="{2FB607FB-27BE-8DF2-7989-7665761F3685}"/>
              </a:ext>
            </a:extLst>
          </p:cNvPr>
          <p:cNvGrpSpPr/>
          <p:nvPr/>
        </p:nvGrpSpPr>
        <p:grpSpPr>
          <a:xfrm>
            <a:off x="1793874" y="2964315"/>
            <a:ext cx="8042424" cy="4894070"/>
            <a:chOff x="513080" y="1482157"/>
            <a:chExt cx="4021212" cy="2447035"/>
          </a:xfrm>
        </p:grpSpPr>
        <p:pic>
          <p:nvPicPr>
            <p:cNvPr id="6" name="Picture 2">
              <a:extLst>
                <a:ext uri="{FF2B5EF4-FFF2-40B4-BE49-F238E27FC236}">
                  <a16:creationId xmlns:a16="http://schemas.microsoft.com/office/drawing/2014/main" id="{F63F2198-A9B2-2121-98AC-988A10A1F9BA}"/>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b="-995"/>
            <a:stretch/>
          </p:blipFill>
          <p:spPr bwMode="auto">
            <a:xfrm>
              <a:off x="513080" y="1482157"/>
              <a:ext cx="4021212" cy="24470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652D4C0-9CA8-6DBB-33DF-9D9C20BD8D60}"/>
                </a:ext>
              </a:extLst>
            </p:cNvPr>
            <p:cNvSpPr txBox="1"/>
            <p:nvPr/>
          </p:nvSpPr>
          <p:spPr>
            <a:xfrm>
              <a:off x="1639469" y="1529084"/>
              <a:ext cx="1561325" cy="276999"/>
            </a:xfrm>
            <a:prstGeom prst="rect">
              <a:avLst/>
            </a:prstGeom>
            <a:solidFill>
              <a:srgbClr val="FFFFFF"/>
            </a:solidFill>
          </p:spPr>
          <p:txBody>
            <a:bodyPr wrap="none" lIns="0" tIns="0" rIns="0" bIns="0" rtlCol="0">
              <a:spAutoFit/>
            </a:bodyPr>
            <a:lstStyle/>
            <a:p>
              <a:pPr algn="l"/>
              <a:r>
                <a:rPr lang="en-US" sz="3600" b="1">
                  <a:solidFill>
                    <a:schemeClr val="bg1">
                      <a:lumMod val="75000"/>
                      <a:lumOff val="25000"/>
                    </a:schemeClr>
                  </a:solidFill>
                </a:rPr>
                <a:t>Evicted Memory</a:t>
              </a:r>
            </a:p>
          </p:txBody>
        </p:sp>
      </p:grpSp>
      <p:grpSp>
        <p:nvGrpSpPr>
          <p:cNvPr id="8" name="Group 7">
            <a:extLst>
              <a:ext uri="{FF2B5EF4-FFF2-40B4-BE49-F238E27FC236}">
                <a16:creationId xmlns:a16="http://schemas.microsoft.com/office/drawing/2014/main" id="{1487242B-7045-F03A-6A3B-6C82F76D9B07}"/>
              </a:ext>
            </a:extLst>
          </p:cNvPr>
          <p:cNvGrpSpPr/>
          <p:nvPr/>
        </p:nvGrpSpPr>
        <p:grpSpPr>
          <a:xfrm>
            <a:off x="1793873" y="7991475"/>
            <a:ext cx="8042424" cy="4810126"/>
            <a:chOff x="513080" y="3995737"/>
            <a:chExt cx="4021212" cy="2405063"/>
          </a:xfrm>
        </p:grpSpPr>
        <p:pic>
          <p:nvPicPr>
            <p:cNvPr id="9" name="Picture 2">
              <a:extLst>
                <a:ext uri="{FF2B5EF4-FFF2-40B4-BE49-F238E27FC236}">
                  <a16:creationId xmlns:a16="http://schemas.microsoft.com/office/drawing/2014/main" id="{11040291-DFC2-89D5-3715-A4CF43A65C36}"/>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513080" y="3995737"/>
              <a:ext cx="4021212" cy="240506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68D3BE2-F802-2B2C-5270-BCE3731FF5DA}"/>
                </a:ext>
              </a:extLst>
            </p:cNvPr>
            <p:cNvSpPr txBox="1"/>
            <p:nvPr/>
          </p:nvSpPr>
          <p:spPr>
            <a:xfrm>
              <a:off x="1763188" y="4071689"/>
              <a:ext cx="1341393" cy="276999"/>
            </a:xfrm>
            <a:prstGeom prst="rect">
              <a:avLst/>
            </a:prstGeom>
            <a:solidFill>
              <a:srgbClr val="FFFFFF"/>
            </a:solidFill>
          </p:spPr>
          <p:txBody>
            <a:bodyPr wrap="none" lIns="0" tIns="0" rIns="0" bIns="0" rtlCol="0">
              <a:spAutoFit/>
            </a:bodyPr>
            <a:lstStyle/>
            <a:p>
              <a:pPr algn="l"/>
              <a:r>
                <a:rPr lang="en-US" sz="3600" b="1">
                  <a:solidFill>
                    <a:schemeClr val="bg1">
                      <a:lumMod val="75000"/>
                      <a:lumOff val="25000"/>
                    </a:schemeClr>
                  </a:solidFill>
                </a:rPr>
                <a:t>Total Memory</a:t>
              </a:r>
            </a:p>
          </p:txBody>
        </p:sp>
      </p:grpSp>
    </p:spTree>
    <p:extLst>
      <p:ext uri="{BB962C8B-B14F-4D97-AF65-F5344CB8AC3E}">
        <p14:creationId xmlns:p14="http://schemas.microsoft.com/office/powerpoint/2010/main" val="2050391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lumMod val="25000"/>
          </a:schemeClr>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A3DF48-5B76-8C82-FC6D-F08E08D14C76}"/>
              </a:ext>
            </a:extLst>
          </p:cNvPr>
          <p:cNvSpPr>
            <a:spLocks noGrp="1"/>
          </p:cNvSpPr>
          <p:nvPr>
            <p:ph type="body" sz="quarter" idx="12"/>
          </p:nvPr>
        </p:nvSpPr>
        <p:spPr>
          <a:xfrm>
            <a:off x="2757376" y="6096225"/>
            <a:ext cx="9899845" cy="1289311"/>
          </a:xfrm>
        </p:spPr>
        <p:txBody>
          <a:bodyPr/>
          <a:lstStyle/>
          <a:p>
            <a:r>
              <a:rPr lang="en-US" b="1"/>
              <a:t>Address Pain Points &amp; Gaps</a:t>
            </a:r>
          </a:p>
        </p:txBody>
      </p:sp>
      <p:sp>
        <p:nvSpPr>
          <p:cNvPr id="3" name="Text Placeholder 2">
            <a:extLst>
              <a:ext uri="{FF2B5EF4-FFF2-40B4-BE49-F238E27FC236}">
                <a16:creationId xmlns:a16="http://schemas.microsoft.com/office/drawing/2014/main" id="{4D7B1CB7-605A-30B6-E0E5-9EADF23702BB}"/>
              </a:ext>
            </a:extLst>
          </p:cNvPr>
          <p:cNvSpPr>
            <a:spLocks noGrp="1"/>
          </p:cNvSpPr>
          <p:nvPr>
            <p:ph type="body" sz="quarter" idx="19"/>
          </p:nvPr>
        </p:nvSpPr>
        <p:spPr>
          <a:xfrm>
            <a:off x="842212" y="6096226"/>
            <a:ext cx="1915164" cy="1289312"/>
          </a:xfrm>
        </p:spPr>
        <p:txBody>
          <a:bodyPr/>
          <a:lstStyle/>
          <a:p>
            <a:r>
              <a:rPr lang="en-US" b="1">
                <a:solidFill>
                  <a:schemeClr val="bg2"/>
                </a:solidFill>
              </a:rPr>
              <a:t>04</a:t>
            </a:r>
          </a:p>
        </p:txBody>
      </p:sp>
    </p:spTree>
    <p:extLst>
      <p:ext uri="{BB962C8B-B14F-4D97-AF65-F5344CB8AC3E}">
        <p14:creationId xmlns:p14="http://schemas.microsoft.com/office/powerpoint/2010/main" val="1805665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C658-74D6-DE7C-B6AE-AD7AA8040976}"/>
              </a:ext>
            </a:extLst>
          </p:cNvPr>
          <p:cNvSpPr>
            <a:spLocks noGrp="1"/>
          </p:cNvSpPr>
          <p:nvPr>
            <p:ph type="title"/>
          </p:nvPr>
        </p:nvSpPr>
        <p:spPr/>
        <p:txBody>
          <a:bodyPr/>
          <a:lstStyle/>
          <a:p>
            <a:r>
              <a:rPr lang="en-US"/>
              <a:t>✨Address top pain points &amp; gaps – backend</a:t>
            </a:r>
          </a:p>
        </p:txBody>
      </p:sp>
      <p:sp>
        <p:nvSpPr>
          <p:cNvPr id="3" name="Text Placeholder 5">
            <a:extLst>
              <a:ext uri="{FF2B5EF4-FFF2-40B4-BE49-F238E27FC236}">
                <a16:creationId xmlns:a16="http://schemas.microsoft.com/office/drawing/2014/main" id="{FE05DCCC-4B53-C1F6-23DC-696FFA0DCB2C}"/>
              </a:ext>
            </a:extLst>
          </p:cNvPr>
          <p:cNvSpPr txBox="1">
            <a:spLocks/>
          </p:cNvSpPr>
          <p:nvPr/>
        </p:nvSpPr>
        <p:spPr>
          <a:xfrm>
            <a:off x="1172021" y="2876550"/>
            <a:ext cx="6528816" cy="13542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000"/>
              <a:t>Key feature asks for minimal APIs</a:t>
            </a:r>
          </a:p>
        </p:txBody>
      </p:sp>
      <p:sp>
        <p:nvSpPr>
          <p:cNvPr id="4" name="Text Placeholder 4">
            <a:extLst>
              <a:ext uri="{FF2B5EF4-FFF2-40B4-BE49-F238E27FC236}">
                <a16:creationId xmlns:a16="http://schemas.microsoft.com/office/drawing/2014/main" id="{C9943436-D039-AD81-6C50-1658C929F8BE}"/>
              </a:ext>
            </a:extLst>
          </p:cNvPr>
          <p:cNvSpPr txBox="1">
            <a:spLocks/>
          </p:cNvSpPr>
          <p:nvPr/>
        </p:nvSpPr>
        <p:spPr>
          <a:xfrm>
            <a:off x="8929179" y="4768270"/>
            <a:ext cx="6528816" cy="46782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2200"/>
              </a:spcBef>
            </a:pPr>
            <a:r>
              <a:rPr lang="en-US" sz="4400"/>
              <a:t>Support for OpenAPI v3.1</a:t>
            </a:r>
          </a:p>
          <a:p>
            <a:pPr>
              <a:lnSpc>
                <a:spcPct val="100000"/>
              </a:lnSpc>
              <a:spcBef>
                <a:spcPts val="2200"/>
              </a:spcBef>
            </a:pPr>
            <a:r>
              <a:rPr lang="en-US" sz="4400"/>
              <a:t>XML doc comments-based OpenAPI descriptions</a:t>
            </a:r>
          </a:p>
          <a:p>
            <a:pPr>
              <a:lnSpc>
                <a:spcPct val="100000"/>
              </a:lnSpc>
              <a:spcBef>
                <a:spcPts val="2200"/>
              </a:spcBef>
            </a:pPr>
            <a:r>
              <a:rPr lang="en-US" sz="4400"/>
              <a:t>Support emitting OpenAPI documents in YAML format</a:t>
            </a:r>
          </a:p>
        </p:txBody>
      </p:sp>
      <p:sp>
        <p:nvSpPr>
          <p:cNvPr id="5" name="Text Placeholder 9">
            <a:extLst>
              <a:ext uri="{FF2B5EF4-FFF2-40B4-BE49-F238E27FC236}">
                <a16:creationId xmlns:a16="http://schemas.microsoft.com/office/drawing/2014/main" id="{A1F2A693-6684-0068-8A54-26C89EFF70F1}"/>
              </a:ext>
            </a:extLst>
          </p:cNvPr>
          <p:cNvSpPr txBox="1">
            <a:spLocks/>
          </p:cNvSpPr>
          <p:nvPr/>
        </p:nvSpPr>
        <p:spPr>
          <a:xfrm>
            <a:off x="1172021" y="4781550"/>
            <a:ext cx="6528816" cy="20928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2200"/>
              </a:spcBef>
            </a:pPr>
            <a:r>
              <a:rPr lang="en-US" sz="4400"/>
              <a:t>Minimal API validation</a:t>
            </a:r>
          </a:p>
          <a:p>
            <a:pPr>
              <a:lnSpc>
                <a:spcPct val="100000"/>
              </a:lnSpc>
              <a:spcBef>
                <a:spcPts val="2200"/>
              </a:spcBef>
            </a:pPr>
            <a:r>
              <a:rPr lang="en-US" sz="4400"/>
              <a:t>Server-sent events (SSE)</a:t>
            </a:r>
          </a:p>
          <a:p>
            <a:pPr marL="0" indent="0">
              <a:lnSpc>
                <a:spcPct val="100000"/>
              </a:lnSpc>
              <a:spcBef>
                <a:spcPts val="2200"/>
              </a:spcBef>
              <a:buNone/>
            </a:pPr>
            <a:endParaRPr lang="en-US" sz="4400"/>
          </a:p>
        </p:txBody>
      </p:sp>
      <p:sp>
        <p:nvSpPr>
          <p:cNvPr id="6" name="Text Placeholder 7">
            <a:extLst>
              <a:ext uri="{FF2B5EF4-FFF2-40B4-BE49-F238E27FC236}">
                <a16:creationId xmlns:a16="http://schemas.microsoft.com/office/drawing/2014/main" id="{2841748A-B6E4-E61A-0195-2BDA7BD7B2A6}"/>
              </a:ext>
            </a:extLst>
          </p:cNvPr>
          <p:cNvSpPr txBox="1">
            <a:spLocks/>
          </p:cNvSpPr>
          <p:nvPr/>
        </p:nvSpPr>
        <p:spPr>
          <a:xfrm>
            <a:off x="16686337" y="2876550"/>
            <a:ext cx="6528816" cy="13542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000"/>
              <a:t>Address other common backend pain points</a:t>
            </a:r>
          </a:p>
        </p:txBody>
      </p:sp>
      <p:sp>
        <p:nvSpPr>
          <p:cNvPr id="7" name="Text Placeholder 6">
            <a:extLst>
              <a:ext uri="{FF2B5EF4-FFF2-40B4-BE49-F238E27FC236}">
                <a16:creationId xmlns:a16="http://schemas.microsoft.com/office/drawing/2014/main" id="{CF119A7F-DA60-9A18-24D9-C4070931B45A}"/>
              </a:ext>
            </a:extLst>
          </p:cNvPr>
          <p:cNvSpPr txBox="1">
            <a:spLocks/>
          </p:cNvSpPr>
          <p:nvPr/>
        </p:nvSpPr>
        <p:spPr>
          <a:xfrm>
            <a:off x="8929179" y="2876550"/>
            <a:ext cx="6528816" cy="13542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000"/>
              <a:t>Ongoing OpenAPI investment</a:t>
            </a:r>
          </a:p>
        </p:txBody>
      </p:sp>
      <p:sp>
        <p:nvSpPr>
          <p:cNvPr id="8" name="Text Placeholder 8">
            <a:extLst>
              <a:ext uri="{FF2B5EF4-FFF2-40B4-BE49-F238E27FC236}">
                <a16:creationId xmlns:a16="http://schemas.microsoft.com/office/drawing/2014/main" id="{6196ADD6-F5EF-E9B1-5C31-7B09D3B6A827}"/>
              </a:ext>
            </a:extLst>
          </p:cNvPr>
          <p:cNvSpPr txBox="1">
            <a:spLocks/>
          </p:cNvSpPr>
          <p:nvPr/>
        </p:nvSpPr>
        <p:spPr>
          <a:xfrm>
            <a:off x="16686337" y="4781550"/>
            <a:ext cx="6528816" cy="32008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2200"/>
              </a:spcBef>
            </a:pPr>
            <a:r>
              <a:rPr lang="en-US" sz="4400" dirty="0"/>
              <a:t>JSON Patch with </a:t>
            </a:r>
            <a:r>
              <a:rPr lang="en-US" sz="4400" dirty="0" err="1"/>
              <a:t>System.Text.Json</a:t>
            </a:r>
            <a:endParaRPr lang="en-US" sz="4400" dirty="0"/>
          </a:p>
          <a:p>
            <a:pPr>
              <a:lnSpc>
                <a:spcPct val="100000"/>
              </a:lnSpc>
              <a:spcBef>
                <a:spcPts val="2200"/>
              </a:spcBef>
            </a:pPr>
            <a:r>
              <a:rPr lang="en-US" sz="4400" dirty="0"/>
              <a:t>Generate correct unauthorized responses for APIs in Web apps</a:t>
            </a:r>
          </a:p>
        </p:txBody>
      </p:sp>
    </p:spTree>
    <p:extLst>
      <p:ext uri="{BB962C8B-B14F-4D97-AF65-F5344CB8AC3E}">
        <p14:creationId xmlns:p14="http://schemas.microsoft.com/office/powerpoint/2010/main" val="2778465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54FB7-C4A9-5341-8FD8-2C4C3372D7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FAD794D-CE74-91BC-80D8-2828096DB1C6}"/>
              </a:ext>
            </a:extLst>
          </p:cNvPr>
          <p:cNvSpPr>
            <a:spLocks noGrp="1"/>
          </p:cNvSpPr>
          <p:nvPr>
            <p:ph type="body" sz="quarter" idx="29"/>
          </p:nvPr>
        </p:nvSpPr>
        <p:spPr/>
        <p:txBody>
          <a:bodyPr/>
          <a:lstStyle/>
          <a:p>
            <a:r>
              <a:rPr lang="en-US" b="1"/>
              <a:t>Validation in Minimal APIs</a:t>
            </a:r>
          </a:p>
        </p:txBody>
      </p:sp>
      <p:pic>
        <p:nvPicPr>
          <p:cNvPr id="5" name="Picture Placeholder 4">
            <a:extLst>
              <a:ext uri="{FF2B5EF4-FFF2-40B4-BE49-F238E27FC236}">
                <a16:creationId xmlns:a16="http://schemas.microsoft.com/office/drawing/2014/main" id="{E7884728-8A53-3E57-C3A8-660C9807A0BD}"/>
              </a:ext>
            </a:extLst>
          </p:cNvPr>
          <p:cNvPicPr>
            <a:picLocks noGrp="1" noChangeAspect="1"/>
          </p:cNvPicPr>
          <p:nvPr>
            <p:ph type="pic" sz="quarter" idx="28"/>
          </p:nvPr>
        </p:nvPicPr>
        <p:blipFill>
          <a:blip r:embed="rId3" cstate="email">
            <a:extLst>
              <a:ext uri="{28A0092B-C50C-407E-A947-70E740481C1C}">
                <a14:useLocalDpi xmlns:a14="http://schemas.microsoft.com/office/drawing/2010/main"/>
              </a:ext>
            </a:extLst>
          </a:blip>
          <a:srcRect/>
          <a:stretch/>
        </p:blipFill>
        <p:spPr>
          <a:prstGeom prst="rect">
            <a:avLst/>
          </a:prstGeom>
        </p:spPr>
      </p:pic>
    </p:spTree>
    <p:extLst>
      <p:ext uri="{BB962C8B-B14F-4D97-AF65-F5344CB8AC3E}">
        <p14:creationId xmlns:p14="http://schemas.microsoft.com/office/powerpoint/2010/main" val="667095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CE6E3-8AA2-82F4-7107-CC4D621636E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D3F4BB-EB4D-5709-CDDF-3B35106FE758}"/>
              </a:ext>
            </a:extLst>
          </p:cNvPr>
          <p:cNvSpPr>
            <a:spLocks noGrp="1"/>
          </p:cNvSpPr>
          <p:nvPr>
            <p:ph type="body" sz="quarter" idx="29"/>
          </p:nvPr>
        </p:nvSpPr>
        <p:spPr/>
        <p:txBody>
          <a:bodyPr lIns="91440" tIns="45720" rIns="91440" bIns="45720" anchor="t"/>
          <a:lstStyle/>
          <a:p>
            <a:r>
              <a:rPr lang="en-US" b="1" err="1">
                <a:latin typeface="Poppins"/>
                <a:cs typeface="Segoe UI Variable Display Bold"/>
              </a:rPr>
              <a:t>OpenAPI</a:t>
            </a:r>
          </a:p>
          <a:p>
            <a:r>
              <a:rPr lang="en-US" b="1"/>
              <a:t>Enhancements</a:t>
            </a:r>
          </a:p>
        </p:txBody>
      </p:sp>
      <p:pic>
        <p:nvPicPr>
          <p:cNvPr id="5" name="Picture Placeholder 4">
            <a:extLst>
              <a:ext uri="{FF2B5EF4-FFF2-40B4-BE49-F238E27FC236}">
                <a16:creationId xmlns:a16="http://schemas.microsoft.com/office/drawing/2014/main" id="{C8D9A970-431B-2C89-7BD0-13A631CA0823}"/>
              </a:ext>
            </a:extLst>
          </p:cNvPr>
          <p:cNvPicPr>
            <a:picLocks noGrp="1" noChangeAspect="1"/>
          </p:cNvPicPr>
          <p:nvPr>
            <p:ph type="pic" sz="quarter" idx="28"/>
          </p:nvPr>
        </p:nvPicPr>
        <p:blipFill>
          <a:blip r:embed="rId3" cstate="email">
            <a:extLst>
              <a:ext uri="{28A0092B-C50C-407E-A947-70E740481C1C}">
                <a14:useLocalDpi xmlns:a14="http://schemas.microsoft.com/office/drawing/2010/main"/>
              </a:ext>
            </a:extLst>
          </a:blip>
          <a:srcRect/>
          <a:stretch/>
        </p:blipFill>
        <p:spPr>
          <a:prstGeom prst="rect">
            <a:avLst/>
          </a:prstGeom>
        </p:spPr>
      </p:pic>
    </p:spTree>
    <p:extLst>
      <p:ext uri="{BB962C8B-B14F-4D97-AF65-F5344CB8AC3E}">
        <p14:creationId xmlns:p14="http://schemas.microsoft.com/office/powerpoint/2010/main" val="4157297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9C424-3BBB-003B-B1A3-66D56F61E8DE}"/>
              </a:ext>
            </a:extLst>
          </p:cNvPr>
          <p:cNvSpPr>
            <a:spLocks noGrp="1"/>
          </p:cNvSpPr>
          <p:nvPr>
            <p:ph type="title"/>
          </p:nvPr>
        </p:nvSpPr>
        <p:spPr/>
        <p:txBody>
          <a:bodyPr/>
          <a:lstStyle/>
          <a:p>
            <a:r>
              <a:rPr lang="en-US"/>
              <a:t>ASP.NET Core in .NET 10</a:t>
            </a:r>
          </a:p>
        </p:txBody>
      </p:sp>
      <p:sp>
        <p:nvSpPr>
          <p:cNvPr id="3" name="Text Placeholder 15">
            <a:extLst>
              <a:ext uri="{FF2B5EF4-FFF2-40B4-BE49-F238E27FC236}">
                <a16:creationId xmlns:a16="http://schemas.microsoft.com/office/drawing/2014/main" id="{E91D4130-10FE-CDD6-CC5D-A74D596D5097}"/>
              </a:ext>
            </a:extLst>
          </p:cNvPr>
          <p:cNvSpPr txBox="1">
            <a:spLocks/>
          </p:cNvSpPr>
          <p:nvPr/>
        </p:nvSpPr>
        <p:spPr>
          <a:xfrm>
            <a:off x="1169988" y="7645116"/>
            <a:ext cx="5064126" cy="11079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🔒Easier to create secure apps</a:t>
            </a:r>
          </a:p>
        </p:txBody>
      </p:sp>
      <p:sp>
        <p:nvSpPr>
          <p:cNvPr id="4" name="Text Placeholder 14">
            <a:extLst>
              <a:ext uri="{FF2B5EF4-FFF2-40B4-BE49-F238E27FC236}">
                <a16:creationId xmlns:a16="http://schemas.microsoft.com/office/drawing/2014/main" id="{01A6BD88-99DD-5328-236F-B4F21A8347A6}"/>
              </a:ext>
            </a:extLst>
          </p:cNvPr>
          <p:cNvSpPr txBox="1">
            <a:spLocks/>
          </p:cNvSpPr>
          <p:nvPr/>
        </p:nvSpPr>
        <p:spPr>
          <a:xfrm>
            <a:off x="6878104" y="8885734"/>
            <a:ext cx="5064126" cy="33609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Segoe UI"/>
              </a:rPr>
              <a:t>More metrics</a:t>
            </a:r>
          </a:p>
          <a:p>
            <a:r>
              <a:rPr lang="en-US">
                <a:cs typeface="Segoe UI"/>
              </a:rPr>
              <a:t>Blazor Server tracing</a:t>
            </a:r>
          </a:p>
          <a:p>
            <a:r>
              <a:rPr lang="en-US">
                <a:cs typeface="Segoe UI"/>
              </a:rPr>
              <a:t>Blazor WebAssembly diagnostics</a:t>
            </a:r>
          </a:p>
          <a:p>
            <a:r>
              <a:rPr lang="en-US">
                <a:cs typeface="Segoe UI"/>
              </a:rPr>
              <a:t>Built-in OTel trace instrumentation</a:t>
            </a:r>
          </a:p>
          <a:p>
            <a:endParaRPr lang="en-US"/>
          </a:p>
        </p:txBody>
      </p:sp>
      <p:sp>
        <p:nvSpPr>
          <p:cNvPr id="5" name="Text Placeholder 13">
            <a:extLst>
              <a:ext uri="{FF2B5EF4-FFF2-40B4-BE49-F238E27FC236}">
                <a16:creationId xmlns:a16="http://schemas.microsoft.com/office/drawing/2014/main" id="{AA81B190-0B06-8E2C-2DF8-1B093AB62F9E}"/>
              </a:ext>
            </a:extLst>
          </p:cNvPr>
          <p:cNvSpPr txBox="1">
            <a:spLocks/>
          </p:cNvSpPr>
          <p:nvPr/>
        </p:nvSpPr>
        <p:spPr>
          <a:xfrm>
            <a:off x="1169986" y="8885734"/>
            <a:ext cx="5064126" cy="2412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WebAuthN</a:t>
            </a:r>
            <a:r>
              <a:rPr lang="en-US" dirty="0"/>
              <a:t> &amp; Passkeys</a:t>
            </a:r>
          </a:p>
          <a:p>
            <a:r>
              <a:rPr lang="en-US" dirty="0">
                <a:ea typeface="+mn-lt"/>
                <a:cs typeface="+mn-lt"/>
              </a:rPr>
              <a:t>Authentication scaffolding</a:t>
            </a:r>
          </a:p>
        </p:txBody>
      </p:sp>
      <p:sp>
        <p:nvSpPr>
          <p:cNvPr id="6" name="Text Placeholder 18">
            <a:extLst>
              <a:ext uri="{FF2B5EF4-FFF2-40B4-BE49-F238E27FC236}">
                <a16:creationId xmlns:a16="http://schemas.microsoft.com/office/drawing/2014/main" id="{D665FF70-C21F-6E74-8339-F8D3F292D0B4}"/>
              </a:ext>
            </a:extLst>
          </p:cNvPr>
          <p:cNvSpPr txBox="1">
            <a:spLocks/>
          </p:cNvSpPr>
          <p:nvPr/>
        </p:nvSpPr>
        <p:spPr>
          <a:xfrm>
            <a:off x="12278295" y="7633201"/>
            <a:ext cx="5486400" cy="16619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🚀Targeted Performance improvements</a:t>
            </a:r>
          </a:p>
        </p:txBody>
      </p:sp>
      <p:sp>
        <p:nvSpPr>
          <p:cNvPr id="7" name="Text Placeholder 19">
            <a:extLst>
              <a:ext uri="{FF2B5EF4-FFF2-40B4-BE49-F238E27FC236}">
                <a16:creationId xmlns:a16="http://schemas.microsoft.com/office/drawing/2014/main" id="{B4304479-3418-D82E-A609-D5659F15776B}"/>
              </a:ext>
            </a:extLst>
          </p:cNvPr>
          <p:cNvSpPr txBox="1">
            <a:spLocks/>
          </p:cNvSpPr>
          <p:nvPr/>
        </p:nvSpPr>
        <p:spPr>
          <a:xfrm>
            <a:off x="6827837" y="7645116"/>
            <a:ext cx="5067300" cy="11079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🩺App observability &amp; diagnostics</a:t>
            </a:r>
          </a:p>
        </p:txBody>
      </p:sp>
      <p:sp>
        <p:nvSpPr>
          <p:cNvPr id="8" name="Text Placeholder 20">
            <a:extLst>
              <a:ext uri="{FF2B5EF4-FFF2-40B4-BE49-F238E27FC236}">
                <a16:creationId xmlns:a16="http://schemas.microsoft.com/office/drawing/2014/main" id="{0CCE07BC-27DE-9D39-65C7-BFC24B9EFDF3}"/>
              </a:ext>
            </a:extLst>
          </p:cNvPr>
          <p:cNvSpPr txBox="1">
            <a:spLocks/>
          </p:cNvSpPr>
          <p:nvPr/>
        </p:nvSpPr>
        <p:spPr>
          <a:xfrm>
            <a:off x="12485686" y="8885735"/>
            <a:ext cx="5064126" cy="32747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Release memory from Kestrel memory pool</a:t>
            </a:r>
          </a:p>
          <a:p>
            <a:r>
              <a:rPr lang="en-US" dirty="0">
                <a:ea typeface="+mn-lt"/>
                <a:cs typeface="+mn-lt"/>
              </a:rPr>
              <a:t>Minimal API JSON deserialization</a:t>
            </a:r>
          </a:p>
          <a:p>
            <a:r>
              <a:rPr lang="en-US" dirty="0">
                <a:ea typeface="+mn-lt"/>
                <a:cs typeface="+mn-lt"/>
              </a:rPr>
              <a:t>Blazor </a:t>
            </a:r>
            <a:r>
              <a:rPr lang="en-US" dirty="0" err="1">
                <a:ea typeface="+mn-lt"/>
                <a:cs typeface="+mn-lt"/>
              </a:rPr>
              <a:t>WebAssembly</a:t>
            </a:r>
            <a:r>
              <a:rPr lang="en-US" dirty="0">
                <a:ea typeface="+mn-lt"/>
                <a:cs typeface="+mn-lt"/>
              </a:rPr>
              <a:t> startup improvements</a:t>
            </a:r>
          </a:p>
        </p:txBody>
      </p:sp>
      <p:sp>
        <p:nvSpPr>
          <p:cNvPr id="9" name="Text Placeholder 21">
            <a:extLst>
              <a:ext uri="{FF2B5EF4-FFF2-40B4-BE49-F238E27FC236}">
                <a16:creationId xmlns:a16="http://schemas.microsoft.com/office/drawing/2014/main" id="{A1DBBB9B-3DA1-7658-8E86-E2624226FFC9}"/>
              </a:ext>
            </a:extLst>
          </p:cNvPr>
          <p:cNvSpPr txBox="1">
            <a:spLocks/>
          </p:cNvSpPr>
          <p:nvPr/>
        </p:nvSpPr>
        <p:spPr>
          <a:xfrm>
            <a:off x="18147853" y="7645116"/>
            <a:ext cx="5067300" cy="11079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✨Address top pain points &amp; gaps</a:t>
            </a:r>
          </a:p>
        </p:txBody>
      </p:sp>
      <p:sp>
        <p:nvSpPr>
          <p:cNvPr id="10" name="Text Placeholder 22">
            <a:extLst>
              <a:ext uri="{FF2B5EF4-FFF2-40B4-BE49-F238E27FC236}">
                <a16:creationId xmlns:a16="http://schemas.microsoft.com/office/drawing/2014/main" id="{C7D692DF-A2F6-3D54-FDA1-462984969BBF}"/>
              </a:ext>
            </a:extLst>
          </p:cNvPr>
          <p:cNvSpPr txBox="1">
            <a:spLocks/>
          </p:cNvSpPr>
          <p:nvPr/>
        </p:nvSpPr>
        <p:spPr>
          <a:xfrm>
            <a:off x="18093267" y="8885734"/>
            <a:ext cx="5540216" cy="40503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Minimal API validation</a:t>
            </a:r>
          </a:p>
          <a:p>
            <a:r>
              <a:rPr lang="en-US" dirty="0"/>
              <a:t>OpenAPI 3.1 &amp; XML doc support </a:t>
            </a:r>
          </a:p>
          <a:p>
            <a:r>
              <a:rPr lang="en-US" dirty="0"/>
              <a:t>JSON Patch with </a:t>
            </a:r>
            <a:r>
              <a:rPr lang="en-US" dirty="0" err="1"/>
              <a:t>System.Text.Json</a:t>
            </a:r>
            <a:endParaRPr lang="en-US" dirty="0"/>
          </a:p>
          <a:p>
            <a:r>
              <a:rPr lang="en-US" dirty="0"/>
              <a:t>Blazor state persistence</a:t>
            </a:r>
          </a:p>
          <a:p>
            <a:r>
              <a:rPr lang="en-US" dirty="0" err="1"/>
              <a:t>QuickGrid</a:t>
            </a:r>
            <a:r>
              <a:rPr lang="en-US" dirty="0"/>
              <a:t> enhancements</a:t>
            </a:r>
          </a:p>
          <a:p>
            <a:r>
              <a:rPr lang="en-US" dirty="0"/>
              <a:t>Improved Blazor navigation</a:t>
            </a:r>
          </a:p>
          <a:p>
            <a:endParaRPr lang="en-US" dirty="0"/>
          </a:p>
          <a:p>
            <a:endParaRPr lang="en-US" dirty="0"/>
          </a:p>
        </p:txBody>
      </p:sp>
      <p:pic>
        <p:nvPicPr>
          <p:cNvPr id="11" name="Picture Placeholder 2" descr="Padlock on computer motherboard">
            <a:extLst>
              <a:ext uri="{FF2B5EF4-FFF2-40B4-BE49-F238E27FC236}">
                <a16:creationId xmlns:a16="http://schemas.microsoft.com/office/drawing/2014/main" id="{E9170B17-5C89-0E35-4437-C7920F5E4150}"/>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388617" y="2760290"/>
            <a:ext cx="4626864" cy="4626864"/>
          </a:xfrm>
          <a:prstGeom prst="ellipse">
            <a:avLst/>
          </a:prstGeom>
        </p:spPr>
      </p:pic>
      <p:pic>
        <p:nvPicPr>
          <p:cNvPr id="12" name="Picture Placeholder 3" descr="Create a realistic image of a developer monitoring and troubleshooting a deployed web app. The developer should be looking at logs, metrics, and traces on multiple screens. The setting should be a professional office environment with modern equipment. Include elements such as code snippets, graphs, and charts on the screens to represent the data being analyzed. Use a color scheme that is appropriate for a professional presentation, with a focus on blues and grays. The mood should be focused and analytical, reflecting the importance of app observability and diagnostics in web app development.">
            <a:extLst>
              <a:ext uri="{FF2B5EF4-FFF2-40B4-BE49-F238E27FC236}">
                <a16:creationId xmlns:a16="http://schemas.microsoft.com/office/drawing/2014/main" id="{023CC44E-CB45-1BF3-BCE0-FCE99F9B6AE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046467" y="2760290"/>
            <a:ext cx="4626864" cy="4626864"/>
          </a:xfrm>
          <a:prstGeom prst="ellipse">
            <a:avLst/>
          </a:prstGeom>
        </p:spPr>
      </p:pic>
      <p:pic>
        <p:nvPicPr>
          <p:cNvPr id="13" name="Picture Placeholder 5" descr="Digitally generated image of Secure Internet Speed bckgrounds with copy space">
            <a:extLst>
              <a:ext uri="{FF2B5EF4-FFF2-40B4-BE49-F238E27FC236}">
                <a16:creationId xmlns:a16="http://schemas.microsoft.com/office/drawing/2014/main" id="{8FFBFF85-F01D-2B28-EAE1-E54F9DEFE8B5}"/>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2704317" y="2760290"/>
            <a:ext cx="4626864" cy="4626864"/>
          </a:xfrm>
          <a:prstGeom prst="ellipse">
            <a:avLst/>
          </a:prstGeom>
        </p:spPr>
      </p:pic>
      <p:pic>
        <p:nvPicPr>
          <p:cNvPr id="14" name="Picture Placeholder 6" descr="delighted .NET developer">
            <a:extLst>
              <a:ext uri="{FF2B5EF4-FFF2-40B4-BE49-F238E27FC236}">
                <a16:creationId xmlns:a16="http://schemas.microsoft.com/office/drawing/2014/main" id="{77926358-8C1C-0508-F7FF-8F1EB2B936A6}"/>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18362167" y="2760290"/>
            <a:ext cx="4626864" cy="4626864"/>
          </a:xfrm>
          <a:prstGeom prst="ellipse">
            <a:avLst/>
          </a:prstGeom>
        </p:spPr>
      </p:pic>
    </p:spTree>
    <p:extLst>
      <p:ext uri="{BB962C8B-B14F-4D97-AF65-F5344CB8AC3E}">
        <p14:creationId xmlns:p14="http://schemas.microsoft.com/office/powerpoint/2010/main" val="4165871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3C556-C713-401F-C0B4-769EED1FD282}"/>
              </a:ext>
            </a:extLst>
          </p:cNvPr>
          <p:cNvSpPr>
            <a:spLocks noGrp="1"/>
          </p:cNvSpPr>
          <p:nvPr>
            <p:ph type="title"/>
          </p:nvPr>
        </p:nvSpPr>
        <p:spPr/>
        <p:txBody>
          <a:bodyPr/>
          <a:lstStyle/>
          <a:p>
            <a:r>
              <a:rPr lang="en-US"/>
              <a:t>Resources</a:t>
            </a:r>
          </a:p>
        </p:txBody>
      </p:sp>
      <p:sp>
        <p:nvSpPr>
          <p:cNvPr id="3" name="Text Placeholder 2">
            <a:extLst>
              <a:ext uri="{FF2B5EF4-FFF2-40B4-BE49-F238E27FC236}">
                <a16:creationId xmlns:a16="http://schemas.microsoft.com/office/drawing/2014/main" id="{81C89F16-A043-E8FC-3332-1668827D2BFC}"/>
              </a:ext>
            </a:extLst>
          </p:cNvPr>
          <p:cNvSpPr>
            <a:spLocks noGrp="1"/>
          </p:cNvSpPr>
          <p:nvPr>
            <p:ph idx="1"/>
          </p:nvPr>
        </p:nvSpPr>
        <p:spPr/>
        <p:txBody>
          <a:bodyPr/>
          <a:lstStyle/>
          <a:p>
            <a:pPr marL="0" indent="0">
              <a:buNone/>
            </a:pPr>
            <a:r>
              <a:rPr lang="en-US" dirty="0"/>
              <a:t>Try out .NET 10 today! </a:t>
            </a:r>
            <a:r>
              <a:rPr lang="en-US" dirty="0">
                <a:hlinkClick r:id="rId2"/>
              </a:rPr>
              <a:t>get.dot.net/10</a:t>
            </a:r>
            <a:endParaRPr lang="en-US" dirty="0"/>
          </a:p>
          <a:p>
            <a:pPr marL="0" indent="0">
              <a:buNone/>
            </a:pPr>
            <a:r>
              <a:rPr lang="en-US" dirty="0"/>
              <a:t>What’s new: </a:t>
            </a:r>
            <a:r>
              <a:rPr lang="en-US" dirty="0">
                <a:hlinkClick r:id="rId3"/>
              </a:rPr>
              <a:t>learn.microsoft.com/dotnet/core/whats-new</a:t>
            </a:r>
            <a:endParaRPr lang="en-US" dirty="0"/>
          </a:p>
          <a:p>
            <a:pPr marL="0" indent="0">
              <a:buNone/>
            </a:pPr>
            <a:r>
              <a:rPr lang="en-US" dirty="0"/>
              <a:t>ASP.NET Core docs: </a:t>
            </a:r>
            <a:r>
              <a:rPr lang="en-US" dirty="0">
                <a:hlinkClick r:id="rId4"/>
              </a:rPr>
              <a:t>learn.microsoft.com/aspnet/core</a:t>
            </a: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75793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66A5-9F3E-8EDF-88DE-A6DB0B8C28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95D149-24D8-DDE9-B8F3-99BCDF591E0D}"/>
              </a:ext>
            </a:extLst>
          </p:cNvPr>
          <p:cNvSpPr>
            <a:spLocks noGrp="1"/>
          </p:cNvSpPr>
          <p:nvPr>
            <p:ph type="body" sz="quarter" idx="12"/>
          </p:nvPr>
        </p:nvSpPr>
        <p:spPr/>
        <p:txBody>
          <a:bodyPr/>
          <a:lstStyle/>
          <a:p>
            <a:r>
              <a:rPr lang="en-US" b="1" spc="-400">
                <a:solidFill>
                  <a:schemeClr val="bg1"/>
                </a:solidFill>
              </a:rPr>
              <a:t>Thank you</a:t>
            </a:r>
            <a:endParaRPr lang="en-US" b="1">
              <a:solidFill>
                <a:schemeClr val="bg1"/>
              </a:solidFill>
            </a:endParaRPr>
          </a:p>
        </p:txBody>
      </p:sp>
    </p:spTree>
    <p:extLst>
      <p:ext uri="{BB962C8B-B14F-4D97-AF65-F5344CB8AC3E}">
        <p14:creationId xmlns:p14="http://schemas.microsoft.com/office/powerpoint/2010/main" val="4133806821"/>
      </p:ext>
    </p:extLst>
  </p:cSld>
  <p:clrMapOvr>
    <a:masterClrMapping/>
  </p:clrMapOvr>
</p:sld>
</file>

<file path=ppt/theme/theme1.xml><?xml version="1.0" encoding="utf-8"?>
<a:theme xmlns:a="http://schemas.openxmlformats.org/drawingml/2006/main" name="1_Office Theme">
  <a:themeElements>
    <a:clrScheme name="Custom 68">
      <a:dk1>
        <a:srgbClr val="000000"/>
      </a:dk1>
      <a:lt1>
        <a:srgbClr val="FEFFFE"/>
      </a:lt1>
      <a:dk2>
        <a:srgbClr val="1F1E32"/>
      </a:dk2>
      <a:lt2>
        <a:srgbClr val="A5A6A6"/>
      </a:lt2>
      <a:accent1>
        <a:srgbClr val="5728DC"/>
      </a:accent1>
      <a:accent2>
        <a:srgbClr val="0B6BFF"/>
      </a:accent2>
      <a:accent3>
        <a:srgbClr val="D600AA"/>
      </a:accent3>
      <a:accent4>
        <a:srgbClr val="EEEAFA"/>
      </a:accent4>
      <a:accent5>
        <a:srgbClr val="B9AAEE"/>
      </a:accent5>
      <a:accent6>
        <a:srgbClr val="9DC3FF"/>
      </a:accent6>
      <a:hlink>
        <a:srgbClr val="800066"/>
      </a:hlink>
      <a:folHlink>
        <a:srgbClr val="EF99D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1732</Words>
  <Application>Microsoft Office PowerPoint</Application>
  <PresentationFormat>Custom</PresentationFormat>
  <Paragraphs>173</Paragraphs>
  <Slides>20</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Aptos</vt:lpstr>
      <vt:lpstr>Aptos Display</vt:lpstr>
      <vt:lpstr>Arial</vt:lpstr>
      <vt:lpstr>Calibri</vt:lpstr>
      <vt:lpstr>Courier New</vt:lpstr>
      <vt:lpstr>Poppins</vt:lpstr>
      <vt:lpstr>Segoe UI</vt:lpstr>
      <vt:lpstr>Segoe UI Variable Display</vt:lpstr>
      <vt:lpstr>Segoe UI Variable Display Semibold</vt:lpstr>
      <vt:lpstr>1_Office Theme</vt:lpstr>
      <vt:lpstr>2_Office Theme</vt:lpstr>
      <vt:lpstr>PowerPoint Presentation</vt:lpstr>
      <vt:lpstr>ASP.NET Core: A complete modern web framework</vt:lpstr>
      <vt:lpstr>Web development with ASP.NET Core</vt:lpstr>
      <vt:lpstr>PowerPoint Presentation</vt:lpstr>
      <vt:lpstr>PowerPoint Presentation</vt:lpstr>
      <vt:lpstr>WebAuthN &amp; Passkey support</vt:lpstr>
      <vt:lpstr>PowerPoint Presentation</vt:lpstr>
      <vt:lpstr>🩺App observability &amp; diagnostics</vt:lpstr>
      <vt:lpstr>PowerPoint Presentation</vt:lpstr>
      <vt:lpstr>PowerPoint Presentation</vt:lpstr>
      <vt:lpstr>PowerPoint Presentation</vt:lpstr>
      <vt:lpstr>🚀Targeted performance improvements</vt:lpstr>
      <vt:lpstr>Kestrel gets smarter about memory</vt:lpstr>
      <vt:lpstr>PowerPoint Presentation</vt:lpstr>
      <vt:lpstr>✨Address top pain points &amp; gaps – backend</vt:lpstr>
      <vt:lpstr>PowerPoint Presentation</vt:lpstr>
      <vt:lpstr>PowerPoint Presentation</vt:lpstr>
      <vt:lpstr>ASP.NET Core in .NET 10</vt:lpstr>
      <vt:lpstr>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2026-01-07T18:17:04Z</dcterms:created>
  <dcterms:modified xsi:type="dcterms:W3CDTF">2026-01-07T18:17:36Z</dcterms:modified>
</cp:coreProperties>
</file>