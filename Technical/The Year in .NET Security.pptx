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35"/>
  </p:notesMasterIdLst>
  <p:sldIdLst>
    <p:sldId id="498" r:id="rId2"/>
    <p:sldId id="499" r:id="rId3"/>
    <p:sldId id="518" r:id="rId4"/>
    <p:sldId id="513" r:id="rId5"/>
    <p:sldId id="519" r:id="rId6"/>
    <p:sldId id="516" r:id="rId7"/>
    <p:sldId id="517" r:id="rId8"/>
    <p:sldId id="509" r:id="rId9"/>
    <p:sldId id="511" r:id="rId10"/>
    <p:sldId id="534" r:id="rId11"/>
    <p:sldId id="514" r:id="rId12"/>
    <p:sldId id="515" r:id="rId13"/>
    <p:sldId id="512" r:id="rId14"/>
    <p:sldId id="500" r:id="rId15"/>
    <p:sldId id="510" r:id="rId16"/>
    <p:sldId id="508" r:id="rId17"/>
    <p:sldId id="521" r:id="rId18"/>
    <p:sldId id="501" r:id="rId19"/>
    <p:sldId id="507" r:id="rId20"/>
    <p:sldId id="522" r:id="rId21"/>
    <p:sldId id="524" r:id="rId22"/>
    <p:sldId id="525" r:id="rId23"/>
    <p:sldId id="538" r:id="rId24"/>
    <p:sldId id="527" r:id="rId25"/>
    <p:sldId id="528" r:id="rId26"/>
    <p:sldId id="503" r:id="rId27"/>
    <p:sldId id="520" r:id="rId28"/>
    <p:sldId id="529" r:id="rId29"/>
    <p:sldId id="535" r:id="rId30"/>
    <p:sldId id="536" r:id="rId31"/>
    <p:sldId id="537" r:id="rId32"/>
    <p:sldId id="532" r:id="rId33"/>
    <p:sldId id="533" r:id="rId34"/>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F357DC-A115-394D-B604-4FA5C1686966}">
          <p14:sldIdLst>
            <p14:sldId id="498"/>
            <p14:sldId id="499"/>
          </p14:sldIdLst>
        </p14:section>
        <p14:section name="Vulnerability Vocabulary" id="{295EFF83-B4E9-4A4D-909D-3CFE59CEFF38}">
          <p14:sldIdLst>
            <p14:sldId id="518"/>
            <p14:sldId id="513"/>
            <p14:sldId id="519"/>
            <p14:sldId id="516"/>
            <p14:sldId id="517"/>
          </p14:sldIdLst>
        </p14:section>
        <p14:section name="The year in summary" id="{EEB55068-BD35-478E-9C50-143CFF9406A7}">
          <p14:sldIdLst>
            <p14:sldId id="509"/>
            <p14:sldId id="511"/>
            <p14:sldId id="534"/>
            <p14:sldId id="514"/>
            <p14:sldId id="515"/>
            <p14:sldId id="512"/>
            <p14:sldId id="500"/>
            <p14:sldId id="510"/>
          </p14:sldIdLst>
        </p14:section>
        <p14:section name=".NET CVEs" id="{7F955752-77D8-4DA3-9D36-C1DEAA74FDC8}">
          <p14:sldIdLst>
            <p14:sldId id="508"/>
            <p14:sldId id="521"/>
            <p14:sldId id="501"/>
            <p14:sldId id="507"/>
            <p14:sldId id="522"/>
            <p14:sldId id="524"/>
            <p14:sldId id="525"/>
            <p14:sldId id="538"/>
            <p14:sldId id="527"/>
            <p14:sldId id="528"/>
            <p14:sldId id="503"/>
            <p14:sldId id="520"/>
          </p14:sldIdLst>
        </p14:section>
        <p14:section name="ASP.NET Core Vulnerabilities" id="{0D16B11C-7800-4AEB-99DC-F18148D52F80}">
          <p14:sldIdLst>
            <p14:sldId id="529"/>
            <p14:sldId id="535"/>
            <p14:sldId id="536"/>
            <p14:sldId id="537"/>
          </p14:sldIdLst>
        </p14:section>
        <p14:section name="Concluding" id="{8CDE2638-A0B4-4451-80A4-3A706EC23A79}">
          <p14:sldIdLst>
            <p14:sldId id="532"/>
            <p14:sldId id="5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B3FA"/>
    <a:srgbClr val="3D8AFF"/>
    <a:srgbClr val="C1BCF3"/>
    <a:srgbClr val="1E0756"/>
    <a:srgbClr val="0657B2"/>
    <a:srgbClr val="EEEAFA"/>
    <a:srgbClr val="1F1E32"/>
    <a:srgbClr val="F4B1C9"/>
    <a:srgbClr val="EF99DD"/>
    <a:srgbClr val="D60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04C3E3-2615-42E2-A7B9-D89B24FCB737}" v="37" dt="2025-11-12T03:16:16.9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33" autoAdjust="0"/>
    <p:restoredTop sz="78565" autoAdjust="0"/>
  </p:normalViewPr>
  <p:slideViewPr>
    <p:cSldViewPr snapToGrid="0">
      <p:cViewPr varScale="1">
        <p:scale>
          <a:sx n="40" d="100"/>
          <a:sy n="40" d="100"/>
        </p:scale>
        <p:origin x="1512"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Count</c:v>
                </c:pt>
              </c:strCache>
            </c:strRef>
          </c:tx>
          <c:spPr>
            <a:ln>
              <a:solidFill>
                <a:schemeClr val="tx1"/>
              </a:solidFill>
            </a:ln>
          </c:spPr>
          <c:dPt>
            <c:idx val="0"/>
            <c:bubble3D val="0"/>
            <c:spPr>
              <a:solidFill>
                <a:schemeClr val="accent1"/>
              </a:solidFill>
              <a:ln w="19050">
                <a:solidFill>
                  <a:schemeClr val="tx1"/>
                </a:solidFill>
              </a:ln>
              <a:effectLst/>
            </c:spPr>
            <c:extLst>
              <c:ext xmlns:c16="http://schemas.microsoft.com/office/drawing/2014/chart" uri="{C3380CC4-5D6E-409C-BE32-E72D297353CC}">
                <c16:uniqueId val="{00000001-5604-4909-B2D7-1870DCD8AACF}"/>
              </c:ext>
            </c:extLst>
          </c:dPt>
          <c:dPt>
            <c:idx val="1"/>
            <c:bubble3D val="0"/>
            <c:spPr>
              <a:solidFill>
                <a:schemeClr val="accent2"/>
              </a:solidFill>
              <a:ln w="19050">
                <a:solidFill>
                  <a:schemeClr val="tx1"/>
                </a:solidFill>
              </a:ln>
              <a:effectLst/>
            </c:spPr>
            <c:extLst>
              <c:ext xmlns:c16="http://schemas.microsoft.com/office/drawing/2014/chart" uri="{C3380CC4-5D6E-409C-BE32-E72D297353CC}">
                <c16:uniqueId val="{00000003-5604-4909-B2D7-1870DCD8AACF}"/>
              </c:ext>
            </c:extLst>
          </c:dPt>
          <c:dPt>
            <c:idx val="2"/>
            <c:bubble3D val="0"/>
            <c:spPr>
              <a:solidFill>
                <a:schemeClr val="accent3"/>
              </a:solidFill>
              <a:ln w="19050">
                <a:solidFill>
                  <a:schemeClr val="tx1"/>
                </a:solidFill>
              </a:ln>
              <a:effectLst/>
            </c:spPr>
            <c:extLst>
              <c:ext xmlns:c16="http://schemas.microsoft.com/office/drawing/2014/chart" uri="{C3380CC4-5D6E-409C-BE32-E72D297353CC}">
                <c16:uniqueId val="{00000005-5604-4909-B2D7-1870DCD8AACF}"/>
              </c:ext>
            </c:extLst>
          </c:dPt>
          <c:dPt>
            <c:idx val="3"/>
            <c:bubble3D val="0"/>
            <c:spPr>
              <a:solidFill>
                <a:schemeClr val="accent4"/>
              </a:solidFill>
              <a:ln w="19050">
                <a:solidFill>
                  <a:schemeClr val="tx1"/>
                </a:solidFill>
              </a:ln>
              <a:effectLst/>
            </c:spPr>
            <c:extLst>
              <c:ext xmlns:c16="http://schemas.microsoft.com/office/drawing/2014/chart" uri="{C3380CC4-5D6E-409C-BE32-E72D297353CC}">
                <c16:uniqueId val="{00000007-5604-4909-B2D7-1870DCD8AACF}"/>
              </c:ext>
            </c:extLst>
          </c:dPt>
          <c:dPt>
            <c:idx val="4"/>
            <c:bubble3D val="0"/>
            <c:spPr>
              <a:solidFill>
                <a:schemeClr val="accent5"/>
              </a:solidFill>
              <a:ln w="19050">
                <a:solidFill>
                  <a:schemeClr val="tx1"/>
                </a:solidFill>
              </a:ln>
              <a:effectLst/>
            </c:spPr>
            <c:extLst>
              <c:ext xmlns:c16="http://schemas.microsoft.com/office/drawing/2014/chart" uri="{C3380CC4-5D6E-409C-BE32-E72D297353CC}">
                <c16:uniqueId val="{00000009-38ED-4C6C-A974-524907841AFE}"/>
              </c:ext>
            </c:extLst>
          </c:dPt>
          <c:dPt>
            <c:idx val="5"/>
            <c:bubble3D val="0"/>
            <c:spPr>
              <a:solidFill>
                <a:schemeClr val="accent6"/>
              </a:solidFill>
              <a:ln w="19050">
                <a:solidFill>
                  <a:schemeClr val="tx1"/>
                </a:solidFill>
              </a:ln>
              <a:effectLst/>
            </c:spPr>
            <c:extLst>
              <c:ext xmlns:c16="http://schemas.microsoft.com/office/drawing/2014/chart" uri="{C3380CC4-5D6E-409C-BE32-E72D297353CC}">
                <c16:uniqueId val="{0000000B-38ED-4C6C-A974-524907841AFE}"/>
              </c:ext>
            </c:extLst>
          </c:dPt>
          <c:cat>
            <c:strRef>
              <c:f>Sheet1!$A$2:$A$7</c:f>
              <c:strCache>
                <c:ptCount val="6"/>
                <c:pt idx="0">
                  <c:v>Denial-of-Service (2)</c:v>
                </c:pt>
                <c:pt idx="1">
                  <c:v>Elevation of Privilege (3)</c:v>
                </c:pt>
                <c:pt idx="2">
                  <c:v>Information Disclosure (1)</c:v>
                </c:pt>
                <c:pt idx="3">
                  <c:v>Remote Code Execution (4)</c:v>
                </c:pt>
                <c:pt idx="4">
                  <c:v>Security Feature Bypass (1)</c:v>
                </c:pt>
                <c:pt idx="5">
                  <c:v>Spoofing (1)</c:v>
                </c:pt>
              </c:strCache>
            </c:strRef>
          </c:cat>
          <c:val>
            <c:numRef>
              <c:f>Sheet1!$B$2:$B$7</c:f>
              <c:numCache>
                <c:formatCode>General</c:formatCode>
                <c:ptCount val="6"/>
                <c:pt idx="0">
                  <c:v>2</c:v>
                </c:pt>
                <c:pt idx="1">
                  <c:v>3</c:v>
                </c:pt>
                <c:pt idx="2">
                  <c:v>1</c:v>
                </c:pt>
                <c:pt idx="3">
                  <c:v>4</c:v>
                </c:pt>
                <c:pt idx="4">
                  <c:v>1</c:v>
                </c:pt>
                <c:pt idx="5">
                  <c:v>1</c:v>
                </c:pt>
              </c:numCache>
            </c:numRef>
          </c:val>
          <c:extLst>
            <c:ext xmlns:c16="http://schemas.microsoft.com/office/drawing/2014/chart" uri="{C3380CC4-5D6E-409C-BE32-E72D297353CC}">
              <c16:uniqueId val="{00000000-3161-9E4B-913A-7F550DE87AE6}"/>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2200" b="1"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1" i="0">
          <a:latin typeface="Segoe UI Variable Display Semibold"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604-4909-B2D7-1870DCD8AAC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604-4909-B2D7-1870DCD8AAC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604-4909-B2D7-1870DCD8AAC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604-4909-B2D7-1870DCD8AACF}"/>
              </c:ext>
            </c:extLst>
          </c:dPt>
          <c:cat>
            <c:strRef>
              <c:f>Sheet1!$A$2:$A$4</c:f>
              <c:strCache>
                <c:ptCount val="3"/>
                <c:pt idx="0">
                  <c:v>Medium (4.0 - 6.9)</c:v>
                </c:pt>
                <c:pt idx="1">
                  <c:v>High (7.0 - 8.9)</c:v>
                </c:pt>
                <c:pt idx="2">
                  <c:v>Critical (9.0 - 10)</c:v>
                </c:pt>
              </c:strCache>
            </c:strRef>
          </c:cat>
          <c:val>
            <c:numRef>
              <c:f>Sheet1!$B$2:$B$4</c:f>
              <c:numCache>
                <c:formatCode>General</c:formatCode>
                <c:ptCount val="3"/>
                <c:pt idx="0">
                  <c:v>1</c:v>
                </c:pt>
                <c:pt idx="1">
                  <c:v>9</c:v>
                </c:pt>
                <c:pt idx="2">
                  <c:v>2</c:v>
                </c:pt>
              </c:numCache>
            </c:numRef>
          </c:val>
          <c:extLst>
            <c:ext xmlns:c16="http://schemas.microsoft.com/office/drawing/2014/chart" uri="{C3380CC4-5D6E-409C-BE32-E72D297353CC}">
              <c16:uniqueId val="{00000000-3161-9E4B-913A-7F550DE87AE6}"/>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2200" b="1"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1" i="0">
          <a:latin typeface="Segoe UI Variable Display Semibold"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64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earn.microsoft.com/en-us/openspecs/windows_protocols/ms-nrbf/"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40EE-B70A-300B-5FF1-CAE0F0637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6AEDC-885B-4582-3410-8DDA2F63E88B}"/>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990ED1F-97F5-C44E-9A98-CBA6B484E515}"/>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1791206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dirty="0"/>
              <a:t>CVE = Common Vulnerabilities and Exposures</a:t>
            </a:r>
          </a:p>
        </p:txBody>
      </p:sp>
    </p:spTree>
    <p:extLst>
      <p:ext uri="{BB962C8B-B14F-4D97-AF65-F5344CB8AC3E}">
        <p14:creationId xmlns:p14="http://schemas.microsoft.com/office/powerpoint/2010/main" val="4009084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1DCC-00B3-74D3-8733-7BC405D64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4437D-FD86-A6A0-D178-7D5D5B6F5633}"/>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587D3FE-E29E-AAA5-BE67-94D2A49191D7}"/>
              </a:ext>
            </a:extLst>
          </p:cNvPr>
          <p:cNvSpPr>
            <a:spLocks noGrp="1"/>
          </p:cNvSpPr>
          <p:nvPr>
            <p:ph type="body" idx="1"/>
          </p:nvPr>
        </p:nvSpPr>
        <p:spPr>
          <a:xfrm>
            <a:off x="1371600" y="11736388"/>
            <a:ext cx="10972800" cy="9602787"/>
          </a:xfrm>
          <a:prstGeom prst="rect">
            <a:avLst/>
          </a:prstGeom>
        </p:spPr>
        <p:txBody>
          <a:bodyPr/>
          <a:lstStyle/>
          <a:p>
            <a:r>
              <a:rPr lang="en-US" dirty="0"/>
              <a:t>CVSS = Common Vulnerability Scoring System, scored from 0 – 10.</a:t>
            </a:r>
          </a:p>
          <a:p>
            <a:endParaRPr lang="en-US" dirty="0"/>
          </a:p>
          <a:p>
            <a:r>
              <a:rPr lang="en-US" dirty="0"/>
              <a:t>Calculated from</a:t>
            </a:r>
          </a:p>
          <a:p>
            <a:endParaRPr lang="en-US" dirty="0"/>
          </a:p>
          <a:p>
            <a:r>
              <a:rPr lang="en-US" dirty="0"/>
              <a:t>Exploitability metrics: 	Attack Vector: 	(Network, Adjacent network, Local, Physical)</a:t>
            </a:r>
            <a:br>
              <a:rPr lang="en-US" dirty="0"/>
            </a:br>
            <a:r>
              <a:rPr lang="en-US" dirty="0"/>
              <a:t>		Attack Complexity: (Low, Medium High)</a:t>
            </a:r>
            <a:br>
              <a:rPr lang="en-US" dirty="0"/>
            </a:br>
            <a:r>
              <a:rPr lang="en-US" dirty="0"/>
              <a:t>		Privileges required (None, Low, High)</a:t>
            </a:r>
            <a:br>
              <a:rPr lang="en-US" dirty="0"/>
            </a:br>
            <a:r>
              <a:rPr lang="en-US" dirty="0"/>
              <a:t>		User Interaction: (None, Required)</a:t>
            </a:r>
            <a:br>
              <a:rPr lang="en-US" dirty="0"/>
            </a:br>
            <a:r>
              <a:rPr lang="en-US" dirty="0"/>
              <a:t>		Scope: (Unchanged, changed)</a:t>
            </a:r>
          </a:p>
          <a:p>
            <a:r>
              <a:rPr lang="en-US" dirty="0"/>
              <a:t>Impact metrics: 	Confidentiality: (None/Low/High)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Integrity: (None/Low/High)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Availability: (None/Low/High)</a:t>
            </a:r>
          </a:p>
        </p:txBody>
      </p:sp>
    </p:spTree>
    <p:extLst>
      <p:ext uri="{BB962C8B-B14F-4D97-AF65-F5344CB8AC3E}">
        <p14:creationId xmlns:p14="http://schemas.microsoft.com/office/powerpoint/2010/main" val="123054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8A2D-D751-D78C-AF10-D960E3556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9A555-9F43-21D4-1A72-1AEA957B094E}"/>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53CD2C0-8C54-5E2E-83F9-F4D014C486D0}"/>
              </a:ext>
            </a:extLst>
          </p:cNvPr>
          <p:cNvSpPr>
            <a:spLocks noGrp="1"/>
          </p:cNvSpPr>
          <p:nvPr>
            <p:ph type="body" idx="1"/>
          </p:nvPr>
        </p:nvSpPr>
        <p:spPr>
          <a:xfrm>
            <a:off x="1371600" y="11736388"/>
            <a:ext cx="10972800" cy="9602787"/>
          </a:xfrm>
          <a:prstGeom prst="rect">
            <a:avLst/>
          </a:prstGeom>
        </p:spPr>
        <p:txBody>
          <a:bodyPr/>
          <a:lstStyle/>
          <a:p>
            <a:r>
              <a:rPr lang="en-US" dirty="0"/>
              <a:t>CWE = Common Weakness Enumeration</a:t>
            </a:r>
          </a:p>
        </p:txBody>
      </p:sp>
    </p:spTree>
    <p:extLst>
      <p:ext uri="{BB962C8B-B14F-4D97-AF65-F5344CB8AC3E}">
        <p14:creationId xmlns:p14="http://schemas.microsoft.com/office/powerpoint/2010/main" val="4246784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F198D-06CB-1C0D-CD4B-E5C517BAB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9FAFE-7E0A-B61E-9A1E-C79C0A161CD3}"/>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59BF7FA-EE7D-46B4-56FC-77129ABCFBC5}"/>
              </a:ext>
            </a:extLst>
          </p:cNvPr>
          <p:cNvSpPr>
            <a:spLocks noGrp="1"/>
          </p:cNvSpPr>
          <p:nvPr>
            <p:ph type="body" idx="1"/>
          </p:nvPr>
        </p:nvSpPr>
        <p:spPr>
          <a:xfrm>
            <a:off x="1371600" y="11736388"/>
            <a:ext cx="10972800" cy="9602787"/>
          </a:xfrm>
          <a:prstGeom prst="rect">
            <a:avLst/>
          </a:prstGeom>
        </p:spPr>
        <p:txBody>
          <a:bodyPr/>
          <a:lstStyle/>
          <a:p>
            <a:r>
              <a:rPr lang="en-US" dirty="0"/>
              <a:t>CVSS Vector</a:t>
            </a:r>
          </a:p>
          <a:p>
            <a:endParaRPr lang="en-US" dirty="0"/>
          </a:p>
          <a:p>
            <a:r>
              <a:rPr lang="en-US" dirty="0"/>
              <a:t>Version 3.1</a:t>
            </a:r>
          </a:p>
          <a:p>
            <a:endParaRPr lang="en-US" dirty="0"/>
          </a:p>
          <a:p>
            <a:r>
              <a:rPr lang="en-US" dirty="0"/>
              <a:t>Exploitability metrics</a:t>
            </a:r>
          </a:p>
          <a:p>
            <a:endParaRPr lang="en-US" dirty="0"/>
          </a:p>
          <a:p>
            <a:r>
              <a:rPr lang="en-US" dirty="0"/>
              <a:t>AV: N – Attack Vector = Network</a:t>
            </a:r>
          </a:p>
          <a:p>
            <a:r>
              <a:rPr lang="en-US" dirty="0"/>
              <a:t>AC: L – Attack Complexity = Low</a:t>
            </a:r>
          </a:p>
          <a:p>
            <a:r>
              <a:rPr lang="en-US" dirty="0"/>
              <a:t>PR: N – Privileges Required = None</a:t>
            </a:r>
          </a:p>
          <a:p>
            <a:r>
              <a:rPr lang="en-US" dirty="0"/>
              <a:t>UI: N – User Interaction = None</a:t>
            </a:r>
          </a:p>
          <a:p>
            <a:r>
              <a:rPr lang="en-US" dirty="0"/>
              <a:t>S: U – Scope = Unchanged</a:t>
            </a:r>
          </a:p>
          <a:p>
            <a:endParaRPr lang="en-US" dirty="0"/>
          </a:p>
          <a:p>
            <a:r>
              <a:rPr lang="en-US" dirty="0"/>
              <a:t>Impact metrics</a:t>
            </a:r>
          </a:p>
          <a:p>
            <a:endParaRPr lang="en-US" dirty="0"/>
          </a:p>
          <a:p>
            <a:r>
              <a:rPr lang="en-US" dirty="0"/>
              <a:t>C: N – Confidentiality = None</a:t>
            </a:r>
          </a:p>
          <a:p>
            <a:r>
              <a:rPr lang="en-US" dirty="0"/>
              <a:t>I: M – Integrity = None</a:t>
            </a:r>
          </a:p>
          <a:p>
            <a:r>
              <a:rPr lang="en-US" dirty="0"/>
              <a:t>A: H – Availability = High</a:t>
            </a:r>
          </a:p>
          <a:p>
            <a:endParaRPr lang="en-US" dirty="0"/>
          </a:p>
        </p:txBody>
      </p:sp>
    </p:spTree>
    <p:extLst>
      <p:ext uri="{BB962C8B-B14F-4D97-AF65-F5344CB8AC3E}">
        <p14:creationId xmlns:p14="http://schemas.microsoft.com/office/powerpoint/2010/main" val="3390830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20C50-43C6-C6FD-75EA-EB20105AF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17F15-7AED-166D-7ED5-41CF2FB927C1}"/>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5D3AEC3-BEE1-C556-B450-AFEBC5DE0998}"/>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3283314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B6709-A6A7-CC0A-1F8F-CAC39F0F3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39A58-0497-9CCA-B020-6AB99D00260E}"/>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C570E00-AED5-56FB-38B6-E5F0B7896102}"/>
              </a:ext>
            </a:extLst>
          </p:cNvPr>
          <p:cNvSpPr>
            <a:spLocks noGrp="1"/>
          </p:cNvSpPr>
          <p:nvPr>
            <p:ph type="body" idx="1"/>
          </p:nvPr>
        </p:nvSpPr>
        <p:spPr>
          <a:xfrm>
            <a:off x="1371600" y="11736388"/>
            <a:ext cx="10972800" cy="9602787"/>
          </a:xfrm>
          <a:prstGeom prst="rect">
            <a:avLst/>
          </a:prstGeom>
        </p:spPr>
        <p:txBody>
          <a:bodyPr/>
          <a:lstStyle/>
          <a:p>
            <a:r>
              <a:rPr lang="en-US" dirty="0"/>
              <a:t>Highest bounty payout - $65k</a:t>
            </a:r>
            <a:br>
              <a:rPr lang="en-US" dirty="0"/>
            </a:br>
            <a:r>
              <a:rPr lang="en-US" dirty="0"/>
              <a:t>Lowest - $3k (docs issue)</a:t>
            </a:r>
            <a:br>
              <a:rPr lang="en-US" dirty="0"/>
            </a:br>
            <a:endParaRPr lang="en-US" dirty="0"/>
          </a:p>
        </p:txBody>
      </p:sp>
    </p:spTree>
    <p:extLst>
      <p:ext uri="{BB962C8B-B14F-4D97-AF65-F5344CB8AC3E}">
        <p14:creationId xmlns:p14="http://schemas.microsoft.com/office/powerpoint/2010/main" val="1999208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dirty="0"/>
              <a:t>We issue CVEs when you must act (patching usually).</a:t>
            </a:r>
          </a:p>
          <a:p>
            <a:endParaRPr lang="en-US" dirty="0"/>
          </a:p>
          <a:p>
            <a:r>
              <a:rPr lang="en-US" dirty="0"/>
              <a:t>Docs issues and sample code issues don’t get CVEs because we take the action of updating the docs or the samples.</a:t>
            </a:r>
          </a:p>
          <a:p>
            <a:endParaRPr lang="en-US" dirty="0"/>
          </a:p>
          <a:p>
            <a:r>
              <a:rPr lang="en-US" dirty="0"/>
              <a:t>Some things are just normal bugs, not security bugs. Some things get rated low, which become “fix in next version” bugs.</a:t>
            </a:r>
          </a:p>
          <a:p>
            <a:endParaRPr lang="en-US" dirty="0"/>
          </a:p>
          <a:p>
            <a:endParaRPr lang="en-US" dirty="0"/>
          </a:p>
        </p:txBody>
      </p:sp>
    </p:spTree>
    <p:extLst>
      <p:ext uri="{BB962C8B-B14F-4D97-AF65-F5344CB8AC3E}">
        <p14:creationId xmlns:p14="http://schemas.microsoft.com/office/powerpoint/2010/main" val="4212240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0089E-D0BB-AACF-3A41-948070936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C06A1-BF60-A84F-49C8-C83B47120CAB}"/>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C893E7D-764A-ABEA-720A-5EAAC31179CF}"/>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571616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D05B-E54A-2E16-A83E-0C909EE1A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6AED7-C810-3D14-16EB-3141BBB7409A}"/>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9AF5BDB-0185-3A0E-C458-3D6D86E55994}"/>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272658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CC4A9-F233-9CD6-219A-4EA7E2691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A9AD9-58C4-D0C2-5B4E-A8879A61F0FD}"/>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83F0330-3492-96BD-A9E1-CCBED62032AA}"/>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2900192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200" b="0" i="0" u="none" strike="noStrike" kern="1200" dirty="0">
                <a:solidFill>
                  <a:schemeClr val="tx1"/>
                </a:solidFill>
                <a:effectLst/>
                <a:latin typeface="+mn-lt"/>
                <a:ea typeface="+mn-ea"/>
                <a:cs typeface="+mn-cs"/>
              </a:rPr>
              <a:t>RCE</a:t>
            </a:r>
            <a:r>
              <a:rPr lang="en-US" dirty="0">
                <a:effectLst/>
              </a:rPr>
              <a:t> 		</a:t>
            </a:r>
            <a:r>
              <a:rPr lang="en-US" sz="1200" b="0" i="0" u="none" strike="noStrike" kern="1200" dirty="0">
                <a:solidFill>
                  <a:schemeClr val="tx1"/>
                </a:solidFill>
                <a:effectLst/>
                <a:latin typeface="+mn-lt"/>
                <a:ea typeface="+mn-ea"/>
                <a:cs typeface="+mn-cs"/>
              </a:rPr>
              <a:t>4</a:t>
            </a:r>
            <a:r>
              <a:rPr lang="en-US" dirty="0">
                <a:effectLst/>
              </a:rPr>
              <a:t> </a:t>
            </a:r>
          </a:p>
          <a:p>
            <a:r>
              <a:rPr lang="en-US" sz="1200" b="0" i="0" u="none" strike="noStrike" kern="1200" dirty="0">
                <a:solidFill>
                  <a:schemeClr val="tx1"/>
                </a:solidFill>
                <a:effectLst/>
                <a:latin typeface="+mn-lt"/>
                <a:ea typeface="+mn-ea"/>
                <a:cs typeface="+mn-cs"/>
              </a:rPr>
              <a:t>DoS</a:t>
            </a:r>
            <a:r>
              <a:rPr lang="en-US" dirty="0">
                <a:effectLst/>
              </a:rPr>
              <a:t> 		</a:t>
            </a:r>
            <a:r>
              <a:rPr lang="en-US" sz="1200" b="0" i="0" u="none" strike="noStrike" kern="1200" dirty="0">
                <a:solidFill>
                  <a:schemeClr val="tx1"/>
                </a:solidFill>
                <a:effectLst/>
                <a:latin typeface="+mn-lt"/>
                <a:ea typeface="+mn-ea"/>
                <a:cs typeface="+mn-cs"/>
              </a:rPr>
              <a:t>2</a:t>
            </a:r>
            <a:r>
              <a:rPr lang="en-US" dirty="0">
                <a:effectLst/>
              </a:rPr>
              <a:t> </a:t>
            </a:r>
          </a:p>
          <a:p>
            <a:r>
              <a:rPr lang="en-US" sz="1200" b="0" i="0" u="none" strike="noStrike" kern="1200" dirty="0">
                <a:solidFill>
                  <a:schemeClr val="tx1"/>
                </a:solidFill>
                <a:effectLst/>
                <a:latin typeface="+mn-lt"/>
                <a:ea typeface="+mn-ea"/>
                <a:cs typeface="+mn-cs"/>
              </a:rPr>
              <a:t>Spoofing</a:t>
            </a:r>
            <a:r>
              <a:rPr lang="en-US" dirty="0">
                <a:effectLst/>
              </a:rPr>
              <a:t> 		</a:t>
            </a:r>
            <a:r>
              <a:rPr lang="en-US" sz="1200" b="0" i="0" u="none" strike="noStrike" kern="1200" dirty="0">
                <a:solidFill>
                  <a:schemeClr val="tx1"/>
                </a:solidFill>
                <a:effectLst/>
                <a:latin typeface="+mn-lt"/>
                <a:ea typeface="+mn-ea"/>
                <a:cs typeface="+mn-cs"/>
              </a:rPr>
              <a:t>1</a:t>
            </a:r>
            <a:r>
              <a:rPr lang="en-US" dirty="0">
                <a:effectLst/>
              </a:rPr>
              <a:t> </a:t>
            </a:r>
          </a:p>
          <a:p>
            <a:r>
              <a:rPr lang="en-US" sz="1200" b="0" i="0" u="none" strike="noStrike" kern="1200" dirty="0" err="1">
                <a:solidFill>
                  <a:schemeClr val="tx1"/>
                </a:solidFill>
                <a:effectLst/>
                <a:latin typeface="+mn-lt"/>
                <a:ea typeface="+mn-ea"/>
                <a:cs typeface="+mn-cs"/>
              </a:rPr>
              <a:t>EoP</a:t>
            </a:r>
            <a:r>
              <a:rPr lang="en-US" dirty="0">
                <a:effectLst/>
              </a:rPr>
              <a:t> 		</a:t>
            </a:r>
            <a:r>
              <a:rPr lang="en-US" sz="1200" b="0" i="0" u="none" strike="noStrike" kern="1200" dirty="0">
                <a:solidFill>
                  <a:schemeClr val="tx1"/>
                </a:solidFill>
                <a:effectLst/>
                <a:latin typeface="+mn-lt"/>
                <a:ea typeface="+mn-ea"/>
                <a:cs typeface="+mn-cs"/>
              </a:rPr>
              <a:t>3</a:t>
            </a:r>
            <a:r>
              <a:rPr lang="en-US" dirty="0">
                <a:effectLst/>
              </a:rPr>
              <a:t> </a:t>
            </a:r>
          </a:p>
          <a:p>
            <a:r>
              <a:rPr lang="en-US" sz="1200" b="0" i="0" u="none" strike="noStrike" kern="1200" dirty="0">
                <a:solidFill>
                  <a:schemeClr val="tx1"/>
                </a:solidFill>
                <a:effectLst/>
                <a:latin typeface="+mn-lt"/>
                <a:ea typeface="+mn-ea"/>
                <a:cs typeface="+mn-cs"/>
              </a:rPr>
              <a:t>Security Feature Bypass</a:t>
            </a:r>
            <a:r>
              <a:rPr lang="en-US" dirty="0">
                <a:effectLst/>
              </a:rPr>
              <a:t> 	</a:t>
            </a:r>
            <a:r>
              <a:rPr lang="en-US" sz="1200" b="0" i="0" u="none" strike="noStrike" kern="1200" dirty="0">
                <a:solidFill>
                  <a:schemeClr val="tx1"/>
                </a:solidFill>
                <a:effectLst/>
                <a:latin typeface="+mn-lt"/>
                <a:ea typeface="+mn-ea"/>
                <a:cs typeface="+mn-cs"/>
              </a:rPr>
              <a:t>1</a:t>
            </a:r>
            <a:r>
              <a:rPr lang="en-US" dirty="0">
                <a:effectLst/>
              </a:rPr>
              <a:t> </a:t>
            </a:r>
          </a:p>
          <a:p>
            <a:r>
              <a:rPr lang="en-US" sz="1200" b="0" i="0" u="none" strike="noStrike" kern="1200" dirty="0">
                <a:solidFill>
                  <a:schemeClr val="tx1"/>
                </a:solidFill>
                <a:effectLst/>
                <a:latin typeface="+mn-lt"/>
                <a:ea typeface="+mn-ea"/>
                <a:cs typeface="+mn-cs"/>
              </a:rPr>
              <a:t>Information Disclosure</a:t>
            </a:r>
            <a:r>
              <a:rPr lang="en-US" dirty="0">
                <a:effectLst/>
              </a:rPr>
              <a:t> 	</a:t>
            </a:r>
            <a:r>
              <a:rPr lang="en-US" sz="1200" b="0" i="0" u="none" strike="noStrike" kern="1200" dirty="0">
                <a:solidFill>
                  <a:schemeClr val="tx1"/>
                </a:solidFill>
                <a:effectLst/>
                <a:latin typeface="+mn-lt"/>
                <a:ea typeface="+mn-ea"/>
                <a:cs typeface="+mn-cs"/>
              </a:rPr>
              <a:t>1</a:t>
            </a:r>
            <a:r>
              <a:rPr lang="en-US" dirty="0">
                <a:effectLst/>
              </a:rPr>
              <a:t> </a:t>
            </a:r>
            <a:endParaRPr lang="en-US" dirty="0"/>
          </a:p>
        </p:txBody>
      </p:sp>
    </p:spTree>
    <p:extLst>
      <p:ext uri="{BB962C8B-B14F-4D97-AF65-F5344CB8AC3E}">
        <p14:creationId xmlns:p14="http://schemas.microsoft.com/office/powerpoint/2010/main" val="2616534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200" b="0" i="0" u="none" strike="noStrike" kern="1200" dirty="0">
                <a:solidFill>
                  <a:schemeClr val="tx1"/>
                </a:solidFill>
                <a:effectLst/>
                <a:latin typeface="+mn-lt"/>
                <a:ea typeface="+mn-ea"/>
                <a:cs typeface="+mn-cs"/>
              </a:rPr>
              <a:t>Medium (4.0 - 6.9)</a:t>
            </a:r>
            <a:r>
              <a:rPr lang="en-US" dirty="0">
                <a:effectLst/>
              </a:rPr>
              <a:t> 	</a:t>
            </a:r>
            <a:r>
              <a:rPr lang="en-US" sz="1200" b="0" i="0" u="none" strike="noStrike" kern="1200" dirty="0">
                <a:solidFill>
                  <a:schemeClr val="tx1"/>
                </a:solidFill>
                <a:effectLst/>
                <a:latin typeface="+mn-lt"/>
                <a:ea typeface="+mn-ea"/>
                <a:cs typeface="+mn-cs"/>
              </a:rPr>
              <a:t>1</a:t>
            </a:r>
            <a:r>
              <a:rPr lang="en-US" dirty="0">
                <a:effectLst/>
              </a:rPr>
              <a:t> </a:t>
            </a:r>
          </a:p>
          <a:p>
            <a:r>
              <a:rPr lang="en-US" sz="1200" b="0" i="0" u="none" strike="noStrike" kern="1200" dirty="0">
                <a:solidFill>
                  <a:schemeClr val="tx1"/>
                </a:solidFill>
                <a:effectLst/>
                <a:latin typeface="+mn-lt"/>
                <a:ea typeface="+mn-ea"/>
                <a:cs typeface="+mn-cs"/>
              </a:rPr>
              <a:t>High (7.0 - 8.9)</a:t>
            </a:r>
            <a:r>
              <a:rPr lang="en-US" dirty="0">
                <a:effectLst/>
              </a:rPr>
              <a:t> 	</a:t>
            </a:r>
            <a:r>
              <a:rPr lang="en-US" sz="1200" b="0" i="0" u="none" strike="noStrike" kern="1200" dirty="0">
                <a:solidFill>
                  <a:schemeClr val="tx1"/>
                </a:solidFill>
                <a:effectLst/>
                <a:latin typeface="+mn-lt"/>
                <a:ea typeface="+mn-ea"/>
                <a:cs typeface="+mn-cs"/>
              </a:rPr>
              <a:t>9</a:t>
            </a:r>
            <a:r>
              <a:rPr lang="en-US" dirty="0">
                <a:effectLst/>
              </a:rPr>
              <a:t> </a:t>
            </a:r>
          </a:p>
          <a:p>
            <a:r>
              <a:rPr lang="en-US" sz="1200" b="0" i="0" u="none" strike="noStrike" kern="1200" dirty="0">
                <a:solidFill>
                  <a:schemeClr val="tx1"/>
                </a:solidFill>
                <a:effectLst/>
                <a:latin typeface="+mn-lt"/>
                <a:ea typeface="+mn-ea"/>
                <a:cs typeface="+mn-cs"/>
              </a:rPr>
              <a:t>Critical (9.0 - 10)</a:t>
            </a:r>
            <a:r>
              <a:rPr lang="en-US" dirty="0">
                <a:effectLst/>
              </a:rPr>
              <a:t> 	</a:t>
            </a:r>
            <a:r>
              <a:rPr lang="en-US" sz="1200" b="0" i="0" u="none" strike="noStrike" kern="1200" dirty="0">
                <a:solidFill>
                  <a:schemeClr val="tx1"/>
                </a:solidFill>
                <a:effectLst/>
                <a:latin typeface="+mn-lt"/>
                <a:ea typeface="+mn-ea"/>
                <a:cs typeface="+mn-cs"/>
              </a:rPr>
              <a:t>2</a:t>
            </a:r>
            <a:r>
              <a:rPr lang="en-US" dirty="0">
                <a:effectLst/>
              </a:rPr>
              <a:t> </a:t>
            </a:r>
            <a:endParaRPr lang="en-US" dirty="0"/>
          </a:p>
        </p:txBody>
      </p:sp>
    </p:spTree>
    <p:extLst>
      <p:ext uri="{BB962C8B-B14F-4D97-AF65-F5344CB8AC3E}">
        <p14:creationId xmlns:p14="http://schemas.microsoft.com/office/powerpoint/2010/main" val="2643637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C664-4A7D-31CD-4D97-7066B09AB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8BE6F-B0D5-306E-F49B-B691D4940516}"/>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A53FA32-6829-3617-7C80-C9A3C809B459}"/>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198903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F7FED-4EC5-A00C-8FD0-BC07A44FE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A4A1C-7436-4E01-4F75-5DCC7F90F195}"/>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37A0450-9FFF-AB82-FB6D-A29632813D78}"/>
              </a:ext>
            </a:extLst>
          </p:cNvPr>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964602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CA123-8EDB-B957-3E89-178DB776D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B2C4C-A8FF-2DFB-DBE5-8C35D69C9B6A}"/>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03AC299-2774-ABFA-CA07-757B00E3EB91}"/>
              </a:ext>
            </a:extLst>
          </p:cNvPr>
          <p:cNvSpPr>
            <a:spLocks noGrp="1"/>
          </p:cNvSpPr>
          <p:nvPr>
            <p:ph type="body" idx="1"/>
          </p:nvPr>
        </p:nvSpPr>
        <p:spPr>
          <a:xfrm>
            <a:off x="1371600" y="11736388"/>
            <a:ext cx="10972800" cy="9602787"/>
          </a:xfrm>
          <a:prstGeom prst="rect">
            <a:avLst/>
          </a:prstGeom>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EHLO</a:t>
            </a:r>
            <a:r>
              <a:rPr lang="en-US" sz="1200" b="0" i="0" kern="1200" dirty="0">
                <a:solidFill>
                  <a:schemeClr val="tx1"/>
                </a:solidFill>
                <a:effectLst/>
                <a:latin typeface="+mn-lt"/>
                <a:ea typeface="+mn-ea"/>
                <a:cs typeface="+mn-cs"/>
              </a:rPr>
              <a:t> (extended hello) command is an extension of </a:t>
            </a:r>
            <a:r>
              <a:rPr lang="en-US" sz="1200" b="1" i="0" kern="1200" dirty="0">
                <a:solidFill>
                  <a:schemeClr val="tx1"/>
                </a:solidFill>
                <a:effectLst/>
                <a:latin typeface="+mn-lt"/>
                <a:ea typeface="+mn-ea"/>
                <a:cs typeface="+mn-cs"/>
              </a:rPr>
              <a:t>HELO</a:t>
            </a:r>
            <a:r>
              <a:rPr lang="en-US" sz="1200" b="0" i="0" kern="1200" dirty="0">
                <a:solidFill>
                  <a:schemeClr val="tx1"/>
                </a:solidFill>
                <a:effectLst/>
                <a:latin typeface="+mn-lt"/>
                <a:ea typeface="+mn-ea"/>
                <a:cs typeface="+mn-cs"/>
              </a:rPr>
              <a:t> introduced in the Extended SMTP (ESMTP) protocol, defined in RFC 5321. It is used to identify the client and to inform the server that the client supports ESMTP. The server responds with a list of supported ESMTP features, which includes STARTTLS.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 server doesn’t support </a:t>
            </a:r>
            <a:r>
              <a:rPr lang="en-US" sz="1200" b="1" i="0" kern="1200" dirty="0">
                <a:solidFill>
                  <a:schemeClr val="tx1"/>
                </a:solidFill>
                <a:effectLst/>
                <a:latin typeface="+mn-lt"/>
                <a:ea typeface="+mn-ea"/>
                <a:cs typeface="+mn-cs"/>
              </a:rPr>
              <a:t>EHLO</a:t>
            </a:r>
            <a:r>
              <a:rPr lang="en-US" sz="1200" b="0" i="0" kern="1200" dirty="0">
                <a:solidFill>
                  <a:schemeClr val="tx1"/>
                </a:solidFill>
                <a:effectLst/>
                <a:latin typeface="+mn-lt"/>
                <a:ea typeface="+mn-ea"/>
                <a:cs typeface="+mn-cs"/>
              </a:rPr>
              <a:t> it falls back to </a:t>
            </a:r>
            <a:r>
              <a:rPr lang="en-US" sz="1200" b="1" i="0" kern="1200" dirty="0">
                <a:solidFill>
                  <a:schemeClr val="tx1"/>
                </a:solidFill>
                <a:effectLst/>
                <a:latin typeface="+mn-lt"/>
                <a:ea typeface="+mn-ea"/>
                <a:cs typeface="+mn-cs"/>
              </a:rPr>
              <a:t>HELO</a:t>
            </a:r>
            <a:r>
              <a:rPr lang="en-US" sz="1200" b="0" i="0" kern="1200" dirty="0">
                <a:solidFill>
                  <a:schemeClr val="tx1"/>
                </a:solidFill>
                <a:effectLst/>
                <a:latin typeface="+mn-lt"/>
                <a:ea typeface="+mn-ea"/>
                <a:cs typeface="+mn-cs"/>
              </a:rPr>
              <a:t>, which does not support TLS</a:t>
            </a:r>
            <a:endParaRPr lang="en-US" sz="1200" b="1"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680402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C124-C151-D313-D72F-762105441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81F41-1909-C677-0D02-0B98111569BA}"/>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86601AC-4666-459E-79B1-E43584356DF4}"/>
              </a:ext>
            </a:extLst>
          </p:cNvPr>
          <p:cNvSpPr>
            <a:spLocks noGrp="1"/>
          </p:cNvSpPr>
          <p:nvPr>
            <p:ph type="body" idx="1"/>
          </p:nvPr>
        </p:nvSpPr>
        <p:spPr>
          <a:xfrm>
            <a:off x="1371600" y="11736388"/>
            <a:ext cx="10972800" cy="9602787"/>
          </a:xfrm>
          <a:prstGeom prst="rect">
            <a:avLst/>
          </a:prstGeom>
        </p:spPr>
        <p:txBody>
          <a:bodyPr/>
          <a:lstStyle/>
          <a:p>
            <a:r>
              <a:rPr lang="en-US" dirty="0"/>
              <a:t>Search your own code for </a:t>
            </a:r>
            <a:r>
              <a:rPr lang="en-US" dirty="0" err="1"/>
              <a:t>File.GetTempPath</a:t>
            </a:r>
            <a:r>
              <a:rPr lang="en-US" dirty="0"/>
              <a:t>() and replace it with </a:t>
            </a:r>
            <a:r>
              <a:rPr lang="en-US" dirty="0" err="1"/>
              <a:t>Directory.CreateTempSubdirectory</a:t>
            </a:r>
            <a:r>
              <a:rPr lang="en-US" dirty="0"/>
              <a:t>().</a:t>
            </a:r>
          </a:p>
        </p:txBody>
      </p:sp>
    </p:spTree>
    <p:extLst>
      <p:ext uri="{BB962C8B-B14F-4D97-AF65-F5344CB8AC3E}">
        <p14:creationId xmlns:p14="http://schemas.microsoft.com/office/powerpoint/2010/main" val="1345222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A23A7-DBC3-54F0-631E-6DD65F4E9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F0241-B7E1-E806-D865-EB7B5FD2D5B7}"/>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0DA102A-E776-C4E6-D05F-3827C76D8E10}"/>
              </a:ext>
            </a:extLst>
          </p:cNvPr>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4689100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5D636-EB03-75A6-9401-A75E96C5E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46435-E7F3-4C2A-18E4-D612D134FF40}"/>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B43FC98-886A-C9BE-E614-1E200FB19482}"/>
              </a:ext>
            </a:extLst>
          </p:cNvPr>
          <p:cNvSpPr>
            <a:spLocks noGrp="1"/>
          </p:cNvSpPr>
          <p:nvPr>
            <p:ph type="body" idx="1"/>
          </p:nvPr>
        </p:nvSpPr>
        <p:spPr>
          <a:xfrm>
            <a:off x="1371600" y="11736388"/>
            <a:ext cx="10972800" cy="9602787"/>
          </a:xfrm>
          <a:prstGeom prst="rect">
            <a:avLst/>
          </a:prstGeom>
        </p:spPr>
        <p:txBody>
          <a:bodyPr/>
          <a:lstStyle/>
          <a:p>
            <a:r>
              <a:rPr lang="en-US" dirty="0"/>
              <a:t>Treat responses from to any http request as untrusted. Don’t allow responses to specify things like filenames. The Context-Disposition header can even include paths, which is even more dangerous.</a:t>
            </a:r>
          </a:p>
        </p:txBody>
      </p:sp>
    </p:spTree>
    <p:extLst>
      <p:ext uri="{BB962C8B-B14F-4D97-AF65-F5344CB8AC3E}">
        <p14:creationId xmlns:p14="http://schemas.microsoft.com/office/powerpoint/2010/main" val="816001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B861-7903-3012-85F2-78F134D92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A8B26-7BE0-6C18-1C9B-01976FA00F74}"/>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977C0A8-9141-0262-F60D-9A4EBFEF001A}"/>
              </a:ext>
            </a:extLst>
          </p:cNvPr>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107084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EAF0C-B1DD-ABA7-E586-5D4B6E887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CBA82-0FDC-A662-9F26-DD3FD73EA73F}"/>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D5EF2CD-8823-C7C4-4E46-3C92B532DA44}"/>
              </a:ext>
            </a:extLst>
          </p:cNvPr>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489602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2EE38-0149-4263-F9A8-B5486180D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47B6A-A760-9D3D-244C-BE9BFDBC7DE4}"/>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655AB28-D87D-D2F7-D955-7B06671C23DF}"/>
              </a:ext>
            </a:extLst>
          </p:cNvPr>
          <p:cNvSpPr>
            <a:spLocks noGrp="1"/>
          </p:cNvSpPr>
          <p:nvPr>
            <p:ph type="body" idx="1"/>
          </p:nvPr>
        </p:nvSpPr>
        <p:spPr>
          <a:xfrm>
            <a:off x="1371600" y="11736388"/>
            <a:ext cx="10972800" cy="9602787"/>
          </a:xfrm>
          <a:prstGeom prst="rect">
            <a:avLst/>
          </a:prstGeom>
        </p:spPr>
        <p:txBody>
          <a:bodyPr/>
          <a:lstStyle/>
          <a:p>
            <a:r>
              <a:rPr lang="en-US" dirty="0"/>
              <a:t>Check your </a:t>
            </a:r>
            <a:r>
              <a:rPr lang="en-US" dirty="0" err="1"/>
              <a:t>maths</a:t>
            </a:r>
            <a:r>
              <a:rPr lang="en-US" dirty="0"/>
              <a:t>. Fuzz your APIs. Stop using Unsafe code.</a:t>
            </a:r>
          </a:p>
        </p:txBody>
      </p:sp>
    </p:spTree>
    <p:extLst>
      <p:ext uri="{BB962C8B-B14F-4D97-AF65-F5344CB8AC3E}">
        <p14:creationId xmlns:p14="http://schemas.microsoft.com/office/powerpoint/2010/main" val="3730367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dirty="0"/>
              <a:t>NBRF stands for </a:t>
            </a:r>
            <a:r>
              <a:rPr lang="en-US" sz="1200" b="0" i="0" u="none" strike="noStrike" kern="1200" dirty="0">
                <a:solidFill>
                  <a:schemeClr val="tx1"/>
                </a:solidFill>
                <a:effectLst/>
                <a:latin typeface="+mn-lt"/>
                <a:ea typeface="+mn-ea"/>
                <a:cs typeface="+mn-cs"/>
                <a:hlinkClick r:id="rId3"/>
              </a:rPr>
              <a:t>.NET Remoting: Binary Format</a:t>
            </a:r>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are expecting a type don’t assume, validate the type.</a:t>
            </a:r>
            <a:endParaRPr lang="en-US" dirty="0"/>
          </a:p>
        </p:txBody>
      </p:sp>
    </p:spTree>
    <p:extLst>
      <p:ext uri="{BB962C8B-B14F-4D97-AF65-F5344CB8AC3E}">
        <p14:creationId xmlns:p14="http://schemas.microsoft.com/office/powerpoint/2010/main" val="4121121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54C3-A12F-729C-10E4-52A096708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74A8C-CCE2-02FB-133B-D332DF5042BE}"/>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14BAD58-0259-7EF8-6388-B875BF5A2BD5}"/>
              </a:ext>
            </a:extLst>
          </p:cNvPr>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119285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43567-BB5F-9B38-DD30-157E48EB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659EA-E8B6-F6C4-3B02-40C23D0E990C}"/>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1AFF937-BB82-335B-FF87-5317D8E77AF1}"/>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1394058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D33EE-8420-2D9B-8D26-9F1597CF0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C71EC-615D-8CDC-34CE-1A612983B6B1}"/>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C642B58-C1B6-CC6E-87CC-CDA1F4C8FF8A}"/>
              </a:ext>
            </a:extLst>
          </p:cNvPr>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8758255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5C225-FF09-684B-95EC-5893C985C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30A52-EE2A-B3E5-C5C8-711D77819E9A}"/>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0214E41-E814-FAA4-CD94-3248A5AC48D6}"/>
              </a:ext>
            </a:extLst>
          </p:cNvPr>
          <p:cNvSpPr>
            <a:spLocks noGrp="1"/>
          </p:cNvSpPr>
          <p:nvPr>
            <p:ph type="body" idx="1"/>
          </p:nvPr>
        </p:nvSpPr>
        <p:spPr>
          <a:xfrm>
            <a:off x="1371600" y="11736388"/>
            <a:ext cx="10972800" cy="9602787"/>
          </a:xfrm>
          <a:prstGeom prst="rect">
            <a:avLst/>
          </a:prstGeom>
        </p:spPr>
        <p:txBody>
          <a:bodyPr/>
          <a:lstStyle/>
          <a:p>
            <a:r>
              <a:rPr lang="en-US" dirty="0"/>
              <a:t>If you’re adhering to an RFC check it carefully. Fuzz your logic. Make sure you have timeouts when you listen for things, validate they work, validate that they work when something stops in the middle of an operation, or slows down and trickles (Slow Loris attack)</a:t>
            </a:r>
          </a:p>
        </p:txBody>
      </p:sp>
    </p:spTree>
    <p:extLst>
      <p:ext uri="{BB962C8B-B14F-4D97-AF65-F5344CB8AC3E}">
        <p14:creationId xmlns:p14="http://schemas.microsoft.com/office/powerpoint/2010/main" val="25200375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91105-9046-E0F0-5114-71B60DB9E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97E41-44EB-692C-B388-C80145A0BA20}"/>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74818BD-7D50-6FBE-889B-7936080F5923}"/>
              </a:ext>
            </a:extLst>
          </p:cNvPr>
          <p:cNvSpPr>
            <a:spLocks noGrp="1"/>
          </p:cNvSpPr>
          <p:nvPr>
            <p:ph type="body" idx="1"/>
          </p:nvPr>
        </p:nvSpPr>
        <p:spPr>
          <a:xfrm>
            <a:off x="1371600" y="11736388"/>
            <a:ext cx="10972800" cy="9602787"/>
          </a:xfrm>
          <a:prstGeom prst="rect">
            <a:avLst/>
          </a:prstGeom>
        </p:spPr>
        <p:txBody>
          <a:bodyPr/>
          <a:lstStyle/>
          <a:p>
            <a:r>
              <a:rPr lang="en-US" dirty="0"/>
              <a:t>If you’re adhering to an RFC check it carefully. Watch for MUST and SHOULD clauses. SHOULD is an indication that the logic could be undefined. MAY is even worse, it might work, it might not.</a:t>
            </a:r>
          </a:p>
          <a:p>
            <a:endParaRPr lang="en-US" dirty="0"/>
          </a:p>
          <a:p>
            <a:r>
              <a:rPr lang="en-US" dirty="0"/>
              <a:t>Strict adherent can also be problematic. Kestrel started out as strict adherence to all the relevant RFCs but it couldn’t be adopted by internal partners because of that, as their existing web servers were not strict and we’d reject requests they received </a:t>
            </a:r>
          </a:p>
        </p:txBody>
      </p:sp>
    </p:spTree>
    <p:extLst>
      <p:ext uri="{BB962C8B-B14F-4D97-AF65-F5344CB8AC3E}">
        <p14:creationId xmlns:p14="http://schemas.microsoft.com/office/powerpoint/2010/main" val="262946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130778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dirty="0"/>
              <a:t>And don’t forget you have a year before .NET 8 and .NET 9 go out of support, so start your upgrades now, so you can keep going those security updates.</a:t>
            </a:r>
          </a:p>
        </p:txBody>
      </p:sp>
    </p:spTree>
    <p:extLst>
      <p:ext uri="{BB962C8B-B14F-4D97-AF65-F5344CB8AC3E}">
        <p14:creationId xmlns:p14="http://schemas.microsoft.com/office/powerpoint/2010/main" val="27780277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0">
              <a:srgbClr val="C1BCF3"/>
            </a:gs>
            <a:gs pos="100000">
              <a:srgbClr val="3D8AFF"/>
            </a:gs>
          </a:gsLst>
          <a:lin ang="5400000" scaled="1"/>
        </a:gradFill>
        <a:effectLst/>
      </p:bgPr>
    </p:bg>
    <p:spTree>
      <p:nvGrpSpPr>
        <p:cNvPr id="1" name=""/>
        <p:cNvGrpSpPr/>
        <p:nvPr/>
      </p:nvGrpSpPr>
      <p:grpSpPr>
        <a:xfrm>
          <a:off x="0" y="0"/>
          <a:ext cx="0" cy="0"/>
          <a:chOff x="0" y="0"/>
          <a:chExt cx="0" cy="0"/>
        </a:xfrm>
      </p:grpSpPr>
      <p:pic>
        <p:nvPicPr>
          <p:cNvPr id="5" name="Picture 4" descr="A purple object with white light beams">
            <a:extLst>
              <a:ext uri="{FF2B5EF4-FFF2-40B4-BE49-F238E27FC236}">
                <a16:creationId xmlns:a16="http://schemas.microsoft.com/office/drawing/2014/main" id="{4345B651-546F-9E88-109A-AE1FAACBD3BA}"/>
              </a:ext>
            </a:extLst>
          </p:cNvPr>
          <p:cNvPicPr>
            <a:picLocks noChangeAspect="1"/>
          </p:cNvPicPr>
          <p:nvPr userDrawn="1"/>
        </p:nvPicPr>
        <p:blipFill>
          <a:blip r:embed="rId2"/>
          <a:stretch>
            <a:fillRect/>
          </a:stretch>
        </p:blipFill>
        <p:spPr>
          <a:xfrm>
            <a:off x="-300959" y="3401259"/>
            <a:ext cx="24387175" cy="10097815"/>
          </a:xfrm>
          <a:prstGeom prst="rect">
            <a:avLst/>
          </a:prstGeom>
        </p:spPr>
      </p:pic>
      <p:pic>
        <p:nvPicPr>
          <p:cNvPr id="8" name="Picture 7">
            <a:extLst>
              <a:ext uri="{FF2B5EF4-FFF2-40B4-BE49-F238E27FC236}">
                <a16:creationId xmlns:a16="http://schemas.microsoft.com/office/drawing/2014/main" id="{A7B5EEFF-2BB5-A52C-260D-554CFB706928}"/>
              </a:ext>
            </a:extLst>
          </p:cNvPr>
          <p:cNvPicPr>
            <a:picLocks noChangeAspect="1"/>
          </p:cNvPicPr>
          <p:nvPr userDrawn="1"/>
        </p:nvPicPr>
        <p:blipFill>
          <a:blip r:embed="rId3"/>
          <a:stretch>
            <a:fillRect/>
          </a:stretch>
        </p:blipFill>
        <p:spPr>
          <a:xfrm>
            <a:off x="0" y="0"/>
            <a:ext cx="24387175" cy="2648295"/>
          </a:xfrm>
          <a:prstGeom prst="rect">
            <a:avLst/>
          </a:prstGeom>
        </p:spPr>
      </p:pic>
      <p:sp>
        <p:nvSpPr>
          <p:cNvPr id="12" name="Text Placeholder 11">
            <a:extLst>
              <a:ext uri="{FF2B5EF4-FFF2-40B4-BE49-F238E27FC236}">
                <a16:creationId xmlns:a16="http://schemas.microsoft.com/office/drawing/2014/main" id="{FB2202B6-F7AE-4B3E-3EEE-7AD38C243F62}"/>
              </a:ext>
            </a:extLst>
          </p:cNvPr>
          <p:cNvSpPr>
            <a:spLocks noGrp="1"/>
          </p:cNvSpPr>
          <p:nvPr>
            <p:ph type="body" sz="quarter" idx="10" hasCustomPrompt="1"/>
          </p:nvPr>
        </p:nvSpPr>
        <p:spPr>
          <a:xfrm>
            <a:off x="1088058" y="1041400"/>
            <a:ext cx="11658600" cy="1828800"/>
          </a:xfrm>
          <a:prstGeom prst="rect">
            <a:avLst/>
          </a:prstGeom>
        </p:spPr>
        <p:txBody>
          <a:bodyPr/>
          <a:lstStyle>
            <a:lvl1pPr marL="0" indent="0" algn="l" defTabSz="914400" rtl="0" eaLnBrk="1" latinLnBrk="0" hangingPunct="1">
              <a:lnSpc>
                <a:spcPts val="15000"/>
              </a:lnSpc>
              <a:buNone/>
              <a:defRPr lang="en-US" sz="15000" b="1" i="0" kern="0" spc="-750" dirty="0" smtClean="0">
                <a:solidFill>
                  <a:schemeClr val="tx1"/>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13" name="Text Placeholder 11">
            <a:extLst>
              <a:ext uri="{FF2B5EF4-FFF2-40B4-BE49-F238E27FC236}">
                <a16:creationId xmlns:a16="http://schemas.microsoft.com/office/drawing/2014/main" id="{D6E4B5D0-1A1D-7256-DDEF-FFD34D9EC122}"/>
              </a:ext>
            </a:extLst>
          </p:cNvPr>
          <p:cNvSpPr>
            <a:spLocks noGrp="1"/>
          </p:cNvSpPr>
          <p:nvPr>
            <p:ph type="body" sz="quarter" idx="11" hasCustomPrompt="1"/>
          </p:nvPr>
        </p:nvSpPr>
        <p:spPr>
          <a:xfrm>
            <a:off x="1088058" y="2921000"/>
            <a:ext cx="11658600" cy="1828800"/>
          </a:xfrm>
          <a:prstGeom prst="rect">
            <a:avLst/>
          </a:prstGeom>
        </p:spPr>
        <p:txBody>
          <a:bodyPr/>
          <a:lstStyle>
            <a:lvl1pPr marL="0" indent="0" algn="l" defTabSz="914400" rtl="0" eaLnBrk="1" latinLnBrk="0" hangingPunct="1">
              <a:lnSpc>
                <a:spcPts val="15000"/>
              </a:lnSpc>
              <a:buNone/>
              <a:defRPr lang="en-US" sz="15000" b="0" i="0" kern="0" spc="-750" dirty="0" smtClean="0">
                <a:solidFill>
                  <a:schemeClr val="tx1"/>
                </a:solidFill>
                <a:latin typeface="Poppins" pitchFamily="2" charset="77"/>
                <a:ea typeface="Poppins" pitchFamily="2" charset="77"/>
                <a:cs typeface="Poppins" pitchFamily="2" charset="77"/>
              </a:defRPr>
            </a:lvl1pPr>
          </a:lstStyle>
          <a:p>
            <a:pPr lvl="0"/>
            <a:r>
              <a:rPr lang="en-US"/>
              <a:t>Subtitle</a:t>
            </a:r>
          </a:p>
        </p:txBody>
      </p:sp>
      <p:pic>
        <p:nvPicPr>
          <p:cNvPr id="4" name="Picture 3">
            <a:extLst>
              <a:ext uri="{FF2B5EF4-FFF2-40B4-BE49-F238E27FC236}">
                <a16:creationId xmlns:a16="http://schemas.microsoft.com/office/drawing/2014/main" id="{2E58028D-48E9-F953-AF99-287F28B4BC9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470317" y="1041400"/>
            <a:ext cx="1828800" cy="1828800"/>
          </a:xfrm>
          <a:prstGeom prst="rect">
            <a:avLst/>
          </a:prstGeom>
        </p:spPr>
      </p:pic>
    </p:spTree>
    <p:extLst>
      <p:ext uri="{BB962C8B-B14F-4D97-AF65-F5344CB8AC3E}">
        <p14:creationId xmlns:p14="http://schemas.microsoft.com/office/powerpoint/2010/main" val="3567470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B8A08768-A8D1-56B8-9E72-F5247632A5A0}"/>
              </a:ext>
            </a:extLst>
          </p:cNvPr>
          <p:cNvSpPr>
            <a:spLocks noGrp="1"/>
          </p:cNvSpPr>
          <p:nvPr>
            <p:ph type="body" sz="quarter" idx="10" hasCustomPrompt="1"/>
          </p:nvPr>
        </p:nvSpPr>
        <p:spPr>
          <a:xfrm>
            <a:off x="9699059" y="1062934"/>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2" name="Text Placeholder 19">
            <a:extLst>
              <a:ext uri="{FF2B5EF4-FFF2-40B4-BE49-F238E27FC236}">
                <a16:creationId xmlns:a16="http://schemas.microsoft.com/office/drawing/2014/main" id="{9D36D911-7F66-D321-2E3E-25348A43CD12}"/>
              </a:ext>
            </a:extLst>
          </p:cNvPr>
          <p:cNvSpPr>
            <a:spLocks noGrp="1"/>
          </p:cNvSpPr>
          <p:nvPr>
            <p:ph type="body" sz="quarter" idx="11" hasCustomPrompt="1"/>
          </p:nvPr>
        </p:nvSpPr>
        <p:spPr>
          <a:xfrm>
            <a:off x="8582971" y="1066799"/>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23" name="Text Placeholder 19">
            <a:extLst>
              <a:ext uri="{FF2B5EF4-FFF2-40B4-BE49-F238E27FC236}">
                <a16:creationId xmlns:a16="http://schemas.microsoft.com/office/drawing/2014/main" id="{2BB80305-533F-525A-2094-2BA8CC178E8A}"/>
              </a:ext>
            </a:extLst>
          </p:cNvPr>
          <p:cNvSpPr>
            <a:spLocks noGrp="1"/>
          </p:cNvSpPr>
          <p:nvPr>
            <p:ph type="body" sz="quarter" idx="13" hasCustomPrompt="1"/>
          </p:nvPr>
        </p:nvSpPr>
        <p:spPr>
          <a:xfrm>
            <a:off x="1083509" y="1103244"/>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chemeClr val="tx2"/>
                </a:solidFill>
                <a:latin typeface="Poppins" pitchFamily="2" charset="77"/>
                <a:ea typeface="Poppins" pitchFamily="2" charset="77"/>
                <a:cs typeface="Poppins" pitchFamily="2" charset="77"/>
              </a:defRPr>
            </a:lvl1pPr>
          </a:lstStyle>
          <a:p>
            <a:pPr lvl="0"/>
            <a:r>
              <a:rPr lang="en-US"/>
              <a:t>Subtitle</a:t>
            </a:r>
          </a:p>
        </p:txBody>
      </p:sp>
      <p:sp>
        <p:nvSpPr>
          <p:cNvPr id="25" name="Text Placeholder 19">
            <a:extLst>
              <a:ext uri="{FF2B5EF4-FFF2-40B4-BE49-F238E27FC236}">
                <a16:creationId xmlns:a16="http://schemas.microsoft.com/office/drawing/2014/main" id="{9D750292-3DAA-64F4-E346-058EF93A4730}"/>
              </a:ext>
            </a:extLst>
          </p:cNvPr>
          <p:cNvSpPr>
            <a:spLocks noGrp="1"/>
          </p:cNvSpPr>
          <p:nvPr>
            <p:ph type="body" sz="quarter" idx="15" hasCustomPrompt="1"/>
          </p:nvPr>
        </p:nvSpPr>
        <p:spPr>
          <a:xfrm>
            <a:off x="1083509" y="1659835"/>
            <a:ext cx="7010400" cy="635000"/>
          </a:xfrm>
          <a:prstGeom prst="rect">
            <a:avLst/>
          </a:prstGeom>
        </p:spPr>
        <p:txBody>
          <a:bodyPr/>
          <a:lstStyle>
            <a:lvl1pPr marL="0" indent="0" algn="l" defTabSz="914400" rtl="0" eaLnBrk="1" latinLnBrk="0" hangingPunct="1">
              <a:lnSpc>
                <a:spcPts val="4400"/>
              </a:lnSpc>
              <a:buNone/>
              <a:defRPr lang="en-US" sz="3600" b="1"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8" name="Text Placeholder 19">
            <a:extLst>
              <a:ext uri="{FF2B5EF4-FFF2-40B4-BE49-F238E27FC236}">
                <a16:creationId xmlns:a16="http://schemas.microsoft.com/office/drawing/2014/main" id="{909B5BC6-004B-406B-86ED-C0F664D767BA}"/>
              </a:ext>
            </a:extLst>
          </p:cNvPr>
          <p:cNvSpPr>
            <a:spLocks noGrp="1"/>
          </p:cNvSpPr>
          <p:nvPr>
            <p:ph type="body" sz="quarter" idx="16" hasCustomPrompt="1"/>
          </p:nvPr>
        </p:nvSpPr>
        <p:spPr>
          <a:xfrm>
            <a:off x="9699059" y="1965759"/>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9" name="Text Placeholder 19">
            <a:extLst>
              <a:ext uri="{FF2B5EF4-FFF2-40B4-BE49-F238E27FC236}">
                <a16:creationId xmlns:a16="http://schemas.microsoft.com/office/drawing/2014/main" id="{22607F7F-1EAC-B2FA-AC82-78456EA42FF5}"/>
              </a:ext>
            </a:extLst>
          </p:cNvPr>
          <p:cNvSpPr>
            <a:spLocks noGrp="1"/>
          </p:cNvSpPr>
          <p:nvPr>
            <p:ph type="body" sz="quarter" idx="17" hasCustomPrompt="1"/>
          </p:nvPr>
        </p:nvSpPr>
        <p:spPr>
          <a:xfrm>
            <a:off x="8582971" y="1969624"/>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0" name="Text Placeholder 19">
            <a:extLst>
              <a:ext uri="{FF2B5EF4-FFF2-40B4-BE49-F238E27FC236}">
                <a16:creationId xmlns:a16="http://schemas.microsoft.com/office/drawing/2014/main" id="{EDFEF231-B3A4-17F4-23CF-B712A4401DBA}"/>
              </a:ext>
            </a:extLst>
          </p:cNvPr>
          <p:cNvSpPr>
            <a:spLocks noGrp="1"/>
          </p:cNvSpPr>
          <p:nvPr>
            <p:ph type="body" sz="quarter" idx="18" hasCustomPrompt="1"/>
          </p:nvPr>
        </p:nvSpPr>
        <p:spPr>
          <a:xfrm>
            <a:off x="9699059" y="2875692"/>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1" name="Text Placeholder 19">
            <a:extLst>
              <a:ext uri="{FF2B5EF4-FFF2-40B4-BE49-F238E27FC236}">
                <a16:creationId xmlns:a16="http://schemas.microsoft.com/office/drawing/2014/main" id="{3FC7885F-D58E-D154-62B9-8314D6E34C2B}"/>
              </a:ext>
            </a:extLst>
          </p:cNvPr>
          <p:cNvSpPr>
            <a:spLocks noGrp="1"/>
          </p:cNvSpPr>
          <p:nvPr>
            <p:ph type="body" sz="quarter" idx="19" hasCustomPrompt="1"/>
          </p:nvPr>
        </p:nvSpPr>
        <p:spPr>
          <a:xfrm>
            <a:off x="8582971" y="2879557"/>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2" name="Text Placeholder 19">
            <a:extLst>
              <a:ext uri="{FF2B5EF4-FFF2-40B4-BE49-F238E27FC236}">
                <a16:creationId xmlns:a16="http://schemas.microsoft.com/office/drawing/2014/main" id="{3206D664-9025-7588-3785-9B5127BB52DC}"/>
              </a:ext>
            </a:extLst>
          </p:cNvPr>
          <p:cNvSpPr>
            <a:spLocks noGrp="1"/>
          </p:cNvSpPr>
          <p:nvPr>
            <p:ph type="body" sz="quarter" idx="20" hasCustomPrompt="1"/>
          </p:nvPr>
        </p:nvSpPr>
        <p:spPr>
          <a:xfrm>
            <a:off x="9699059" y="3785625"/>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3" name="Text Placeholder 19">
            <a:extLst>
              <a:ext uri="{FF2B5EF4-FFF2-40B4-BE49-F238E27FC236}">
                <a16:creationId xmlns:a16="http://schemas.microsoft.com/office/drawing/2014/main" id="{B1D64F4E-B2B1-F66D-F67B-35D740CF5508}"/>
              </a:ext>
            </a:extLst>
          </p:cNvPr>
          <p:cNvSpPr>
            <a:spLocks noGrp="1"/>
          </p:cNvSpPr>
          <p:nvPr>
            <p:ph type="body" sz="quarter" idx="21" hasCustomPrompt="1"/>
          </p:nvPr>
        </p:nvSpPr>
        <p:spPr>
          <a:xfrm>
            <a:off x="8582971" y="3789490"/>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4" name="Text Placeholder 19">
            <a:extLst>
              <a:ext uri="{FF2B5EF4-FFF2-40B4-BE49-F238E27FC236}">
                <a16:creationId xmlns:a16="http://schemas.microsoft.com/office/drawing/2014/main" id="{DD90E18B-EA52-CF02-E309-052B97441951}"/>
              </a:ext>
            </a:extLst>
          </p:cNvPr>
          <p:cNvSpPr>
            <a:spLocks noGrp="1"/>
          </p:cNvSpPr>
          <p:nvPr>
            <p:ph type="body" sz="quarter" idx="22" hasCustomPrompt="1"/>
          </p:nvPr>
        </p:nvSpPr>
        <p:spPr>
          <a:xfrm>
            <a:off x="9699059" y="4695558"/>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5" name="Text Placeholder 19">
            <a:extLst>
              <a:ext uri="{FF2B5EF4-FFF2-40B4-BE49-F238E27FC236}">
                <a16:creationId xmlns:a16="http://schemas.microsoft.com/office/drawing/2014/main" id="{35B5BBF1-8BFB-DADC-91A0-66BE29830F6B}"/>
              </a:ext>
            </a:extLst>
          </p:cNvPr>
          <p:cNvSpPr>
            <a:spLocks noGrp="1"/>
          </p:cNvSpPr>
          <p:nvPr>
            <p:ph type="body" sz="quarter" idx="23" hasCustomPrompt="1"/>
          </p:nvPr>
        </p:nvSpPr>
        <p:spPr>
          <a:xfrm>
            <a:off x="8582971" y="4699423"/>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6" name="Text Placeholder 19">
            <a:extLst>
              <a:ext uri="{FF2B5EF4-FFF2-40B4-BE49-F238E27FC236}">
                <a16:creationId xmlns:a16="http://schemas.microsoft.com/office/drawing/2014/main" id="{D45D058E-B1E6-9724-7878-C61F5E256716}"/>
              </a:ext>
            </a:extLst>
          </p:cNvPr>
          <p:cNvSpPr>
            <a:spLocks noGrp="1"/>
          </p:cNvSpPr>
          <p:nvPr>
            <p:ph type="body" sz="quarter" idx="24" hasCustomPrompt="1"/>
          </p:nvPr>
        </p:nvSpPr>
        <p:spPr>
          <a:xfrm>
            <a:off x="9699059" y="5605491"/>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7" name="Text Placeholder 19">
            <a:extLst>
              <a:ext uri="{FF2B5EF4-FFF2-40B4-BE49-F238E27FC236}">
                <a16:creationId xmlns:a16="http://schemas.microsoft.com/office/drawing/2014/main" id="{6767140E-1887-CBD2-537F-0F89AA863F4A}"/>
              </a:ext>
            </a:extLst>
          </p:cNvPr>
          <p:cNvSpPr>
            <a:spLocks noGrp="1"/>
          </p:cNvSpPr>
          <p:nvPr>
            <p:ph type="body" sz="quarter" idx="25" hasCustomPrompt="1"/>
          </p:nvPr>
        </p:nvSpPr>
        <p:spPr>
          <a:xfrm>
            <a:off x="8582971" y="5609356"/>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8" name="Text Placeholder 19">
            <a:extLst>
              <a:ext uri="{FF2B5EF4-FFF2-40B4-BE49-F238E27FC236}">
                <a16:creationId xmlns:a16="http://schemas.microsoft.com/office/drawing/2014/main" id="{D2DAF6A0-18B6-8865-E352-FBD3DA7F6754}"/>
              </a:ext>
            </a:extLst>
          </p:cNvPr>
          <p:cNvSpPr>
            <a:spLocks noGrp="1"/>
          </p:cNvSpPr>
          <p:nvPr>
            <p:ph type="body" sz="quarter" idx="26" hasCustomPrompt="1"/>
          </p:nvPr>
        </p:nvSpPr>
        <p:spPr>
          <a:xfrm>
            <a:off x="9699059" y="6515424"/>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9" name="Text Placeholder 19">
            <a:extLst>
              <a:ext uri="{FF2B5EF4-FFF2-40B4-BE49-F238E27FC236}">
                <a16:creationId xmlns:a16="http://schemas.microsoft.com/office/drawing/2014/main" id="{6C68D9E7-6D29-A137-DBFE-B0921598A108}"/>
              </a:ext>
            </a:extLst>
          </p:cNvPr>
          <p:cNvSpPr>
            <a:spLocks noGrp="1"/>
          </p:cNvSpPr>
          <p:nvPr>
            <p:ph type="body" sz="quarter" idx="27" hasCustomPrompt="1"/>
          </p:nvPr>
        </p:nvSpPr>
        <p:spPr>
          <a:xfrm>
            <a:off x="8582971" y="6519289"/>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40" name="Text Placeholder 19">
            <a:extLst>
              <a:ext uri="{FF2B5EF4-FFF2-40B4-BE49-F238E27FC236}">
                <a16:creationId xmlns:a16="http://schemas.microsoft.com/office/drawing/2014/main" id="{3B00CE70-CCD3-CF1B-8E6B-B04013BD71CD}"/>
              </a:ext>
            </a:extLst>
          </p:cNvPr>
          <p:cNvSpPr>
            <a:spLocks noGrp="1"/>
          </p:cNvSpPr>
          <p:nvPr>
            <p:ph type="body" sz="quarter" idx="28" hasCustomPrompt="1"/>
          </p:nvPr>
        </p:nvSpPr>
        <p:spPr>
          <a:xfrm>
            <a:off x="9699059" y="7425357"/>
            <a:ext cx="7010400" cy="812165"/>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41" name="Text Placeholder 19">
            <a:extLst>
              <a:ext uri="{FF2B5EF4-FFF2-40B4-BE49-F238E27FC236}">
                <a16:creationId xmlns:a16="http://schemas.microsoft.com/office/drawing/2014/main" id="{3AFF83DD-F4F2-57F9-7604-66A5BBAB3028}"/>
              </a:ext>
            </a:extLst>
          </p:cNvPr>
          <p:cNvSpPr>
            <a:spLocks noGrp="1"/>
          </p:cNvSpPr>
          <p:nvPr>
            <p:ph type="body" sz="quarter" idx="29" hasCustomPrompt="1"/>
          </p:nvPr>
        </p:nvSpPr>
        <p:spPr>
          <a:xfrm>
            <a:off x="8582971" y="7429222"/>
            <a:ext cx="1037656" cy="812165"/>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Tree>
    <p:extLst>
      <p:ext uri="{BB962C8B-B14F-4D97-AF65-F5344CB8AC3E}">
        <p14:creationId xmlns:p14="http://schemas.microsoft.com/office/powerpoint/2010/main" val="190235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aphic">
    <p:bg>
      <p:bgPr>
        <a:solidFill>
          <a:schemeClr val="accent4"/>
        </a:solidFill>
        <a:effectLst/>
      </p:bgPr>
    </p:bg>
    <p:spTree>
      <p:nvGrpSpPr>
        <p:cNvPr id="1" name=""/>
        <p:cNvGrpSpPr/>
        <p:nvPr/>
      </p:nvGrpSpPr>
      <p:grpSpPr>
        <a:xfrm>
          <a:off x="0" y="0"/>
          <a:ext cx="0" cy="0"/>
          <a:chOff x="0" y="0"/>
          <a:chExt cx="0" cy="0"/>
        </a:xfrm>
      </p:grpSpPr>
      <p:sp>
        <p:nvSpPr>
          <p:cNvPr id="6" name="Text Placeholder 19">
            <a:extLst>
              <a:ext uri="{FF2B5EF4-FFF2-40B4-BE49-F238E27FC236}">
                <a16:creationId xmlns:a16="http://schemas.microsoft.com/office/drawing/2014/main" id="{F721C38B-51F8-79EC-FF62-5740432510CD}"/>
              </a:ext>
            </a:extLst>
          </p:cNvPr>
          <p:cNvSpPr>
            <a:spLocks noGrp="1"/>
          </p:cNvSpPr>
          <p:nvPr>
            <p:ph type="body" sz="quarter" idx="10" hasCustomPrompt="1"/>
          </p:nvPr>
        </p:nvSpPr>
        <p:spPr>
          <a:xfrm>
            <a:off x="1140565" y="1066800"/>
            <a:ext cx="7010400" cy="939800"/>
          </a:xfrm>
          <a:prstGeom prst="rect">
            <a:avLst/>
          </a:prstGeom>
        </p:spPr>
        <p:txBody>
          <a:bodyPr/>
          <a:lstStyle>
            <a:lvl1pPr marL="0" indent="0" algn="l" defTabSz="914400" rtl="0" eaLnBrk="1" latinLnBrk="0" hangingPunct="1">
              <a:lnSpc>
                <a:spcPts val="6800"/>
              </a:lnSpc>
              <a:buNone/>
              <a:defRPr lang="en-US" sz="6000" b="1"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7" name="Text Placeholder 19">
            <a:extLst>
              <a:ext uri="{FF2B5EF4-FFF2-40B4-BE49-F238E27FC236}">
                <a16:creationId xmlns:a16="http://schemas.microsoft.com/office/drawing/2014/main" id="{772D1574-194D-B474-FEAE-9BB4D2768E28}"/>
              </a:ext>
            </a:extLst>
          </p:cNvPr>
          <p:cNvSpPr>
            <a:spLocks noGrp="1"/>
          </p:cNvSpPr>
          <p:nvPr>
            <p:ph type="body" sz="quarter" idx="11" hasCustomPrompt="1"/>
          </p:nvPr>
        </p:nvSpPr>
        <p:spPr>
          <a:xfrm>
            <a:off x="1140565" y="1930400"/>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chemeClr val="tx2"/>
                </a:solidFill>
                <a:latin typeface="Poppins" pitchFamily="2" charset="77"/>
                <a:ea typeface="Poppins" pitchFamily="2" charset="77"/>
                <a:cs typeface="Poppins" pitchFamily="2" charset="77"/>
              </a:defRPr>
            </a:lvl1pPr>
          </a:lstStyle>
          <a:p>
            <a:pPr lvl="0"/>
            <a:r>
              <a:rPr lang="en-US"/>
              <a:t>Subtitle</a:t>
            </a:r>
          </a:p>
          <a:p>
            <a:pPr lvl="0"/>
            <a:endParaRPr lang="en-US"/>
          </a:p>
        </p:txBody>
      </p:sp>
      <p:sp>
        <p:nvSpPr>
          <p:cNvPr id="3" name="Chart Placeholder 2">
            <a:extLst>
              <a:ext uri="{FF2B5EF4-FFF2-40B4-BE49-F238E27FC236}">
                <a16:creationId xmlns:a16="http://schemas.microsoft.com/office/drawing/2014/main" id="{9100A581-269A-EDFA-B94F-04D2F901FB0E}"/>
              </a:ext>
            </a:extLst>
          </p:cNvPr>
          <p:cNvSpPr>
            <a:spLocks noGrp="1"/>
          </p:cNvSpPr>
          <p:nvPr>
            <p:ph type="chart" sz="quarter" idx="12"/>
          </p:nvPr>
        </p:nvSpPr>
        <p:spPr>
          <a:xfrm>
            <a:off x="5624512" y="3733800"/>
            <a:ext cx="13138150" cy="7466430"/>
          </a:xfrm>
          <a:prstGeom prst="roundRect">
            <a:avLst>
              <a:gd name="adj" fmla="val 1074"/>
            </a:avLst>
          </a:prstGeom>
        </p:spPr>
        <p:txBody>
          <a:bodyPr/>
          <a:lstStyle>
            <a:lvl1pPr>
              <a:defRPr b="0" i="0">
                <a:latin typeface="Poppins" pitchFamily="2" charset="77"/>
              </a:defRPr>
            </a:lvl1pPr>
          </a:lstStyle>
          <a:p>
            <a:endParaRPr lang="en-US"/>
          </a:p>
        </p:txBody>
      </p:sp>
    </p:spTree>
    <p:extLst>
      <p:ext uri="{BB962C8B-B14F-4D97-AF65-F5344CB8AC3E}">
        <p14:creationId xmlns:p14="http://schemas.microsoft.com/office/powerpoint/2010/main" val="4108809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 points">
    <p:bg>
      <p:bgPr>
        <a:solidFill>
          <a:schemeClr val="accent4"/>
        </a:solidFill>
        <a:effectLst/>
      </p:bgPr>
    </p:bg>
    <p:spTree>
      <p:nvGrpSpPr>
        <p:cNvPr id="1" name=""/>
        <p:cNvGrpSpPr/>
        <p:nvPr/>
      </p:nvGrpSpPr>
      <p:grpSpPr>
        <a:xfrm>
          <a:off x="0" y="0"/>
          <a:ext cx="0" cy="0"/>
          <a:chOff x="0" y="0"/>
          <a:chExt cx="0" cy="0"/>
        </a:xfrm>
      </p:grpSpPr>
      <p:sp>
        <p:nvSpPr>
          <p:cNvPr id="23" name="Text Placeholder 19">
            <a:extLst>
              <a:ext uri="{FF2B5EF4-FFF2-40B4-BE49-F238E27FC236}">
                <a16:creationId xmlns:a16="http://schemas.microsoft.com/office/drawing/2014/main" id="{AF7809FD-FD9E-C675-04BF-7AE0F6D7A7E9}"/>
              </a:ext>
            </a:extLst>
          </p:cNvPr>
          <p:cNvSpPr>
            <a:spLocks noGrp="1"/>
          </p:cNvSpPr>
          <p:nvPr>
            <p:ph type="body" sz="quarter" idx="10" hasCustomPrompt="1"/>
          </p:nvPr>
        </p:nvSpPr>
        <p:spPr>
          <a:xfrm>
            <a:off x="1140565" y="1066800"/>
            <a:ext cx="7010400" cy="939800"/>
          </a:xfrm>
          <a:prstGeom prst="rect">
            <a:avLst/>
          </a:prstGeom>
        </p:spPr>
        <p:txBody>
          <a:bodyPr/>
          <a:lstStyle>
            <a:lvl1pPr marL="0" indent="0" algn="l" defTabSz="914400" rtl="0" eaLnBrk="1" latinLnBrk="0" hangingPunct="1">
              <a:lnSpc>
                <a:spcPts val="6800"/>
              </a:lnSpc>
              <a:buNone/>
              <a:defRPr lang="en-US" sz="6000" b="1"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24" name="Text Placeholder 19">
            <a:extLst>
              <a:ext uri="{FF2B5EF4-FFF2-40B4-BE49-F238E27FC236}">
                <a16:creationId xmlns:a16="http://schemas.microsoft.com/office/drawing/2014/main" id="{D5392B90-4FCE-AF58-C25E-52C385458824}"/>
              </a:ext>
            </a:extLst>
          </p:cNvPr>
          <p:cNvSpPr>
            <a:spLocks noGrp="1"/>
          </p:cNvSpPr>
          <p:nvPr>
            <p:ph type="body" sz="quarter" idx="11" hasCustomPrompt="1"/>
          </p:nvPr>
        </p:nvSpPr>
        <p:spPr>
          <a:xfrm>
            <a:off x="1140565" y="1930400"/>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chemeClr val="tx2"/>
                </a:solidFill>
                <a:latin typeface="Poppins" pitchFamily="2" charset="77"/>
                <a:ea typeface="Poppins" pitchFamily="2" charset="77"/>
                <a:cs typeface="Poppins" pitchFamily="2" charset="77"/>
              </a:defRPr>
            </a:lvl1pPr>
          </a:lstStyle>
          <a:p>
            <a:pPr lvl="0"/>
            <a:r>
              <a:rPr lang="en-US"/>
              <a:t>Subtitle</a:t>
            </a:r>
          </a:p>
          <a:p>
            <a:pPr lvl="0"/>
            <a:endParaRPr lang="en-US"/>
          </a:p>
        </p:txBody>
      </p:sp>
      <p:sp>
        <p:nvSpPr>
          <p:cNvPr id="2" name="Text Placeholder 19">
            <a:extLst>
              <a:ext uri="{FF2B5EF4-FFF2-40B4-BE49-F238E27FC236}">
                <a16:creationId xmlns:a16="http://schemas.microsoft.com/office/drawing/2014/main" id="{14C52D32-F83E-D81C-B202-C9AD725363B3}"/>
              </a:ext>
            </a:extLst>
          </p:cNvPr>
          <p:cNvSpPr>
            <a:spLocks noGrp="1"/>
          </p:cNvSpPr>
          <p:nvPr>
            <p:ph type="body" sz="quarter" idx="16" hasCustomPrompt="1"/>
          </p:nvPr>
        </p:nvSpPr>
        <p:spPr>
          <a:xfrm>
            <a:off x="1039913" y="7943354"/>
            <a:ext cx="3491894"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 name="Text Placeholder 19">
            <a:extLst>
              <a:ext uri="{FF2B5EF4-FFF2-40B4-BE49-F238E27FC236}">
                <a16:creationId xmlns:a16="http://schemas.microsoft.com/office/drawing/2014/main" id="{1CE68035-5C66-16BC-0189-93A367333B7B}"/>
              </a:ext>
            </a:extLst>
          </p:cNvPr>
          <p:cNvSpPr>
            <a:spLocks noGrp="1"/>
          </p:cNvSpPr>
          <p:nvPr>
            <p:ph type="body" sz="quarter" idx="19" hasCustomPrompt="1"/>
          </p:nvPr>
        </p:nvSpPr>
        <p:spPr>
          <a:xfrm>
            <a:off x="1049966" y="7032372"/>
            <a:ext cx="3481841"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01</a:t>
            </a:r>
          </a:p>
        </p:txBody>
      </p:sp>
      <p:sp>
        <p:nvSpPr>
          <p:cNvPr id="4" name="Text Placeholder 19">
            <a:extLst>
              <a:ext uri="{FF2B5EF4-FFF2-40B4-BE49-F238E27FC236}">
                <a16:creationId xmlns:a16="http://schemas.microsoft.com/office/drawing/2014/main" id="{6B31C36C-6914-30C5-3F1B-D1E583AB8061}"/>
              </a:ext>
            </a:extLst>
          </p:cNvPr>
          <p:cNvSpPr>
            <a:spLocks noGrp="1"/>
          </p:cNvSpPr>
          <p:nvPr>
            <p:ph type="body" sz="quarter" idx="22" hasCustomPrompt="1"/>
          </p:nvPr>
        </p:nvSpPr>
        <p:spPr>
          <a:xfrm>
            <a:off x="1039914" y="8740532"/>
            <a:ext cx="3491894"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2800"/>
              </a:lnSpc>
              <a:buNone/>
            </a:pPr>
            <a:r>
              <a:rPr lang="en-US" sz="2000" b="1">
                <a:solidFill>
                  <a:srgbClr val="0F0F0F">
                    <a:alpha val="100000"/>
                  </a:srgbClr>
                </a:solidFill>
                <a:latin typeface="Segoe UI Variable Text Semibold" pitchFamily="2" charset="0"/>
                <a:ea typeface="Segoe UI Variable Text Semibold" pitchFamily="34" charset="-122"/>
                <a:cs typeface="Segoe UI Variable Text Semibold" pitchFamily="34" charset="-120"/>
              </a:rPr>
              <a:t>Tomorrow, AI becomes both a partner and a facilitator of the team, which mind melds their perspectives for faster shared vision to product.</a:t>
            </a:r>
            <a:endParaRPr lang="en-US" sz="2000" b="1">
              <a:latin typeface="Segoe UI Variable Text Semibold" pitchFamily="2" charset="0"/>
            </a:endParaRPr>
          </a:p>
        </p:txBody>
      </p:sp>
      <p:sp>
        <p:nvSpPr>
          <p:cNvPr id="25" name="Text Placeholder 19">
            <a:extLst>
              <a:ext uri="{FF2B5EF4-FFF2-40B4-BE49-F238E27FC236}">
                <a16:creationId xmlns:a16="http://schemas.microsoft.com/office/drawing/2014/main" id="{04909924-8374-3E54-558E-59C018D0DF29}"/>
              </a:ext>
            </a:extLst>
          </p:cNvPr>
          <p:cNvSpPr>
            <a:spLocks noGrp="1"/>
          </p:cNvSpPr>
          <p:nvPr>
            <p:ph type="body" sz="quarter" idx="23" hasCustomPrompt="1"/>
          </p:nvPr>
        </p:nvSpPr>
        <p:spPr>
          <a:xfrm>
            <a:off x="4757803" y="7943354"/>
            <a:ext cx="3491894"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6" name="Text Placeholder 19">
            <a:extLst>
              <a:ext uri="{FF2B5EF4-FFF2-40B4-BE49-F238E27FC236}">
                <a16:creationId xmlns:a16="http://schemas.microsoft.com/office/drawing/2014/main" id="{1A458391-216E-C845-856C-2A4E798510CD}"/>
              </a:ext>
            </a:extLst>
          </p:cNvPr>
          <p:cNvSpPr>
            <a:spLocks noGrp="1"/>
          </p:cNvSpPr>
          <p:nvPr>
            <p:ph type="body" sz="quarter" idx="24" hasCustomPrompt="1"/>
          </p:nvPr>
        </p:nvSpPr>
        <p:spPr>
          <a:xfrm>
            <a:off x="4767856" y="7032372"/>
            <a:ext cx="3481841"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02</a:t>
            </a:r>
          </a:p>
        </p:txBody>
      </p:sp>
      <p:sp>
        <p:nvSpPr>
          <p:cNvPr id="27" name="Text Placeholder 19">
            <a:extLst>
              <a:ext uri="{FF2B5EF4-FFF2-40B4-BE49-F238E27FC236}">
                <a16:creationId xmlns:a16="http://schemas.microsoft.com/office/drawing/2014/main" id="{6FD2C17F-78EB-C99E-7B83-9664DD5F4AFA}"/>
              </a:ext>
            </a:extLst>
          </p:cNvPr>
          <p:cNvSpPr>
            <a:spLocks noGrp="1"/>
          </p:cNvSpPr>
          <p:nvPr>
            <p:ph type="body" sz="quarter" idx="25" hasCustomPrompt="1"/>
          </p:nvPr>
        </p:nvSpPr>
        <p:spPr>
          <a:xfrm>
            <a:off x="4757804" y="8740532"/>
            <a:ext cx="3491894"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2800"/>
              </a:lnSpc>
              <a:buNone/>
            </a:pPr>
            <a:r>
              <a:rPr lang="en-US" sz="2000" b="1">
                <a:solidFill>
                  <a:srgbClr val="0F0F0F">
                    <a:alpha val="100000"/>
                  </a:srgbClr>
                </a:solidFill>
                <a:latin typeface="Segoe UI Variable Text Semibold" pitchFamily="2" charset="0"/>
                <a:ea typeface="Segoe UI Variable Text Semibold" pitchFamily="34" charset="-122"/>
                <a:cs typeface="Segoe UI Variable Text Semibold" pitchFamily="34" charset="-120"/>
              </a:rPr>
              <a:t>Tomorrow, AI becomes both a partner and a facilitator of the team, which mind melds their perspectives for faster shared vision to product.</a:t>
            </a:r>
            <a:endParaRPr lang="en-US" sz="2000" b="1">
              <a:latin typeface="Segoe UI Variable Text Semibold" pitchFamily="2" charset="0"/>
            </a:endParaRPr>
          </a:p>
        </p:txBody>
      </p:sp>
      <p:sp>
        <p:nvSpPr>
          <p:cNvPr id="28" name="Text Placeholder 19">
            <a:extLst>
              <a:ext uri="{FF2B5EF4-FFF2-40B4-BE49-F238E27FC236}">
                <a16:creationId xmlns:a16="http://schemas.microsoft.com/office/drawing/2014/main" id="{87204D81-F012-9492-CE1C-A2971FEDDADE}"/>
              </a:ext>
            </a:extLst>
          </p:cNvPr>
          <p:cNvSpPr>
            <a:spLocks noGrp="1"/>
          </p:cNvSpPr>
          <p:nvPr>
            <p:ph type="body" sz="quarter" idx="26" hasCustomPrompt="1"/>
          </p:nvPr>
        </p:nvSpPr>
        <p:spPr>
          <a:xfrm>
            <a:off x="8485742" y="7943354"/>
            <a:ext cx="3491894"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9" name="Text Placeholder 19">
            <a:extLst>
              <a:ext uri="{FF2B5EF4-FFF2-40B4-BE49-F238E27FC236}">
                <a16:creationId xmlns:a16="http://schemas.microsoft.com/office/drawing/2014/main" id="{6CCC77AF-444A-D86E-7572-EFF8B6390E08}"/>
              </a:ext>
            </a:extLst>
          </p:cNvPr>
          <p:cNvSpPr>
            <a:spLocks noGrp="1"/>
          </p:cNvSpPr>
          <p:nvPr>
            <p:ph type="body" sz="quarter" idx="27" hasCustomPrompt="1"/>
          </p:nvPr>
        </p:nvSpPr>
        <p:spPr>
          <a:xfrm>
            <a:off x="8495795" y="7032372"/>
            <a:ext cx="3481841"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03</a:t>
            </a:r>
          </a:p>
        </p:txBody>
      </p:sp>
      <p:sp>
        <p:nvSpPr>
          <p:cNvPr id="30" name="Text Placeholder 19">
            <a:extLst>
              <a:ext uri="{FF2B5EF4-FFF2-40B4-BE49-F238E27FC236}">
                <a16:creationId xmlns:a16="http://schemas.microsoft.com/office/drawing/2014/main" id="{4E46FA6F-2160-24B7-021B-9A07991B9E2D}"/>
              </a:ext>
            </a:extLst>
          </p:cNvPr>
          <p:cNvSpPr>
            <a:spLocks noGrp="1"/>
          </p:cNvSpPr>
          <p:nvPr>
            <p:ph type="body" sz="quarter" idx="28" hasCustomPrompt="1"/>
          </p:nvPr>
        </p:nvSpPr>
        <p:spPr>
          <a:xfrm>
            <a:off x="8485743" y="8740532"/>
            <a:ext cx="3491894"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2800"/>
              </a:lnSpc>
              <a:buNone/>
            </a:pPr>
            <a:r>
              <a:rPr lang="en-US" sz="2000" b="1">
                <a:solidFill>
                  <a:srgbClr val="0F0F0F">
                    <a:alpha val="100000"/>
                  </a:srgbClr>
                </a:solidFill>
                <a:latin typeface="Segoe UI Variable Text Semibold" pitchFamily="2" charset="0"/>
                <a:ea typeface="Segoe UI Variable Text Semibold" pitchFamily="34" charset="-122"/>
                <a:cs typeface="Segoe UI Variable Text Semibold" pitchFamily="34" charset="-120"/>
              </a:rPr>
              <a:t>Tomorrow, AI becomes both a partner and a facilitator of the team, which mind melds their perspectives for faster shared vision to product.</a:t>
            </a:r>
            <a:endParaRPr lang="en-US" sz="2000" b="1">
              <a:latin typeface="Segoe UI Variable Text Semibold" pitchFamily="2" charset="0"/>
            </a:endParaRPr>
          </a:p>
        </p:txBody>
      </p:sp>
      <p:sp>
        <p:nvSpPr>
          <p:cNvPr id="31" name="Text Placeholder 19">
            <a:extLst>
              <a:ext uri="{FF2B5EF4-FFF2-40B4-BE49-F238E27FC236}">
                <a16:creationId xmlns:a16="http://schemas.microsoft.com/office/drawing/2014/main" id="{71B7133A-23A4-0AD6-CE2B-4A52C054F60C}"/>
              </a:ext>
            </a:extLst>
          </p:cNvPr>
          <p:cNvSpPr>
            <a:spLocks noGrp="1"/>
          </p:cNvSpPr>
          <p:nvPr>
            <p:ph type="body" sz="quarter" idx="29" hasCustomPrompt="1"/>
          </p:nvPr>
        </p:nvSpPr>
        <p:spPr>
          <a:xfrm>
            <a:off x="12203632" y="7943354"/>
            <a:ext cx="3491894"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2" name="Text Placeholder 19">
            <a:extLst>
              <a:ext uri="{FF2B5EF4-FFF2-40B4-BE49-F238E27FC236}">
                <a16:creationId xmlns:a16="http://schemas.microsoft.com/office/drawing/2014/main" id="{E4C9B303-6F54-1ECD-0DEF-CC04F2DF72EF}"/>
              </a:ext>
            </a:extLst>
          </p:cNvPr>
          <p:cNvSpPr>
            <a:spLocks noGrp="1"/>
          </p:cNvSpPr>
          <p:nvPr>
            <p:ph type="body" sz="quarter" idx="30" hasCustomPrompt="1"/>
          </p:nvPr>
        </p:nvSpPr>
        <p:spPr>
          <a:xfrm>
            <a:off x="12213685" y="7032372"/>
            <a:ext cx="3481841"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04</a:t>
            </a:r>
          </a:p>
        </p:txBody>
      </p:sp>
      <p:sp>
        <p:nvSpPr>
          <p:cNvPr id="33" name="Text Placeholder 19">
            <a:extLst>
              <a:ext uri="{FF2B5EF4-FFF2-40B4-BE49-F238E27FC236}">
                <a16:creationId xmlns:a16="http://schemas.microsoft.com/office/drawing/2014/main" id="{F9445E2C-3BBA-6FAA-783F-BBE16C2D29DA}"/>
              </a:ext>
            </a:extLst>
          </p:cNvPr>
          <p:cNvSpPr>
            <a:spLocks noGrp="1"/>
          </p:cNvSpPr>
          <p:nvPr>
            <p:ph type="body" sz="quarter" idx="31" hasCustomPrompt="1"/>
          </p:nvPr>
        </p:nvSpPr>
        <p:spPr>
          <a:xfrm>
            <a:off x="12203633" y="8740532"/>
            <a:ext cx="3491894"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2800"/>
              </a:lnSpc>
              <a:buNone/>
            </a:pPr>
            <a:r>
              <a:rPr lang="en-US" sz="2000" b="1">
                <a:solidFill>
                  <a:srgbClr val="0F0F0F">
                    <a:alpha val="100000"/>
                  </a:srgbClr>
                </a:solidFill>
                <a:latin typeface="Segoe UI Variable Text Semibold" pitchFamily="2" charset="0"/>
                <a:ea typeface="Segoe UI Variable Text Semibold" pitchFamily="34" charset="-122"/>
                <a:cs typeface="Segoe UI Variable Text Semibold" pitchFamily="34" charset="-120"/>
              </a:rPr>
              <a:t>Tomorrow, AI becomes both a partner and a facilitator of the team, which mind melds their perspectives for faster shared vision to product.</a:t>
            </a:r>
            <a:endParaRPr lang="en-US" sz="2000" b="1">
              <a:latin typeface="Segoe UI Variable Text Semibold" pitchFamily="2" charset="0"/>
            </a:endParaRPr>
          </a:p>
        </p:txBody>
      </p:sp>
      <p:sp>
        <p:nvSpPr>
          <p:cNvPr id="34" name="Text Placeholder 19">
            <a:extLst>
              <a:ext uri="{FF2B5EF4-FFF2-40B4-BE49-F238E27FC236}">
                <a16:creationId xmlns:a16="http://schemas.microsoft.com/office/drawing/2014/main" id="{40487BBE-BE72-087D-7BAD-52C6794CBAB4}"/>
              </a:ext>
            </a:extLst>
          </p:cNvPr>
          <p:cNvSpPr>
            <a:spLocks noGrp="1"/>
          </p:cNvSpPr>
          <p:nvPr>
            <p:ph type="body" sz="quarter" idx="32" hasCustomPrompt="1"/>
          </p:nvPr>
        </p:nvSpPr>
        <p:spPr>
          <a:xfrm>
            <a:off x="15931570" y="7943354"/>
            <a:ext cx="3491894"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5" name="Text Placeholder 19">
            <a:extLst>
              <a:ext uri="{FF2B5EF4-FFF2-40B4-BE49-F238E27FC236}">
                <a16:creationId xmlns:a16="http://schemas.microsoft.com/office/drawing/2014/main" id="{F82DE218-3924-5725-018E-C4DC95C3A0D7}"/>
              </a:ext>
            </a:extLst>
          </p:cNvPr>
          <p:cNvSpPr>
            <a:spLocks noGrp="1"/>
          </p:cNvSpPr>
          <p:nvPr>
            <p:ph type="body" sz="quarter" idx="33" hasCustomPrompt="1"/>
          </p:nvPr>
        </p:nvSpPr>
        <p:spPr>
          <a:xfrm>
            <a:off x="15941623" y="7032372"/>
            <a:ext cx="3481841"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05</a:t>
            </a:r>
          </a:p>
        </p:txBody>
      </p:sp>
      <p:sp>
        <p:nvSpPr>
          <p:cNvPr id="36" name="Text Placeholder 19">
            <a:extLst>
              <a:ext uri="{FF2B5EF4-FFF2-40B4-BE49-F238E27FC236}">
                <a16:creationId xmlns:a16="http://schemas.microsoft.com/office/drawing/2014/main" id="{3D249E77-8DB6-AE0D-ED70-3F3A2EF4E245}"/>
              </a:ext>
            </a:extLst>
          </p:cNvPr>
          <p:cNvSpPr>
            <a:spLocks noGrp="1"/>
          </p:cNvSpPr>
          <p:nvPr>
            <p:ph type="body" sz="quarter" idx="34" hasCustomPrompt="1"/>
          </p:nvPr>
        </p:nvSpPr>
        <p:spPr>
          <a:xfrm>
            <a:off x="15931571" y="8740532"/>
            <a:ext cx="3491894"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2800"/>
              </a:lnSpc>
              <a:buNone/>
            </a:pPr>
            <a:r>
              <a:rPr lang="en-US" sz="2000" b="1">
                <a:solidFill>
                  <a:srgbClr val="0F0F0F">
                    <a:alpha val="100000"/>
                  </a:srgbClr>
                </a:solidFill>
                <a:latin typeface="Segoe UI Variable Text Semibold" pitchFamily="2" charset="0"/>
                <a:ea typeface="Segoe UI Variable Text Semibold" pitchFamily="34" charset="-122"/>
                <a:cs typeface="Segoe UI Variable Text Semibold" pitchFamily="34" charset="-120"/>
              </a:rPr>
              <a:t>Tomorrow, AI becomes both a partner and a facilitator of the team, which mind melds their perspectives for faster shared vision to product.</a:t>
            </a:r>
            <a:endParaRPr lang="en-US" sz="2000" b="1">
              <a:latin typeface="Segoe UI Variable Text Semibold" pitchFamily="2" charset="0"/>
            </a:endParaRPr>
          </a:p>
        </p:txBody>
      </p:sp>
      <p:sp>
        <p:nvSpPr>
          <p:cNvPr id="37" name="Text Placeholder 19">
            <a:extLst>
              <a:ext uri="{FF2B5EF4-FFF2-40B4-BE49-F238E27FC236}">
                <a16:creationId xmlns:a16="http://schemas.microsoft.com/office/drawing/2014/main" id="{5E5A031A-E60C-495B-DAA2-327FA9B6D525}"/>
              </a:ext>
            </a:extLst>
          </p:cNvPr>
          <p:cNvSpPr>
            <a:spLocks noGrp="1"/>
          </p:cNvSpPr>
          <p:nvPr>
            <p:ph type="body" sz="quarter" idx="35" hasCustomPrompt="1"/>
          </p:nvPr>
        </p:nvSpPr>
        <p:spPr>
          <a:xfrm>
            <a:off x="19659508" y="7943354"/>
            <a:ext cx="3491894"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8" name="Text Placeholder 19">
            <a:extLst>
              <a:ext uri="{FF2B5EF4-FFF2-40B4-BE49-F238E27FC236}">
                <a16:creationId xmlns:a16="http://schemas.microsoft.com/office/drawing/2014/main" id="{E2FA7884-3D92-14BF-D759-0C98BDFE7DCB}"/>
              </a:ext>
            </a:extLst>
          </p:cNvPr>
          <p:cNvSpPr>
            <a:spLocks noGrp="1"/>
          </p:cNvSpPr>
          <p:nvPr>
            <p:ph type="body" sz="quarter" idx="36" hasCustomPrompt="1"/>
          </p:nvPr>
        </p:nvSpPr>
        <p:spPr>
          <a:xfrm>
            <a:off x="19669561" y="7032372"/>
            <a:ext cx="3481841"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06</a:t>
            </a:r>
          </a:p>
        </p:txBody>
      </p:sp>
      <p:sp>
        <p:nvSpPr>
          <p:cNvPr id="39" name="Text Placeholder 19">
            <a:extLst>
              <a:ext uri="{FF2B5EF4-FFF2-40B4-BE49-F238E27FC236}">
                <a16:creationId xmlns:a16="http://schemas.microsoft.com/office/drawing/2014/main" id="{3D6EAA8B-2A11-3BCC-1EEE-C55751C4D2FD}"/>
              </a:ext>
            </a:extLst>
          </p:cNvPr>
          <p:cNvSpPr>
            <a:spLocks noGrp="1"/>
          </p:cNvSpPr>
          <p:nvPr>
            <p:ph type="body" sz="quarter" idx="37" hasCustomPrompt="1"/>
          </p:nvPr>
        </p:nvSpPr>
        <p:spPr>
          <a:xfrm>
            <a:off x="19659509" y="8740532"/>
            <a:ext cx="3491894"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2800"/>
              </a:lnSpc>
              <a:buNone/>
            </a:pPr>
            <a:r>
              <a:rPr lang="en-US" sz="2000" b="1">
                <a:solidFill>
                  <a:srgbClr val="0F0F0F">
                    <a:alpha val="100000"/>
                  </a:srgbClr>
                </a:solidFill>
                <a:latin typeface="Segoe UI Variable Text Semibold" pitchFamily="2" charset="0"/>
                <a:ea typeface="Segoe UI Variable Text Semibold" pitchFamily="34" charset="-122"/>
                <a:cs typeface="Segoe UI Variable Text Semibold" pitchFamily="34" charset="-120"/>
              </a:rPr>
              <a:t>Tomorrow, AI becomes both a partner and a facilitator of the team, which mind melds their perspectives for faster shared vision to product.</a:t>
            </a:r>
            <a:endParaRPr lang="en-US" sz="2000" b="1">
              <a:latin typeface="Segoe UI Variable Text Semibold" pitchFamily="2" charset="0"/>
            </a:endParaRPr>
          </a:p>
        </p:txBody>
      </p:sp>
    </p:spTree>
    <p:extLst>
      <p:ext uri="{BB962C8B-B14F-4D97-AF65-F5344CB8AC3E}">
        <p14:creationId xmlns:p14="http://schemas.microsoft.com/office/powerpoint/2010/main" val="26894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view 1">
    <p:bg>
      <p:bgPr>
        <a:solidFill>
          <a:schemeClr val="accent4"/>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CCBE980-1166-D64C-2757-75952975A306}"/>
              </a:ext>
            </a:extLst>
          </p:cNvPr>
          <p:cNvSpPr/>
          <p:nvPr userDrawn="1"/>
        </p:nvSpPr>
        <p:spPr>
          <a:xfrm>
            <a:off x="1143143" y="1143000"/>
            <a:ext cx="5334667" cy="1117600"/>
          </a:xfrm>
          <a:prstGeom prst="rect">
            <a:avLst/>
          </a:prstGeom>
          <a:noFill/>
          <a:ln/>
        </p:spPr>
        <p:txBody>
          <a:bodyPr/>
          <a:lstStyle/>
          <a:p>
            <a:endParaRPr lang="en-US" b="0" i="0">
              <a:latin typeface="Poppins" pitchFamily="2" charset="77"/>
            </a:endParaRPr>
          </a:p>
        </p:txBody>
      </p:sp>
      <p:sp>
        <p:nvSpPr>
          <p:cNvPr id="2" name="Text Placeholder 19">
            <a:extLst>
              <a:ext uri="{FF2B5EF4-FFF2-40B4-BE49-F238E27FC236}">
                <a16:creationId xmlns:a16="http://schemas.microsoft.com/office/drawing/2014/main" id="{14E009DD-D72C-4B45-F63A-1FE205A080EB}"/>
              </a:ext>
            </a:extLst>
          </p:cNvPr>
          <p:cNvSpPr>
            <a:spLocks noGrp="1"/>
          </p:cNvSpPr>
          <p:nvPr>
            <p:ph type="body" sz="quarter" idx="10" hasCustomPrompt="1"/>
          </p:nvPr>
        </p:nvSpPr>
        <p:spPr>
          <a:xfrm>
            <a:off x="1113658" y="5018767"/>
            <a:ext cx="7010400" cy="1890091"/>
          </a:xfrm>
          <a:prstGeom prst="rect">
            <a:avLst/>
          </a:prstGeom>
        </p:spPr>
        <p:txBody>
          <a:bodyPr/>
          <a:lstStyle>
            <a:lvl1pPr marL="0" indent="0" algn="l" defTabSz="914400" rtl="0" eaLnBrk="1" latinLnBrk="0" hangingPunct="1">
              <a:lnSpc>
                <a:spcPts val="6800"/>
              </a:lnSpc>
              <a:buNone/>
              <a:defRPr lang="en-US" sz="6000" b="0" i="0" kern="0" spc="-120" dirty="0">
                <a:solidFill>
                  <a:srgbClr val="0F0F0F">
                    <a:alpha val="100000"/>
                  </a:srgbClr>
                </a:solidFill>
                <a:latin typeface="Poppins" pitchFamily="2" charset="77"/>
                <a:ea typeface="Segoe UI Variable Display Bold" pitchFamily="34" charset="-122"/>
                <a:cs typeface="Poppins" pitchFamily="2" charset="77"/>
              </a:defRPr>
            </a:lvl1pPr>
          </a:lstStyle>
          <a:p>
            <a:pPr marL="0" indent="0" algn="l">
              <a:lnSpc>
                <a:spcPts val="6800"/>
              </a:lnSpc>
              <a:buNone/>
            </a:pPr>
            <a:r>
              <a:rPr lang="en-US" sz="6000" b="1" kern="0" spc="-120">
                <a:solidFill>
                  <a:srgbClr val="0F0F0F">
                    <a:alpha val="100000"/>
                  </a:srgbClr>
                </a:solidFill>
                <a:latin typeface="Segoe UI Variable Display" pitchFamily="2" charset="0"/>
                <a:ea typeface="Segoe UI Variable Display Bold" pitchFamily="34" charset="-122"/>
                <a:cs typeface="Segoe UI Variable Display Bold" pitchFamily="34" charset="-120"/>
              </a:rPr>
              <a:t>Demo title with just two or three lines</a:t>
            </a:r>
            <a:endParaRPr lang="en-US" sz="6000" b="1">
              <a:latin typeface="Segoe UI Variable Display" pitchFamily="2" charset="0"/>
            </a:endParaRPr>
          </a:p>
        </p:txBody>
      </p:sp>
      <p:sp>
        <p:nvSpPr>
          <p:cNvPr id="4" name="Text Placeholder 19">
            <a:extLst>
              <a:ext uri="{FF2B5EF4-FFF2-40B4-BE49-F238E27FC236}">
                <a16:creationId xmlns:a16="http://schemas.microsoft.com/office/drawing/2014/main" id="{9AC83446-32E5-DE05-6E80-6BA7D80EE26E}"/>
              </a:ext>
            </a:extLst>
          </p:cNvPr>
          <p:cNvSpPr>
            <a:spLocks noGrp="1"/>
          </p:cNvSpPr>
          <p:nvPr>
            <p:ph type="body" sz="quarter" idx="11" hasCustomPrompt="1"/>
          </p:nvPr>
        </p:nvSpPr>
        <p:spPr>
          <a:xfrm>
            <a:off x="1113658" y="6968729"/>
            <a:ext cx="7010400" cy="939800"/>
          </a:xfrm>
          <a:prstGeom prst="rect">
            <a:avLst/>
          </a:prstGeom>
        </p:spPr>
        <p:txBody>
          <a:bodyPr/>
          <a:lstStyle>
            <a:lvl1pPr marL="0" indent="0" algn="l" defTabSz="914400" rtl="0" eaLnBrk="1" latinLnBrk="0" hangingPunct="1">
              <a:lnSpc>
                <a:spcPts val="3600"/>
              </a:lnSpc>
              <a:buNone/>
              <a:defRPr lang="en-US" sz="2800" b="0" i="0" kern="0" spc="-56" dirty="0">
                <a:solidFill>
                  <a:schemeClr val="tx2"/>
                </a:solidFill>
                <a:latin typeface="Aptos" panose="020B0004020202020204" pitchFamily="34" charset="0"/>
                <a:ea typeface="+mn-ea"/>
                <a:cs typeface="+mn-cs"/>
              </a:defRPr>
            </a:lvl1pPr>
          </a:lstStyle>
          <a:p>
            <a:pPr marL="0" indent="0" algn="l">
              <a:lnSpc>
                <a:spcPts val="3600"/>
              </a:lnSpc>
              <a:buNone/>
            </a:pPr>
            <a:r>
              <a:rPr lang="en-US" sz="2800" kern="0" spc="-56">
                <a:solidFill>
                  <a:schemeClr val="tx2"/>
                </a:solidFill>
                <a:latin typeface="Segoe UI Variable Display Semibold" pitchFamily="34" charset="0"/>
              </a:rPr>
              <a:t>Short list or description</a:t>
            </a:r>
          </a:p>
        </p:txBody>
      </p:sp>
      <p:sp>
        <p:nvSpPr>
          <p:cNvPr id="16" name="Text Placeholder 19">
            <a:extLst>
              <a:ext uri="{FF2B5EF4-FFF2-40B4-BE49-F238E27FC236}">
                <a16:creationId xmlns:a16="http://schemas.microsoft.com/office/drawing/2014/main" id="{AB42CAD9-06F1-08CF-1BDC-B4B1C7C1A92C}"/>
              </a:ext>
            </a:extLst>
          </p:cNvPr>
          <p:cNvSpPr>
            <a:spLocks noGrp="1"/>
          </p:cNvSpPr>
          <p:nvPr>
            <p:ph type="body" sz="quarter" idx="27" hasCustomPrompt="1"/>
          </p:nvPr>
        </p:nvSpPr>
        <p:spPr>
          <a:xfrm>
            <a:off x="1113658" y="3274791"/>
            <a:ext cx="7010400" cy="39550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marL="0" marR="0" lvl="0" indent="0" algn="l" defTabSz="914400" rtl="0" eaLnBrk="1" fontAlgn="auto" latinLnBrk="0" hangingPunct="1">
              <a:lnSpc>
                <a:spcPts val="2800"/>
              </a:lnSpc>
              <a:spcBef>
                <a:spcPct val="20000"/>
              </a:spcBef>
              <a:spcAft>
                <a:spcPts val="0"/>
              </a:spcAft>
              <a:buClrTx/>
              <a:buSzTx/>
              <a:buFont typeface="Arial" pitchFamily="34" charset="0"/>
              <a:buNone/>
              <a:tabLst/>
              <a:defRPr/>
            </a:pPr>
            <a:r>
              <a:rPr lang="en-US" sz="200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Public Preview / Q2 2025</a:t>
            </a:r>
            <a:endParaRPr lang="en-US" sz="2000"/>
          </a:p>
        </p:txBody>
      </p:sp>
      <p:sp>
        <p:nvSpPr>
          <p:cNvPr id="6" name="Picture Placeholder 5">
            <a:extLst>
              <a:ext uri="{FF2B5EF4-FFF2-40B4-BE49-F238E27FC236}">
                <a16:creationId xmlns:a16="http://schemas.microsoft.com/office/drawing/2014/main" id="{07CE0F48-F10D-F23F-D764-4E5E986157A6}"/>
              </a:ext>
            </a:extLst>
          </p:cNvPr>
          <p:cNvSpPr>
            <a:spLocks noGrp="1"/>
          </p:cNvSpPr>
          <p:nvPr>
            <p:ph type="pic" sz="quarter" idx="28"/>
          </p:nvPr>
        </p:nvSpPr>
        <p:spPr>
          <a:xfrm>
            <a:off x="10544175" y="1143000"/>
            <a:ext cx="12687300" cy="11315700"/>
          </a:xfrm>
          <a:prstGeom prst="roundRect">
            <a:avLst>
              <a:gd name="adj" fmla="val 3536"/>
            </a:avLst>
          </a:prstGeom>
          <a:solidFill>
            <a:schemeClr val="bg1"/>
          </a:solidFill>
          <a:ln w="38100">
            <a:gradFill>
              <a:gsLst>
                <a:gs pos="0">
                  <a:schemeClr val="accent3"/>
                </a:gs>
                <a:gs pos="32000">
                  <a:schemeClr val="accent6"/>
                </a:gs>
                <a:gs pos="65000">
                  <a:srgbClr val="8853F0"/>
                </a:gs>
                <a:gs pos="100000">
                  <a:schemeClr val="accent1"/>
                </a:gs>
              </a:gsLst>
              <a:lin ang="3000000" scaled="0"/>
            </a:gradFill>
          </a:ln>
          <a:effectLst>
            <a:glow rad="254000">
              <a:schemeClr val="accent4">
                <a:alpha val="9137"/>
              </a:schemeClr>
            </a:glow>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lvl1pPr>
              <a:defRPr lang="en-US" sz="1800" b="0" i="0">
                <a:solidFill>
                  <a:schemeClr val="lt1"/>
                </a:solidFill>
                <a:latin typeface="Poppins" pitchFamily="2" charset="77"/>
              </a:defRPr>
            </a:lvl1pPr>
          </a:lstStyle>
          <a:p>
            <a:pPr marL="0" lvl="0" algn="ctr"/>
            <a:endParaRPr lang="en-US"/>
          </a:p>
        </p:txBody>
      </p:sp>
    </p:spTree>
    <p:extLst>
      <p:ext uri="{BB962C8B-B14F-4D97-AF65-F5344CB8AC3E}">
        <p14:creationId xmlns:p14="http://schemas.microsoft.com/office/powerpoint/2010/main" val="3154040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sp>
        <p:nvSpPr>
          <p:cNvPr id="7" name="Text Placeholder 19">
            <a:extLst>
              <a:ext uri="{FF2B5EF4-FFF2-40B4-BE49-F238E27FC236}">
                <a16:creationId xmlns:a16="http://schemas.microsoft.com/office/drawing/2014/main" id="{1461B076-F1DB-DF34-533D-41856753CE9B}"/>
              </a:ext>
            </a:extLst>
          </p:cNvPr>
          <p:cNvSpPr>
            <a:spLocks noGrp="1"/>
          </p:cNvSpPr>
          <p:nvPr>
            <p:ph type="body" sz="quarter" idx="16" hasCustomPrompt="1"/>
          </p:nvPr>
        </p:nvSpPr>
        <p:spPr>
          <a:xfrm>
            <a:off x="10447640" y="7986983"/>
            <a:ext cx="3491894" cy="515397"/>
          </a:xfrm>
          <a:prstGeom prst="rect">
            <a:avLst/>
          </a:prstGeom>
        </p:spPr>
        <p:txBody>
          <a:bodyPr/>
          <a:lstStyle>
            <a:lvl1pPr marL="0" indent="0" algn="ctr"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marL="0" indent="0" algn="ctr">
              <a:lnSpc>
                <a:spcPts val="4400"/>
              </a:lnSpc>
              <a:buNone/>
            </a:pPr>
            <a:r>
              <a:rPr lang="en-US" sz="3600" kern="0" spc="-72">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Speaker name</a:t>
            </a:r>
            <a:endParaRPr lang="en-US" sz="3600"/>
          </a:p>
        </p:txBody>
      </p:sp>
      <p:sp>
        <p:nvSpPr>
          <p:cNvPr id="10" name="Text Placeholder 19">
            <a:extLst>
              <a:ext uri="{FF2B5EF4-FFF2-40B4-BE49-F238E27FC236}">
                <a16:creationId xmlns:a16="http://schemas.microsoft.com/office/drawing/2014/main" id="{2CB1C28C-300D-5125-D7BA-B821E0A0C1D0}"/>
              </a:ext>
            </a:extLst>
          </p:cNvPr>
          <p:cNvSpPr>
            <a:spLocks noGrp="1"/>
          </p:cNvSpPr>
          <p:nvPr>
            <p:ph type="body" sz="quarter" idx="23" hasCustomPrompt="1"/>
          </p:nvPr>
        </p:nvSpPr>
        <p:spPr>
          <a:xfrm>
            <a:off x="10447640" y="8529594"/>
            <a:ext cx="3491894" cy="515397"/>
          </a:xfrm>
          <a:prstGeom prst="rect">
            <a:avLst/>
          </a:prstGeom>
        </p:spPr>
        <p:txBody>
          <a:bodyPr/>
          <a:lstStyle>
            <a:lvl1pPr marL="0" indent="0" algn="ctr"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marL="0" indent="0" algn="ctr">
              <a:lnSpc>
                <a:spcPts val="4400"/>
              </a:lnSpc>
              <a:buNone/>
            </a:pPr>
            <a:r>
              <a:rPr lang="en-US" sz="3600" kern="0" spc="-72">
                <a:solidFill>
                  <a:srgbClr val="7E7E7E">
                    <a:alpha val="100000"/>
                  </a:srgbClr>
                </a:solidFill>
                <a:latin typeface="Segoe UI Variable Display Semibold" pitchFamily="34" charset="0"/>
                <a:ea typeface="Segoe UI Variable Display Semibold" pitchFamily="34" charset="-122"/>
                <a:cs typeface="Segoe UI Variable Display Semibold" pitchFamily="34" charset="-120"/>
              </a:rPr>
              <a:t>Title</a:t>
            </a:r>
            <a:endParaRPr lang="en-US" sz="3600"/>
          </a:p>
        </p:txBody>
      </p:sp>
      <p:sp>
        <p:nvSpPr>
          <p:cNvPr id="3" name="Picture Placeholder 2">
            <a:extLst>
              <a:ext uri="{FF2B5EF4-FFF2-40B4-BE49-F238E27FC236}">
                <a16:creationId xmlns:a16="http://schemas.microsoft.com/office/drawing/2014/main" id="{4C6FFFD9-3411-3D2C-CC57-DDEB3BE71656}"/>
              </a:ext>
            </a:extLst>
          </p:cNvPr>
          <p:cNvSpPr>
            <a:spLocks noGrp="1"/>
          </p:cNvSpPr>
          <p:nvPr>
            <p:ph type="pic" sz="quarter" idx="24"/>
          </p:nvPr>
        </p:nvSpPr>
        <p:spPr>
          <a:xfrm>
            <a:off x="10499722" y="4335461"/>
            <a:ext cx="3387728" cy="3387728"/>
          </a:xfrm>
          <a:prstGeom prst="ellipse">
            <a:avLst/>
          </a:prstGeom>
        </p:spPr>
        <p:txBody>
          <a:bodyPr/>
          <a:lstStyle>
            <a:lvl1pPr>
              <a:defRPr b="0" i="0">
                <a:latin typeface="Poppins" pitchFamily="2" charset="77"/>
              </a:defRPr>
            </a:lvl1pPr>
          </a:lstStyle>
          <a:p>
            <a:endParaRPr lang="en-US"/>
          </a:p>
        </p:txBody>
      </p:sp>
    </p:spTree>
    <p:extLst>
      <p:ext uri="{BB962C8B-B14F-4D97-AF65-F5344CB8AC3E}">
        <p14:creationId xmlns:p14="http://schemas.microsoft.com/office/powerpoint/2010/main" val="2436832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umber highlights">
    <p:bg>
      <p:bgPr>
        <a:solidFill>
          <a:schemeClr val="accent4"/>
        </a:solidFill>
        <a:effectLst/>
      </p:bgPr>
    </p:bg>
    <p:spTree>
      <p:nvGrpSpPr>
        <p:cNvPr id="1" name=""/>
        <p:cNvGrpSpPr/>
        <p:nvPr/>
      </p:nvGrpSpPr>
      <p:grpSpPr>
        <a:xfrm>
          <a:off x="0" y="0"/>
          <a:ext cx="0" cy="0"/>
          <a:chOff x="0" y="0"/>
          <a:chExt cx="0" cy="0"/>
        </a:xfrm>
      </p:grpSpPr>
      <p:sp>
        <p:nvSpPr>
          <p:cNvPr id="11" name="Text Placeholder 19">
            <a:extLst>
              <a:ext uri="{FF2B5EF4-FFF2-40B4-BE49-F238E27FC236}">
                <a16:creationId xmlns:a16="http://schemas.microsoft.com/office/drawing/2014/main" id="{9073EC8E-C16E-D369-C042-2F3F25A69CC5}"/>
              </a:ext>
            </a:extLst>
          </p:cNvPr>
          <p:cNvSpPr>
            <a:spLocks noGrp="1"/>
          </p:cNvSpPr>
          <p:nvPr>
            <p:ph type="body" sz="quarter" idx="10" hasCustomPrompt="1"/>
          </p:nvPr>
        </p:nvSpPr>
        <p:spPr>
          <a:xfrm>
            <a:off x="1140565" y="1066800"/>
            <a:ext cx="7010400" cy="939800"/>
          </a:xfrm>
          <a:prstGeom prst="rect">
            <a:avLst/>
          </a:prstGeom>
        </p:spPr>
        <p:txBody>
          <a:bodyPr/>
          <a:lstStyle>
            <a:lvl1pPr marL="0" indent="0" algn="l" defTabSz="914400" rtl="0" eaLnBrk="1" latinLnBrk="0" hangingPunct="1">
              <a:lnSpc>
                <a:spcPts val="6800"/>
              </a:lnSpc>
              <a:buNone/>
              <a:defRPr lang="en-US" sz="6000" b="1"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12" name="Text Placeholder 19">
            <a:extLst>
              <a:ext uri="{FF2B5EF4-FFF2-40B4-BE49-F238E27FC236}">
                <a16:creationId xmlns:a16="http://schemas.microsoft.com/office/drawing/2014/main" id="{27F304CE-B7B7-2431-1DAA-03E066C9AA87}"/>
              </a:ext>
            </a:extLst>
          </p:cNvPr>
          <p:cNvSpPr>
            <a:spLocks noGrp="1"/>
          </p:cNvSpPr>
          <p:nvPr>
            <p:ph type="body" sz="quarter" idx="11" hasCustomPrompt="1"/>
          </p:nvPr>
        </p:nvSpPr>
        <p:spPr>
          <a:xfrm>
            <a:off x="1140565" y="1930400"/>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chemeClr val="tx2"/>
                </a:solidFill>
                <a:latin typeface="Poppins" pitchFamily="2" charset="77"/>
                <a:ea typeface="Poppins" pitchFamily="2" charset="77"/>
                <a:cs typeface="Poppins" pitchFamily="2" charset="77"/>
              </a:defRPr>
            </a:lvl1pPr>
          </a:lstStyle>
          <a:p>
            <a:pPr lvl="0"/>
            <a:r>
              <a:rPr lang="en-US"/>
              <a:t>Subtitle</a:t>
            </a:r>
          </a:p>
          <a:p>
            <a:pPr lvl="0"/>
            <a:endParaRPr lang="en-US"/>
          </a:p>
        </p:txBody>
      </p:sp>
      <p:sp>
        <p:nvSpPr>
          <p:cNvPr id="13" name="Text Placeholder 19">
            <a:extLst>
              <a:ext uri="{FF2B5EF4-FFF2-40B4-BE49-F238E27FC236}">
                <a16:creationId xmlns:a16="http://schemas.microsoft.com/office/drawing/2014/main" id="{F459794F-CF1D-32FA-2AD2-76F30746163B}"/>
              </a:ext>
            </a:extLst>
          </p:cNvPr>
          <p:cNvSpPr>
            <a:spLocks noGrp="1"/>
          </p:cNvSpPr>
          <p:nvPr>
            <p:ph type="body" sz="quarter" idx="13" hasCustomPrompt="1"/>
          </p:nvPr>
        </p:nvSpPr>
        <p:spPr>
          <a:xfrm>
            <a:off x="9742118" y="1130302"/>
            <a:ext cx="7010400" cy="800098"/>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New features in new release</a:t>
            </a:r>
          </a:p>
        </p:txBody>
      </p:sp>
      <p:sp>
        <p:nvSpPr>
          <p:cNvPr id="14" name="Text Placeholder 19">
            <a:extLst>
              <a:ext uri="{FF2B5EF4-FFF2-40B4-BE49-F238E27FC236}">
                <a16:creationId xmlns:a16="http://schemas.microsoft.com/office/drawing/2014/main" id="{09EF05C4-F9A2-413D-F49D-C452C0BE0F33}"/>
              </a:ext>
            </a:extLst>
          </p:cNvPr>
          <p:cNvSpPr>
            <a:spLocks noGrp="1"/>
          </p:cNvSpPr>
          <p:nvPr>
            <p:ph type="body" sz="quarter" idx="14" hasCustomPrompt="1"/>
          </p:nvPr>
        </p:nvSpPr>
        <p:spPr>
          <a:xfrm>
            <a:off x="8693247" y="6686551"/>
            <a:ext cx="7010400" cy="800098"/>
          </a:xfrm>
          <a:prstGeom prst="rect">
            <a:avLst/>
          </a:prstGeom>
        </p:spPr>
        <p:txBody>
          <a:bodyPr/>
          <a:lstStyle>
            <a:lvl1pPr marL="0" indent="0" algn="ctr"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r>
              <a:rPr lang="en-US"/>
              <a:t>of users prefer Microsoft</a:t>
            </a:r>
          </a:p>
        </p:txBody>
      </p:sp>
      <p:sp>
        <p:nvSpPr>
          <p:cNvPr id="4" name="Text Placeholder 3">
            <a:extLst>
              <a:ext uri="{FF2B5EF4-FFF2-40B4-BE49-F238E27FC236}">
                <a16:creationId xmlns:a16="http://schemas.microsoft.com/office/drawing/2014/main" id="{036E970A-38F0-9044-9A1F-FB9CF8012B4F}"/>
              </a:ext>
            </a:extLst>
          </p:cNvPr>
          <p:cNvSpPr>
            <a:spLocks noGrp="1"/>
          </p:cNvSpPr>
          <p:nvPr>
            <p:ph type="body" sz="quarter" idx="17" hasCustomPrompt="1"/>
          </p:nvPr>
        </p:nvSpPr>
        <p:spPr>
          <a:xfrm>
            <a:off x="8693247" y="5275385"/>
            <a:ext cx="7010400" cy="1306286"/>
          </a:xfrm>
          <a:prstGeom prst="rect">
            <a:avLst/>
          </a:prstGeom>
        </p:spPr>
        <p:txBody>
          <a:bodyPr/>
          <a:lstStyle>
            <a:lvl1pPr marL="0" indent="0" algn="ctr" defTabSz="914400" rtl="0" eaLnBrk="1" latinLnBrk="0" hangingPunct="1">
              <a:lnSpc>
                <a:spcPts val="10800"/>
              </a:lnSpc>
              <a:buNone/>
              <a:defRPr lang="en-US" sz="10000" b="1" i="0" kern="0" spc="-400" dirty="0">
                <a:solidFill>
                  <a:schemeClr val="tx2"/>
                </a:solidFill>
                <a:latin typeface="Poppins" pitchFamily="2" charset="77"/>
                <a:ea typeface="Segoe UI Variable Display Bold" pitchFamily="34" charset="-122"/>
                <a:cs typeface="Segoe UI Variable Display Bold" pitchFamily="34" charset="-120"/>
              </a:defRPr>
            </a:lvl1pPr>
          </a:lstStyle>
          <a:p>
            <a:pPr lvl="0"/>
            <a:r>
              <a:rPr lang="en-US"/>
              <a:t>95%</a:t>
            </a:r>
          </a:p>
        </p:txBody>
      </p:sp>
      <p:sp>
        <p:nvSpPr>
          <p:cNvPr id="8" name="Text Placeholder 19">
            <a:extLst>
              <a:ext uri="{FF2B5EF4-FFF2-40B4-BE49-F238E27FC236}">
                <a16:creationId xmlns:a16="http://schemas.microsoft.com/office/drawing/2014/main" id="{A947F27F-37AA-5A6B-6FC1-993683EEAA08}"/>
              </a:ext>
            </a:extLst>
          </p:cNvPr>
          <p:cNvSpPr>
            <a:spLocks noGrp="1"/>
          </p:cNvSpPr>
          <p:nvPr>
            <p:ph type="body" sz="quarter" idx="18" hasCustomPrompt="1"/>
          </p:nvPr>
        </p:nvSpPr>
        <p:spPr>
          <a:xfrm>
            <a:off x="1227322" y="6686551"/>
            <a:ext cx="7010400" cy="800098"/>
          </a:xfrm>
          <a:prstGeom prst="rect">
            <a:avLst/>
          </a:prstGeom>
        </p:spPr>
        <p:txBody>
          <a:bodyPr/>
          <a:lstStyle>
            <a:lvl1pPr marL="0" indent="0" algn="ctr"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r>
              <a:rPr lang="en-US"/>
              <a:t>of users prefer Microsoft</a:t>
            </a:r>
          </a:p>
        </p:txBody>
      </p:sp>
      <p:sp>
        <p:nvSpPr>
          <p:cNvPr id="16" name="Text Placeholder 3">
            <a:extLst>
              <a:ext uri="{FF2B5EF4-FFF2-40B4-BE49-F238E27FC236}">
                <a16:creationId xmlns:a16="http://schemas.microsoft.com/office/drawing/2014/main" id="{1FB3D27F-3AC7-6D93-0F65-54170E7AE847}"/>
              </a:ext>
            </a:extLst>
          </p:cNvPr>
          <p:cNvSpPr>
            <a:spLocks noGrp="1"/>
          </p:cNvSpPr>
          <p:nvPr>
            <p:ph type="body" sz="quarter" idx="19" hasCustomPrompt="1"/>
          </p:nvPr>
        </p:nvSpPr>
        <p:spPr>
          <a:xfrm>
            <a:off x="1227322" y="5275385"/>
            <a:ext cx="7010400" cy="1306286"/>
          </a:xfrm>
          <a:prstGeom prst="rect">
            <a:avLst/>
          </a:prstGeom>
        </p:spPr>
        <p:txBody>
          <a:bodyPr/>
          <a:lstStyle>
            <a:lvl1pPr marL="0" indent="0" algn="ctr" defTabSz="914400" rtl="0" eaLnBrk="1" latinLnBrk="0" hangingPunct="1">
              <a:lnSpc>
                <a:spcPts val="10800"/>
              </a:lnSpc>
              <a:buNone/>
              <a:defRPr lang="en-US" sz="10000" b="1" i="0" kern="0" spc="-400" dirty="0">
                <a:solidFill>
                  <a:schemeClr val="tx2"/>
                </a:solidFill>
                <a:latin typeface="Poppins" pitchFamily="2" charset="77"/>
                <a:ea typeface="Segoe UI Variable Display Bold" pitchFamily="34" charset="-122"/>
                <a:cs typeface="Segoe UI Variable Display Bold" pitchFamily="34" charset="-120"/>
              </a:defRPr>
            </a:lvl1pPr>
          </a:lstStyle>
          <a:p>
            <a:pPr lvl="0"/>
            <a:r>
              <a:rPr lang="en-US"/>
              <a:t>95%</a:t>
            </a:r>
          </a:p>
        </p:txBody>
      </p:sp>
      <p:sp>
        <p:nvSpPr>
          <p:cNvPr id="17" name="Text Placeholder 19">
            <a:extLst>
              <a:ext uri="{FF2B5EF4-FFF2-40B4-BE49-F238E27FC236}">
                <a16:creationId xmlns:a16="http://schemas.microsoft.com/office/drawing/2014/main" id="{A7FB7A8B-2C5A-EA02-F0D9-15BCE17F504E}"/>
              </a:ext>
            </a:extLst>
          </p:cNvPr>
          <p:cNvSpPr>
            <a:spLocks noGrp="1"/>
          </p:cNvSpPr>
          <p:nvPr>
            <p:ph type="body" sz="quarter" idx="20" hasCustomPrompt="1"/>
          </p:nvPr>
        </p:nvSpPr>
        <p:spPr>
          <a:xfrm>
            <a:off x="16108930" y="6686551"/>
            <a:ext cx="7010400" cy="800098"/>
          </a:xfrm>
          <a:prstGeom prst="rect">
            <a:avLst/>
          </a:prstGeom>
        </p:spPr>
        <p:txBody>
          <a:bodyPr/>
          <a:lstStyle>
            <a:lvl1pPr marL="0" indent="0" algn="ctr"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r>
              <a:rPr lang="en-US"/>
              <a:t>of users prefer Microsoft</a:t>
            </a:r>
          </a:p>
        </p:txBody>
      </p:sp>
      <p:sp>
        <p:nvSpPr>
          <p:cNvPr id="18" name="Text Placeholder 3">
            <a:extLst>
              <a:ext uri="{FF2B5EF4-FFF2-40B4-BE49-F238E27FC236}">
                <a16:creationId xmlns:a16="http://schemas.microsoft.com/office/drawing/2014/main" id="{94FC965F-C728-DFAE-51FC-465EA5E7E461}"/>
              </a:ext>
            </a:extLst>
          </p:cNvPr>
          <p:cNvSpPr>
            <a:spLocks noGrp="1"/>
          </p:cNvSpPr>
          <p:nvPr>
            <p:ph type="body" sz="quarter" idx="21" hasCustomPrompt="1"/>
          </p:nvPr>
        </p:nvSpPr>
        <p:spPr>
          <a:xfrm>
            <a:off x="16108930" y="5275385"/>
            <a:ext cx="7010400" cy="1306286"/>
          </a:xfrm>
          <a:prstGeom prst="rect">
            <a:avLst/>
          </a:prstGeom>
        </p:spPr>
        <p:txBody>
          <a:bodyPr/>
          <a:lstStyle>
            <a:lvl1pPr marL="0" indent="0" algn="ctr" defTabSz="914400" rtl="0" eaLnBrk="1" latinLnBrk="0" hangingPunct="1">
              <a:lnSpc>
                <a:spcPts val="10800"/>
              </a:lnSpc>
              <a:buNone/>
              <a:defRPr lang="en-US" sz="10000" b="1" i="0" kern="0" spc="-400" dirty="0">
                <a:solidFill>
                  <a:schemeClr val="tx2"/>
                </a:solidFill>
                <a:latin typeface="Poppins" pitchFamily="2" charset="77"/>
                <a:ea typeface="Segoe UI Variable Display Bold" pitchFamily="34" charset="-122"/>
                <a:cs typeface="Segoe UI Variable Display Bold" pitchFamily="34" charset="-120"/>
              </a:defRPr>
            </a:lvl1pPr>
          </a:lstStyle>
          <a:p>
            <a:pPr lvl="0"/>
            <a:r>
              <a:rPr lang="en-US"/>
              <a:t>95%</a:t>
            </a:r>
          </a:p>
        </p:txBody>
      </p:sp>
    </p:spTree>
    <p:extLst>
      <p:ext uri="{BB962C8B-B14F-4D97-AF65-F5344CB8AC3E}">
        <p14:creationId xmlns:p14="http://schemas.microsoft.com/office/powerpoint/2010/main" val="1948653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oints">
    <p:bg>
      <p:bgPr>
        <a:solidFill>
          <a:schemeClr val="accent4"/>
        </a:solidFill>
        <a:effectLst/>
      </p:bgPr>
    </p:bg>
    <p:spTree>
      <p:nvGrpSpPr>
        <p:cNvPr id="1" name=""/>
        <p:cNvGrpSpPr/>
        <p:nvPr/>
      </p:nvGrpSpPr>
      <p:grpSpPr>
        <a:xfrm>
          <a:off x="0" y="0"/>
          <a:ext cx="0" cy="0"/>
          <a:chOff x="0" y="0"/>
          <a:chExt cx="0" cy="0"/>
        </a:xfrm>
      </p:grpSpPr>
      <p:sp>
        <p:nvSpPr>
          <p:cNvPr id="13" name="Text Placeholder 19">
            <a:extLst>
              <a:ext uri="{FF2B5EF4-FFF2-40B4-BE49-F238E27FC236}">
                <a16:creationId xmlns:a16="http://schemas.microsoft.com/office/drawing/2014/main" id="{C6DE723B-B28B-EBC1-6E40-64BC10424C1F}"/>
              </a:ext>
            </a:extLst>
          </p:cNvPr>
          <p:cNvSpPr>
            <a:spLocks noGrp="1"/>
          </p:cNvSpPr>
          <p:nvPr>
            <p:ph type="body" sz="quarter" idx="13" hasCustomPrompt="1"/>
          </p:nvPr>
        </p:nvSpPr>
        <p:spPr>
          <a:xfrm>
            <a:off x="1083509" y="1103244"/>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chemeClr val="tx2"/>
                </a:solidFill>
                <a:latin typeface="Poppins" pitchFamily="2" charset="77"/>
                <a:ea typeface="Poppins" pitchFamily="2" charset="77"/>
                <a:cs typeface="Poppins" pitchFamily="2" charset="77"/>
              </a:defRPr>
            </a:lvl1pPr>
          </a:lstStyle>
          <a:p>
            <a:pPr lvl="0"/>
            <a:r>
              <a:rPr lang="en-US"/>
              <a:t>Subtitle</a:t>
            </a:r>
          </a:p>
        </p:txBody>
      </p:sp>
      <p:sp>
        <p:nvSpPr>
          <p:cNvPr id="14" name="Text Placeholder 19">
            <a:extLst>
              <a:ext uri="{FF2B5EF4-FFF2-40B4-BE49-F238E27FC236}">
                <a16:creationId xmlns:a16="http://schemas.microsoft.com/office/drawing/2014/main" id="{7C53C2B9-339B-B9CA-D594-88D254F8055D}"/>
              </a:ext>
            </a:extLst>
          </p:cNvPr>
          <p:cNvSpPr>
            <a:spLocks noGrp="1"/>
          </p:cNvSpPr>
          <p:nvPr>
            <p:ph type="body" sz="quarter" idx="15" hasCustomPrompt="1"/>
          </p:nvPr>
        </p:nvSpPr>
        <p:spPr>
          <a:xfrm>
            <a:off x="1083509" y="1659835"/>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 name="Text Placeholder 19">
            <a:extLst>
              <a:ext uri="{FF2B5EF4-FFF2-40B4-BE49-F238E27FC236}">
                <a16:creationId xmlns:a16="http://schemas.microsoft.com/office/drawing/2014/main" id="{8043316E-25FB-DE88-AD4F-20F98B3B997A}"/>
              </a:ext>
            </a:extLst>
          </p:cNvPr>
          <p:cNvSpPr>
            <a:spLocks noGrp="1"/>
          </p:cNvSpPr>
          <p:nvPr>
            <p:ph type="body" sz="quarter" idx="16" hasCustomPrompt="1"/>
          </p:nvPr>
        </p:nvSpPr>
        <p:spPr>
          <a:xfrm>
            <a:off x="1070062" y="5833302"/>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 name="Text Placeholder 19">
            <a:extLst>
              <a:ext uri="{FF2B5EF4-FFF2-40B4-BE49-F238E27FC236}">
                <a16:creationId xmlns:a16="http://schemas.microsoft.com/office/drawing/2014/main" id="{D456C768-C982-33C6-7C49-D561398248C1}"/>
              </a:ext>
            </a:extLst>
          </p:cNvPr>
          <p:cNvSpPr>
            <a:spLocks noGrp="1"/>
          </p:cNvSpPr>
          <p:nvPr>
            <p:ph type="body" sz="quarter" idx="19" hasCustomPrompt="1"/>
          </p:nvPr>
        </p:nvSpPr>
        <p:spPr>
          <a:xfrm>
            <a:off x="1070062" y="5010173"/>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0"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01</a:t>
            </a:r>
          </a:p>
        </p:txBody>
      </p:sp>
      <p:sp>
        <p:nvSpPr>
          <p:cNvPr id="15" name="Text Placeholder 19">
            <a:extLst>
              <a:ext uri="{FF2B5EF4-FFF2-40B4-BE49-F238E27FC236}">
                <a16:creationId xmlns:a16="http://schemas.microsoft.com/office/drawing/2014/main" id="{1B974D2C-78C7-F41F-50A2-1A7B942FDBC6}"/>
              </a:ext>
            </a:extLst>
          </p:cNvPr>
          <p:cNvSpPr>
            <a:spLocks noGrp="1"/>
          </p:cNvSpPr>
          <p:nvPr>
            <p:ph type="body" sz="quarter" idx="22" hasCustomPrompt="1"/>
          </p:nvPr>
        </p:nvSpPr>
        <p:spPr>
          <a:xfrm>
            <a:off x="1070062" y="6648782"/>
            <a:ext cx="7010400"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Aptos" panose="020B0004020202020204" pitchFamily="34" charset="0"/>
                <a:cs typeface="Poppins" pitchFamily="2" charset="77"/>
              </a:defRPr>
            </a:lvl1pPr>
          </a:lstStyle>
          <a:p>
            <a:r>
              <a:rPr lang="en-US" sz="2000" b="0"/>
              <a:t>Baking security and trust into the development process ensures that all AI-driven tools and applications are built with security measures integrated from the beginning, protecting both the developers and the end-users.</a:t>
            </a:r>
            <a:endParaRPr lang="en-US" sz="2000" b="1">
              <a:latin typeface="Segoe UI Variable Text Semibold" pitchFamily="2" charset="0"/>
            </a:endParaRPr>
          </a:p>
        </p:txBody>
      </p:sp>
      <p:sp>
        <p:nvSpPr>
          <p:cNvPr id="16" name="Text Placeholder 19">
            <a:extLst>
              <a:ext uri="{FF2B5EF4-FFF2-40B4-BE49-F238E27FC236}">
                <a16:creationId xmlns:a16="http://schemas.microsoft.com/office/drawing/2014/main" id="{9883040D-98E9-F2A7-257B-F14720A80387}"/>
              </a:ext>
            </a:extLst>
          </p:cNvPr>
          <p:cNvSpPr>
            <a:spLocks noGrp="1"/>
          </p:cNvSpPr>
          <p:nvPr>
            <p:ph type="body" sz="quarter" idx="23" hasCustomPrompt="1"/>
          </p:nvPr>
        </p:nvSpPr>
        <p:spPr>
          <a:xfrm>
            <a:off x="8505842" y="5833302"/>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17" name="Text Placeholder 19">
            <a:extLst>
              <a:ext uri="{FF2B5EF4-FFF2-40B4-BE49-F238E27FC236}">
                <a16:creationId xmlns:a16="http://schemas.microsoft.com/office/drawing/2014/main" id="{AE7DEE54-3A47-CB75-F874-A91FD60BB0DB}"/>
              </a:ext>
            </a:extLst>
          </p:cNvPr>
          <p:cNvSpPr>
            <a:spLocks noGrp="1"/>
          </p:cNvSpPr>
          <p:nvPr>
            <p:ph type="body" sz="quarter" idx="24" hasCustomPrompt="1"/>
          </p:nvPr>
        </p:nvSpPr>
        <p:spPr>
          <a:xfrm>
            <a:off x="8505842" y="5010173"/>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0"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02</a:t>
            </a:r>
          </a:p>
        </p:txBody>
      </p:sp>
      <p:sp>
        <p:nvSpPr>
          <p:cNvPr id="18" name="Text Placeholder 19">
            <a:extLst>
              <a:ext uri="{FF2B5EF4-FFF2-40B4-BE49-F238E27FC236}">
                <a16:creationId xmlns:a16="http://schemas.microsoft.com/office/drawing/2014/main" id="{26F0B1DE-112E-38F1-6C3B-F0F2C61D4AAD}"/>
              </a:ext>
            </a:extLst>
          </p:cNvPr>
          <p:cNvSpPr>
            <a:spLocks noGrp="1"/>
          </p:cNvSpPr>
          <p:nvPr>
            <p:ph type="body" sz="quarter" idx="25" hasCustomPrompt="1"/>
          </p:nvPr>
        </p:nvSpPr>
        <p:spPr>
          <a:xfrm>
            <a:off x="8505842" y="6648782"/>
            <a:ext cx="7010400"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Aptos" panose="020B0004020202020204" pitchFamily="34" charset="0"/>
                <a:cs typeface="Poppins" pitchFamily="2" charset="77"/>
              </a:defRPr>
            </a:lvl1pPr>
          </a:lstStyle>
          <a:p>
            <a:r>
              <a:rPr lang="en-US" sz="2000" b="0"/>
              <a:t>Baking security and trust into the development process ensures that all AI-driven tools and applications are built with security measures integrated from the beginning, protecting both the developers and the end-users.</a:t>
            </a:r>
            <a:endParaRPr lang="en-US" sz="2000" b="1">
              <a:latin typeface="Segoe UI Variable Text Semibold" pitchFamily="2" charset="0"/>
            </a:endParaRPr>
          </a:p>
        </p:txBody>
      </p:sp>
      <p:sp>
        <p:nvSpPr>
          <p:cNvPr id="19" name="Text Placeholder 19">
            <a:extLst>
              <a:ext uri="{FF2B5EF4-FFF2-40B4-BE49-F238E27FC236}">
                <a16:creationId xmlns:a16="http://schemas.microsoft.com/office/drawing/2014/main" id="{5E392566-4156-546D-8627-009FDB5AE192}"/>
              </a:ext>
            </a:extLst>
          </p:cNvPr>
          <p:cNvSpPr>
            <a:spLocks noGrp="1"/>
          </p:cNvSpPr>
          <p:nvPr>
            <p:ph type="body" sz="quarter" idx="26" hasCustomPrompt="1"/>
          </p:nvPr>
        </p:nvSpPr>
        <p:spPr>
          <a:xfrm>
            <a:off x="15941623" y="5833302"/>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0" name="Text Placeholder 19">
            <a:extLst>
              <a:ext uri="{FF2B5EF4-FFF2-40B4-BE49-F238E27FC236}">
                <a16:creationId xmlns:a16="http://schemas.microsoft.com/office/drawing/2014/main" id="{824137E5-8D8D-F109-8E17-8ED6B89B09C7}"/>
              </a:ext>
            </a:extLst>
          </p:cNvPr>
          <p:cNvSpPr>
            <a:spLocks noGrp="1"/>
          </p:cNvSpPr>
          <p:nvPr>
            <p:ph type="body" sz="quarter" idx="27" hasCustomPrompt="1"/>
          </p:nvPr>
        </p:nvSpPr>
        <p:spPr>
          <a:xfrm>
            <a:off x="15941623" y="5010173"/>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0"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03</a:t>
            </a:r>
          </a:p>
        </p:txBody>
      </p:sp>
      <p:sp>
        <p:nvSpPr>
          <p:cNvPr id="21" name="Text Placeholder 19">
            <a:extLst>
              <a:ext uri="{FF2B5EF4-FFF2-40B4-BE49-F238E27FC236}">
                <a16:creationId xmlns:a16="http://schemas.microsoft.com/office/drawing/2014/main" id="{2918D071-5763-5909-A6AB-183AEBADCE69}"/>
              </a:ext>
            </a:extLst>
          </p:cNvPr>
          <p:cNvSpPr>
            <a:spLocks noGrp="1"/>
          </p:cNvSpPr>
          <p:nvPr>
            <p:ph type="body" sz="quarter" idx="28" hasCustomPrompt="1"/>
          </p:nvPr>
        </p:nvSpPr>
        <p:spPr>
          <a:xfrm>
            <a:off x="15941623" y="6648782"/>
            <a:ext cx="7010400"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Aptos" panose="020B0004020202020204" pitchFamily="34" charset="0"/>
                <a:cs typeface="Poppins" pitchFamily="2" charset="77"/>
              </a:defRPr>
            </a:lvl1pPr>
          </a:lstStyle>
          <a:p>
            <a:r>
              <a:rPr lang="en-US" sz="2000" b="0"/>
              <a:t>Baking security and trust into the development process ensures that all AI-driven tools and applications are built with security measures integrated from the beginning, protecting both the developers and the end-users.</a:t>
            </a:r>
            <a:endParaRPr lang="en-US" sz="2000" b="1">
              <a:latin typeface="Segoe UI Variable Text Semibold" pitchFamily="2" charset="0"/>
            </a:endParaRPr>
          </a:p>
        </p:txBody>
      </p:sp>
    </p:spTree>
    <p:extLst>
      <p:ext uri="{BB962C8B-B14F-4D97-AF65-F5344CB8AC3E}">
        <p14:creationId xmlns:p14="http://schemas.microsoft.com/office/powerpoint/2010/main" val="421248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bg>
      <p:bgPr>
        <a:solidFill>
          <a:schemeClr val="accent4"/>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E67ADACF-F79B-A473-9CBA-8A380C9E1801}"/>
              </a:ext>
            </a:extLst>
          </p:cNvPr>
          <p:cNvSpPr/>
          <p:nvPr userDrawn="1"/>
        </p:nvSpPr>
        <p:spPr>
          <a:xfrm>
            <a:off x="1270159" y="2451100"/>
            <a:ext cx="10897962" cy="2590800"/>
          </a:xfrm>
          <a:prstGeom prst="rect">
            <a:avLst/>
          </a:prstGeom>
          <a:noFill/>
          <a:ln/>
        </p:spPr>
        <p:txBody>
          <a:bodyPr/>
          <a:lstStyle/>
          <a:p>
            <a:endParaRPr lang="en-US" b="0" i="0">
              <a:latin typeface="Poppins" pitchFamily="2" charset="77"/>
            </a:endParaRPr>
          </a:p>
        </p:txBody>
      </p:sp>
      <p:sp>
        <p:nvSpPr>
          <p:cNvPr id="8" name="Text Placeholder 19">
            <a:extLst>
              <a:ext uri="{FF2B5EF4-FFF2-40B4-BE49-F238E27FC236}">
                <a16:creationId xmlns:a16="http://schemas.microsoft.com/office/drawing/2014/main" id="{623E3780-FEAF-C145-C230-9D3871E7B7F6}"/>
              </a:ext>
            </a:extLst>
          </p:cNvPr>
          <p:cNvSpPr>
            <a:spLocks noGrp="1"/>
          </p:cNvSpPr>
          <p:nvPr>
            <p:ph type="body" sz="quarter" idx="16" hasCustomPrompt="1"/>
          </p:nvPr>
        </p:nvSpPr>
        <p:spPr>
          <a:xfrm>
            <a:off x="1220787" y="2303337"/>
            <a:ext cx="10646316" cy="4017202"/>
          </a:xfrm>
          <a:prstGeom prst="rect">
            <a:avLst/>
          </a:prstGeom>
        </p:spPr>
        <p:txBody>
          <a:bodyPr/>
          <a:lstStyle>
            <a:lvl1pPr marL="0" indent="0" algn="l" defTabSz="914400" rtl="0" eaLnBrk="1" latinLnBrk="0" hangingPunct="1">
              <a:lnSpc>
                <a:spcPts val="6800"/>
              </a:lnSpc>
              <a:buNone/>
              <a:defRPr lang="en-US" sz="6000" b="0" i="0" kern="0" spc="-72" dirty="0" smtClean="0">
                <a:solidFill>
                  <a:srgbClr val="0F0F0F">
                    <a:alpha val="100000"/>
                  </a:srgbClr>
                </a:solidFill>
                <a:latin typeface="Poppins" pitchFamily="2" charset="77"/>
                <a:ea typeface="Poppins" pitchFamily="2" charset="77"/>
                <a:cs typeface="Poppins" pitchFamily="2" charset="77"/>
              </a:defRPr>
            </a:lvl1pPr>
          </a:lstStyle>
          <a:p>
            <a:r>
              <a:rPr lang="en-US" spc="-120"/>
              <a:t>Azure AI Foundry provides a complete infrastructure for developing AI applications and agents.</a:t>
            </a:r>
            <a:endParaRPr lang="en-US"/>
          </a:p>
        </p:txBody>
      </p:sp>
    </p:spTree>
    <p:extLst>
      <p:ext uri="{BB962C8B-B14F-4D97-AF65-F5344CB8AC3E}">
        <p14:creationId xmlns:p14="http://schemas.microsoft.com/office/powerpoint/2010/main" val="2182487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 plain">
    <p:bg>
      <p:bgPr>
        <a:solidFill>
          <a:schemeClr val="accent4"/>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550BD7-B230-FF35-33EF-CEE98C326F7B}"/>
              </a:ext>
            </a:extLst>
          </p:cNvPr>
          <p:cNvSpPr>
            <a:spLocks noGrp="1"/>
          </p:cNvSpPr>
          <p:nvPr>
            <p:ph type="body" sz="quarter" idx="17" hasCustomPrompt="1"/>
          </p:nvPr>
        </p:nvSpPr>
        <p:spPr>
          <a:xfrm>
            <a:off x="5357493" y="4572000"/>
            <a:ext cx="13672188" cy="4572000"/>
          </a:xfrm>
          <a:prstGeom prst="rect">
            <a:avLst/>
          </a:prstGeom>
        </p:spPr>
        <p:txBody>
          <a:bodyPr anchor="ctr"/>
          <a:lstStyle>
            <a:lvl1pPr marL="0" indent="0" algn="ctr">
              <a:buNone/>
              <a:defRPr lang="en-US" sz="10000" b="1" i="0" kern="0" spc="-120" dirty="0">
                <a:solidFill>
                  <a:srgbClr val="0F0F0F">
                    <a:alpha val="100000"/>
                  </a:srgbClr>
                </a:solidFill>
                <a:latin typeface="Poppins" pitchFamily="2" charset="77"/>
                <a:ea typeface="Poppins" pitchFamily="2" charset="77"/>
                <a:cs typeface="Poppins" pitchFamily="2" charset="77"/>
              </a:defRPr>
            </a:lvl1pPr>
          </a:lstStyle>
          <a:p>
            <a:pPr algn="ctr">
              <a:lnSpc>
                <a:spcPts val="11000"/>
              </a:lnSpc>
              <a:spcBef>
                <a:spcPts val="0"/>
              </a:spcBef>
            </a:pPr>
            <a:r>
              <a:rPr lang="en-US" spc="-120"/>
              <a:t>A large statement </a:t>
            </a:r>
            <a:r>
              <a:rPr lang="en-US" spc="-120">
                <a:solidFill>
                  <a:schemeClr val="accent3">
                    <a:lumMod val="75000"/>
                  </a:schemeClr>
                </a:solidFill>
              </a:rPr>
              <a:t>looks great </a:t>
            </a:r>
            <a:r>
              <a:rPr lang="en-US" spc="-120"/>
              <a:t>with </a:t>
            </a:r>
            <a:br>
              <a:rPr lang="en-US" spc="-120"/>
            </a:br>
            <a:r>
              <a:rPr lang="en-US" spc="-120"/>
              <a:t>10 words or less. </a:t>
            </a:r>
            <a:endParaRPr lang="en-US"/>
          </a:p>
        </p:txBody>
      </p:sp>
    </p:spTree>
    <p:extLst>
      <p:ext uri="{BB962C8B-B14F-4D97-AF65-F5344CB8AC3E}">
        <p14:creationId xmlns:p14="http://schemas.microsoft.com/office/powerpoint/2010/main" val="32414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018E0206-ABFD-233B-CA82-D4589F7C8DBC}"/>
              </a:ext>
            </a:extLst>
          </p:cNvPr>
          <p:cNvSpPr>
            <a:spLocks noGrp="1"/>
          </p:cNvSpPr>
          <p:nvPr>
            <p:ph type="body" sz="quarter" idx="12" hasCustomPrompt="1"/>
          </p:nvPr>
        </p:nvSpPr>
        <p:spPr>
          <a:xfrm>
            <a:off x="2757377" y="6096225"/>
            <a:ext cx="7010400" cy="1289311"/>
          </a:xfrm>
          <a:prstGeom prst="rect">
            <a:avLst/>
          </a:prstGeom>
        </p:spPr>
        <p:txBody>
          <a:bodyPr/>
          <a:lstStyle>
            <a:lvl1pPr marL="0" indent="0" algn="l" defTabSz="914400" rtl="0" eaLnBrk="1" latinLnBrk="0" hangingPunct="1">
              <a:lnSpc>
                <a:spcPts val="10800"/>
              </a:lnSpc>
              <a:buNone/>
              <a:defRPr lang="en-US" sz="10000" b="0" i="0" kern="0" spc="-120" dirty="0" smtClean="0">
                <a:solidFill>
                  <a:schemeClr val="bg1"/>
                </a:solidFill>
                <a:latin typeface="Poppins" pitchFamily="2" charset="77"/>
                <a:ea typeface="Poppins" pitchFamily="2" charset="77"/>
                <a:cs typeface="Poppins" pitchFamily="2" charset="77"/>
              </a:defRPr>
            </a:lvl1pPr>
          </a:lstStyle>
          <a:p>
            <a:pPr marL="0" indent="0" algn="l">
              <a:lnSpc>
                <a:spcPts val="10800"/>
              </a:lnSpc>
              <a:buNone/>
            </a:pPr>
            <a:r>
              <a:rPr lang="en-US" sz="10000" kern="0" spc="-400">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Section title</a:t>
            </a:r>
            <a:endParaRPr lang="en-US" sz="10000"/>
          </a:p>
        </p:txBody>
      </p:sp>
      <p:sp>
        <p:nvSpPr>
          <p:cNvPr id="8" name="Text Placeholder 19">
            <a:extLst>
              <a:ext uri="{FF2B5EF4-FFF2-40B4-BE49-F238E27FC236}">
                <a16:creationId xmlns:a16="http://schemas.microsoft.com/office/drawing/2014/main" id="{3293E78D-709C-33A8-2CDF-C6266EB45DB3}"/>
              </a:ext>
            </a:extLst>
          </p:cNvPr>
          <p:cNvSpPr>
            <a:spLocks noGrp="1"/>
          </p:cNvSpPr>
          <p:nvPr>
            <p:ph type="body" sz="quarter" idx="19" hasCustomPrompt="1"/>
          </p:nvPr>
        </p:nvSpPr>
        <p:spPr>
          <a:xfrm>
            <a:off x="1039105" y="6096226"/>
            <a:ext cx="1553370" cy="1289312"/>
          </a:xfrm>
          <a:prstGeom prst="rect">
            <a:avLst/>
          </a:prstGeom>
        </p:spPr>
        <p:txBody>
          <a:bodyPr/>
          <a:lstStyle>
            <a:lvl1pPr marL="0" indent="0" algn="l" defTabSz="914400" rtl="0" eaLnBrk="1" latinLnBrk="0" hangingPunct="1">
              <a:lnSpc>
                <a:spcPts val="10800"/>
              </a:lnSpc>
              <a:buNone/>
              <a:defRPr lang="en-US" sz="10000" b="0" i="0" kern="0" spc="-400" dirty="0">
                <a:solidFill>
                  <a:schemeClr val="bg1"/>
                </a:solidFill>
                <a:latin typeface="Poppins" pitchFamily="2" charset="77"/>
                <a:ea typeface="Poppins" pitchFamily="2" charset="77"/>
                <a:cs typeface="Poppins" pitchFamily="2" charset="77"/>
              </a:defRPr>
            </a:lvl1pPr>
          </a:lstStyle>
          <a:p>
            <a:pPr lvl="0"/>
            <a:r>
              <a:rPr lang="en-US"/>
              <a:t>01</a:t>
            </a:r>
          </a:p>
        </p:txBody>
      </p:sp>
      <p:pic>
        <p:nvPicPr>
          <p:cNvPr id="3" name="Picture 2" descr="A cartoon robot with a black background&#10;&#10;AI-generated content may be incorrect.">
            <a:extLst>
              <a:ext uri="{FF2B5EF4-FFF2-40B4-BE49-F238E27FC236}">
                <a16:creationId xmlns:a16="http://schemas.microsoft.com/office/drawing/2014/main" id="{A3BA8ED5-DF4E-5505-CDB5-3754020739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621500" y="8761413"/>
            <a:ext cx="4383087" cy="4383087"/>
          </a:xfrm>
          <a:prstGeom prst="rect">
            <a:avLst/>
          </a:prstGeom>
        </p:spPr>
      </p:pic>
    </p:spTree>
    <p:extLst>
      <p:ext uri="{BB962C8B-B14F-4D97-AF65-F5344CB8AC3E}">
        <p14:creationId xmlns:p14="http://schemas.microsoft.com/office/powerpoint/2010/main" val="3973215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solidFill>
        <a:effectLst/>
      </p:bgPr>
    </p:bg>
    <p:spTree>
      <p:nvGrpSpPr>
        <p:cNvPr id="1" name=""/>
        <p:cNvGrpSpPr/>
        <p:nvPr/>
      </p:nvGrpSpPr>
      <p:grpSpPr>
        <a:xfrm>
          <a:off x="0" y="0"/>
          <a:ext cx="0" cy="0"/>
          <a:chOff x="0" y="0"/>
          <a:chExt cx="0" cy="0"/>
        </a:xfrm>
      </p:grpSpPr>
      <p:sp>
        <p:nvSpPr>
          <p:cNvPr id="3" name="Text Placeholder 19">
            <a:extLst>
              <a:ext uri="{FF2B5EF4-FFF2-40B4-BE49-F238E27FC236}">
                <a16:creationId xmlns:a16="http://schemas.microsoft.com/office/drawing/2014/main" id="{D1DA0781-BBE4-E3D7-52FC-37514CB11786}"/>
              </a:ext>
            </a:extLst>
          </p:cNvPr>
          <p:cNvSpPr>
            <a:spLocks noGrp="1"/>
          </p:cNvSpPr>
          <p:nvPr>
            <p:ph type="body" sz="quarter" idx="12" hasCustomPrompt="1"/>
          </p:nvPr>
        </p:nvSpPr>
        <p:spPr>
          <a:xfrm>
            <a:off x="1039108" y="6078642"/>
            <a:ext cx="7010400" cy="1289311"/>
          </a:xfrm>
          <a:prstGeom prst="rect">
            <a:avLst/>
          </a:prstGeom>
        </p:spPr>
        <p:txBody>
          <a:bodyPr/>
          <a:lstStyle>
            <a:lvl1pPr marL="0" indent="0" algn="l" defTabSz="914400" rtl="0" eaLnBrk="1" latinLnBrk="0" hangingPunct="1">
              <a:lnSpc>
                <a:spcPts val="10800"/>
              </a:lnSpc>
              <a:buNone/>
              <a:defRPr lang="en-US" sz="10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10800"/>
              </a:lnSpc>
              <a:buNone/>
            </a:pPr>
            <a:r>
              <a:rPr lang="en-US" sz="10000" kern="0" spc="-400">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Thank you</a:t>
            </a:r>
            <a:endParaRPr lang="en-US" sz="10000"/>
          </a:p>
        </p:txBody>
      </p:sp>
      <p:pic>
        <p:nvPicPr>
          <p:cNvPr id="4" name="Picture 3" descr="A purple square object with white text&#10;&#10;AI-generated content may be incorrect.">
            <a:extLst>
              <a:ext uri="{FF2B5EF4-FFF2-40B4-BE49-F238E27FC236}">
                <a16:creationId xmlns:a16="http://schemas.microsoft.com/office/drawing/2014/main" id="{3B26540F-DF80-70A6-8D1C-3E25E5B356C6}"/>
              </a:ext>
            </a:extLst>
          </p:cNvPr>
          <p:cNvPicPr>
            <a:picLocks noChangeAspect="1"/>
          </p:cNvPicPr>
          <p:nvPr userDrawn="1"/>
        </p:nvPicPr>
        <p:blipFill>
          <a:blip r:embed="rId2"/>
          <a:stretch>
            <a:fillRect/>
          </a:stretch>
        </p:blipFill>
        <p:spPr>
          <a:xfrm>
            <a:off x="6099175" y="1866900"/>
            <a:ext cx="18288000" cy="10287000"/>
          </a:xfrm>
          <a:prstGeom prst="rect">
            <a:avLst/>
          </a:prstGeom>
        </p:spPr>
      </p:pic>
    </p:spTree>
    <p:extLst>
      <p:ext uri="{BB962C8B-B14F-4D97-AF65-F5344CB8AC3E}">
        <p14:creationId xmlns:p14="http://schemas.microsoft.com/office/powerpoint/2010/main" val="2602627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4" r:id="rId1"/>
    <p:sldLayoutId id="2147483651" r:id="rId2"/>
    <p:sldLayoutId id="2147483654" r:id="rId3"/>
    <p:sldLayoutId id="2147483658" r:id="rId4"/>
    <p:sldLayoutId id="2147483660" r:id="rId5"/>
    <p:sldLayoutId id="2147483664" r:id="rId6"/>
    <p:sldLayoutId id="2147483669" r:id="rId7"/>
    <p:sldLayoutId id="2147483670" r:id="rId8"/>
    <p:sldLayoutId id="2147483671" r:id="rId9"/>
    <p:sldLayoutId id="2147483673" r:id="rId10"/>
    <p:sldLayoutId id="2147483656" r:id="rId11"/>
    <p:sldLayoutId id="2147483672"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hyperlink" Target="https://www.cve.org/"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nvd.nist.gov/vuln-metrics/cvss"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cwe.mitre.org/"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nvd.nist.gov/vuln/detail/CVE-2025-26682"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hyperlink" Target="https://github.com/dotnet/runtime/commit/615ee7dcf32cef6e42d6427723cb4c14ca56989a" TargetMode="External"/><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hyperlink" Target="https://github.com/dotnet/runtime/pull/109891" TargetMode="External"/><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hyperlink" Target="https://github.com/dotnet/runtime/pull/109891" TargetMode="External"/><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hyperlink" Target="https://github.com/dotnet/msbuild/pull/12688" TargetMode="External"/><Relationship Id="rId9" Type="http://schemas.openxmlformats.org/officeDocument/2006/relationships/image" Target="../media/image20.png"/></Relationships>
</file>

<file path=ppt/slides/_rels/slide2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runtime/pull/116504" TargetMode="External"/><Relationship Id="rId7" Type="http://schemas.openxmlformats.org/officeDocument/2006/relationships/image" Target="../media/image19.sv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2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9" Type="http://schemas.openxmlformats.org/officeDocument/2006/relationships/hyperlink" Target="https://github.com/dotnet/msbuild/pull/11864"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sdk/commit/e6c1ca796a9bed0ad8beefa3e30f961ed3b59fcf" TargetMode="External"/><Relationship Id="rId7" Type="http://schemas.openxmlformats.org/officeDocument/2006/relationships/image" Target="../media/image19.sv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2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runtime/pull/109891" TargetMode="External"/><Relationship Id="rId7" Type="http://schemas.openxmlformats.org/officeDocument/2006/relationships/image" Target="../media/image19.sv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2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runtime/pull/110194" TargetMode="External"/><Relationship Id="rId7" Type="http://schemas.openxmlformats.org/officeDocument/2006/relationships/image" Target="../media/image19.sv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runtime/pull/110194" TargetMode="External"/><Relationship Id="rId7" Type="http://schemas.openxmlformats.org/officeDocument/2006/relationships/image" Target="../media/image19.sv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aspnetcore/pull/60881" TargetMode="External"/><Relationship Id="rId7" Type="http://schemas.openxmlformats.org/officeDocument/2006/relationships/image" Target="../media/image19.sv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3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aspnetcore/pull/61414" TargetMode="External"/><Relationship Id="rId7" Type="http://schemas.openxmlformats.org/officeDocument/2006/relationships/image" Target="../media/image19.sv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dotnet/aspnetcore/pull/64037" TargetMode="External"/><Relationship Id="rId7" Type="http://schemas.openxmlformats.org/officeDocument/2006/relationships/image" Target="../media/image19.sv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32.xml.rels><?xml version="1.0" encoding="UTF-8" standalone="yes"?>
<Relationships xmlns="http://schemas.openxmlformats.org/package/2006/relationships"><Relationship Id="rId3" Type="http://schemas.openxmlformats.org/officeDocument/2006/relationships/hyperlink" Target="https://msrc.microsoft.com/report/vulnerability" TargetMode="External"/><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hyperlink" Target="https://aka.ms/corebounty"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0362BB-99FB-2B66-C350-437ECED6B7DA}"/>
              </a:ext>
            </a:extLst>
          </p:cNvPr>
          <p:cNvSpPr>
            <a:spLocks noGrp="1"/>
          </p:cNvSpPr>
          <p:nvPr>
            <p:ph type="title" idx="4294967295"/>
          </p:nvPr>
        </p:nvSpPr>
        <p:spPr>
          <a:xfrm>
            <a:off x="1088058" y="1041400"/>
            <a:ext cx="11658600" cy="18288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5000"/>
              </a:lnSpc>
              <a:spcBef>
                <a:spcPct val="20000"/>
              </a:spcBef>
              <a:spcAft>
                <a:spcPts val="0"/>
              </a:spcAft>
              <a:buClrTx/>
              <a:buSzTx/>
              <a:buFont typeface="Arial" pitchFamily="34" charset="0"/>
              <a:buNone/>
              <a:tabLst/>
              <a:defRPr/>
            </a:pPr>
            <a:r>
              <a:rPr kumimoji="0" lang="en-US" sz="15000" b="1" i="0" u="none" strike="noStrike" kern="0" cap="none" spc="-750" normalizeH="0" baseline="0" noProof="0" dirty="0">
                <a:ln>
                  <a:noFill/>
                </a:ln>
                <a:solidFill>
                  <a:schemeClr val="tx1"/>
                </a:solidFill>
                <a:effectLst/>
                <a:uLnTx/>
                <a:uFillTx/>
                <a:latin typeface="Poppins" pitchFamily="2" charset="77"/>
                <a:ea typeface="Poppins" pitchFamily="2" charset="77"/>
                <a:cs typeface="Poppins" pitchFamily="2" charset="77"/>
              </a:rPr>
              <a:t>The year in .NET Security</a:t>
            </a:r>
          </a:p>
        </p:txBody>
      </p:sp>
    </p:spTree>
    <p:extLst>
      <p:ext uri="{BB962C8B-B14F-4D97-AF65-F5344CB8AC3E}">
        <p14:creationId xmlns:p14="http://schemas.microsoft.com/office/powerpoint/2010/main" val="3550994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C77AE-80D5-55C4-9D69-E6D23347A7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90DDAF-F512-E2A5-6307-5D22EDF9F34E}"/>
              </a:ext>
              <a:ext uri="{C183D7F6-B498-43B3-948B-1728B52AA6E4}">
                <adec:decorative xmlns:adec="http://schemas.microsoft.com/office/drawing/2017/decorative" val="0"/>
              </a:ext>
            </a:extLst>
          </p:cNvPr>
          <p:cNvSpPr>
            <a:spLocks noGrp="1"/>
          </p:cNvSpPr>
          <p:nvPr>
            <p:ph type="title" idx="4294967295"/>
          </p:nvPr>
        </p:nvSpPr>
        <p:spPr>
          <a:xfrm>
            <a:off x="1676400" y="-2651125"/>
            <a:ext cx="21034375" cy="2651125"/>
          </a:xfrm>
          <a:prstGeom prst="rect">
            <a:avLst/>
          </a:prstGeom>
        </p:spPr>
        <p:txBody>
          <a:bodyPr anchor="b"/>
          <a:lstStyle/>
          <a:p>
            <a:r>
              <a:rPr lang="en-US" dirty="0"/>
              <a:t>Who am I?</a:t>
            </a:r>
          </a:p>
        </p:txBody>
      </p:sp>
      <p:sp>
        <p:nvSpPr>
          <p:cNvPr id="2" name="Text Placeholder 1">
            <a:extLst>
              <a:ext uri="{FF2B5EF4-FFF2-40B4-BE49-F238E27FC236}">
                <a16:creationId xmlns:a16="http://schemas.microsoft.com/office/drawing/2014/main" id="{E539A24B-8364-F962-A959-0EADCAC65DD7}"/>
              </a:ext>
            </a:extLst>
          </p:cNvPr>
          <p:cNvSpPr>
            <a:spLocks noGrp="1"/>
          </p:cNvSpPr>
          <p:nvPr>
            <p:ph type="body" sz="quarter" idx="16"/>
          </p:nvPr>
        </p:nvSpPr>
        <p:spPr/>
        <p:txBody>
          <a:bodyPr/>
          <a:lstStyle/>
          <a:p>
            <a:r>
              <a:rPr lang="en-US" dirty="0"/>
              <a:t>Barry Dorrans</a:t>
            </a:r>
          </a:p>
        </p:txBody>
      </p:sp>
      <p:sp>
        <p:nvSpPr>
          <p:cNvPr id="3" name="Text Placeholder 2">
            <a:extLst>
              <a:ext uri="{FF2B5EF4-FFF2-40B4-BE49-F238E27FC236}">
                <a16:creationId xmlns:a16="http://schemas.microsoft.com/office/drawing/2014/main" id="{1B2E64F2-4986-D5E1-EA12-20ACFFE7B530}"/>
              </a:ext>
            </a:extLst>
          </p:cNvPr>
          <p:cNvSpPr>
            <a:spLocks noGrp="1"/>
          </p:cNvSpPr>
          <p:nvPr>
            <p:ph type="body" sz="quarter" idx="23"/>
          </p:nvPr>
        </p:nvSpPr>
        <p:spPr/>
        <p:txBody>
          <a:bodyPr/>
          <a:lstStyle/>
          <a:p>
            <a:r>
              <a:rPr lang="en-US" dirty="0">
                <a:solidFill>
                  <a:schemeClr val="bg2">
                    <a:lumMod val="75000"/>
                  </a:schemeClr>
                </a:solidFill>
              </a:rPr>
              <a:t>Security PM</a:t>
            </a:r>
          </a:p>
        </p:txBody>
      </p:sp>
      <p:pic>
        <p:nvPicPr>
          <p:cNvPr id="6" name="Picture Placeholder 5">
            <a:extLst>
              <a:ext uri="{FF2B5EF4-FFF2-40B4-BE49-F238E27FC236}">
                <a16:creationId xmlns:a16="http://schemas.microsoft.com/office/drawing/2014/main" id="{1E122664-FC89-F2F1-34D7-A245BDE5B033}"/>
              </a:ext>
              <a:ext uri="{C183D7F6-B498-43B3-948B-1728B52AA6E4}">
                <adec:decorative xmlns:adec="http://schemas.microsoft.com/office/drawing/2017/decorative" val="1"/>
              </a:ext>
            </a:extLst>
          </p:cNvPr>
          <p:cNvPicPr>
            <a:picLocks noGrp="1" noChangeAspect="1"/>
          </p:cNvPicPr>
          <p:nvPr>
            <p:ph type="pic" sz="quarter" idx="24"/>
          </p:nvPr>
        </p:nvPicPr>
        <p:blipFill>
          <a:blip r:embed="rId2" cstate="hqprint">
            <a:extLst>
              <a:ext uri="{28A0092B-C50C-407E-A947-70E740481C1C}">
                <a14:useLocalDpi xmlns:a14="http://schemas.microsoft.com/office/drawing/2010/main"/>
              </a:ext>
            </a:extLst>
          </a:blip>
          <a:srcRect/>
          <a:stretch>
            <a:fillRect/>
          </a:stretch>
        </p:blipFill>
        <p:spPr>
          <a:solidFill>
            <a:schemeClr val="accent3">
              <a:lumMod val="60000"/>
              <a:lumOff val="40000"/>
            </a:schemeClr>
          </a:solidFill>
        </p:spPr>
      </p:pic>
    </p:spTree>
    <p:extLst>
      <p:ext uri="{BB962C8B-B14F-4D97-AF65-F5344CB8AC3E}">
        <p14:creationId xmlns:p14="http://schemas.microsoft.com/office/powerpoint/2010/main" val="3499465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7A8A-6603-AEF8-A6F6-E37D4001B0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222F08D-AD7A-2911-5243-B5D717489DC0}"/>
              </a:ext>
            </a:extLst>
          </p:cNvPr>
          <p:cNvSpPr>
            <a:spLocks noGrp="1"/>
          </p:cNvSpPr>
          <p:nvPr>
            <p:ph type="title" idx="4294967295"/>
          </p:nvPr>
        </p:nvSpPr>
        <p:spPr>
          <a:xfrm>
            <a:off x="2757376" y="6096225"/>
            <a:ext cx="14987285" cy="128931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0800"/>
              </a:lnSpc>
              <a:spcBef>
                <a:spcPct val="20000"/>
              </a:spcBef>
              <a:spcAft>
                <a:spcPts val="0"/>
              </a:spcAft>
              <a:buClrTx/>
              <a:buSzTx/>
              <a:buFont typeface="Arial" pitchFamily="34" charset="0"/>
              <a:buNone/>
              <a:tabLst/>
              <a:defRPr/>
            </a:pPr>
            <a:r>
              <a:rPr kumimoji="0" lang="en-US" sz="10000" b="1" i="0" u="none" strike="noStrike" kern="0" cap="none" spc="-120" normalizeH="0" baseline="0" noProof="0" dirty="0">
                <a:ln>
                  <a:noFill/>
                </a:ln>
                <a:solidFill>
                  <a:schemeClr val="accent5">
                    <a:lumMod val="50000"/>
                  </a:schemeClr>
                </a:solidFill>
                <a:effectLst/>
                <a:uLnTx/>
                <a:uFillTx/>
                <a:latin typeface="Poppins" pitchFamily="2" charset="77"/>
                <a:ea typeface="Poppins" pitchFamily="2" charset="77"/>
                <a:cs typeface="Poppins" pitchFamily="2" charset="77"/>
              </a:rPr>
              <a:t>Vulnerability vocabulary</a:t>
            </a:r>
          </a:p>
        </p:txBody>
      </p:sp>
      <p:sp>
        <p:nvSpPr>
          <p:cNvPr id="3" name="Text Placeholder 2">
            <a:extLst>
              <a:ext uri="{FF2B5EF4-FFF2-40B4-BE49-F238E27FC236}">
                <a16:creationId xmlns:a16="http://schemas.microsoft.com/office/drawing/2014/main" id="{3D5632E9-C500-8D10-8C76-C87170B006CA}"/>
              </a:ext>
            </a:extLst>
          </p:cNvPr>
          <p:cNvSpPr>
            <a:spLocks noGrp="1"/>
          </p:cNvSpPr>
          <p:nvPr>
            <p:ph type="body" sz="quarter" idx="19"/>
          </p:nvPr>
        </p:nvSpPr>
        <p:spPr/>
        <p:txBody>
          <a:bodyPr/>
          <a:lstStyle/>
          <a:p>
            <a:pPr algn="r"/>
            <a:r>
              <a:rPr lang="en-US" b="1" dirty="0">
                <a:solidFill>
                  <a:schemeClr val="accent5">
                    <a:lumMod val="50000"/>
                  </a:schemeClr>
                </a:solidFill>
              </a:rPr>
              <a:t>1</a:t>
            </a:r>
          </a:p>
        </p:txBody>
      </p:sp>
    </p:spTree>
    <p:extLst>
      <p:ext uri="{BB962C8B-B14F-4D97-AF65-F5344CB8AC3E}">
        <p14:creationId xmlns:p14="http://schemas.microsoft.com/office/powerpoint/2010/main" val="2877732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71EAA-4E09-0F0B-EF8A-2FF63A4F9B8B}"/>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2E4F94B4-FA9B-3A48-CDEA-4A1AB0C03E73}"/>
              </a:ext>
            </a:extLst>
          </p:cNvPr>
          <p:cNvSpPr>
            <a:spLocks noGrp="1"/>
          </p:cNvSpPr>
          <p:nvPr>
            <p:ph type="title" idx="4294967295"/>
          </p:nvPr>
        </p:nvSpPr>
        <p:spPr>
          <a:xfrm>
            <a:off x="1270159" y="1298002"/>
            <a:ext cx="2298987" cy="604395"/>
          </a:xfrm>
          <a:prstGeom prst="roundRect">
            <a:avLst>
              <a:gd name="adj" fmla="val 50000"/>
            </a:avLst>
          </a:prstGeom>
          <a:gradFill>
            <a:gsLst>
              <a:gs pos="0">
                <a:schemeClr val="accent2">
                  <a:lumMod val="40000"/>
                  <a:lumOff val="60000"/>
                </a:schemeClr>
              </a:gs>
              <a:gs pos="99000">
                <a:schemeClr val="accent1"/>
              </a:gs>
            </a:gsLst>
            <a:lin ang="3000000" scaled="0"/>
          </a:gra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ptos" panose="020B0004020202020204" pitchFamily="34" charset="0"/>
                <a:ea typeface="+mn-ea"/>
                <a:cs typeface="+mn-cs"/>
              </a:rPr>
              <a:t>CVEs</a:t>
            </a:r>
          </a:p>
        </p:txBody>
      </p:sp>
      <p:sp>
        <p:nvSpPr>
          <p:cNvPr id="2" name="Text Placeholder 1">
            <a:extLst>
              <a:ext uri="{FF2B5EF4-FFF2-40B4-BE49-F238E27FC236}">
                <a16:creationId xmlns:a16="http://schemas.microsoft.com/office/drawing/2014/main" id="{8A7865E5-1173-58B7-CB79-719426A55155}"/>
              </a:ext>
            </a:extLst>
          </p:cNvPr>
          <p:cNvSpPr>
            <a:spLocks noGrp="1"/>
          </p:cNvSpPr>
          <p:nvPr>
            <p:ph type="body" sz="quarter" idx="16"/>
          </p:nvPr>
        </p:nvSpPr>
        <p:spPr>
          <a:xfrm>
            <a:off x="1220787" y="2451100"/>
            <a:ext cx="10972800" cy="4017202"/>
          </a:xfrm>
        </p:spPr>
        <p:txBody>
          <a:bodyPr/>
          <a:lstStyle/>
          <a:p>
            <a:r>
              <a:rPr lang="en-US" spc="-120" dirty="0"/>
              <a:t>A uniform standard for identifying and reporting security vulnerabilities.</a:t>
            </a:r>
          </a:p>
          <a:p>
            <a:r>
              <a:rPr lang="en-US" sz="4000" dirty="0">
                <a:solidFill>
                  <a:schemeClr val="tx1"/>
                </a:solidFill>
                <a:hlinkClick r:id="rId3">
                  <a:extLst>
                    <a:ext uri="{A12FA001-AC4F-418D-AE19-62706E023703}">
                      <ahyp:hlinkClr xmlns:ahyp="http://schemas.microsoft.com/office/drawing/2018/hyperlinkcolor" val="tx"/>
                    </a:ext>
                  </a:extLst>
                </a:hlinkClick>
              </a:rPr>
              <a:t>https://www.cve.org/</a:t>
            </a:r>
            <a:r>
              <a:rPr lang="en-US" sz="4000" dirty="0"/>
              <a:t> </a:t>
            </a:r>
          </a:p>
        </p:txBody>
      </p:sp>
    </p:spTree>
    <p:extLst>
      <p:ext uri="{BB962C8B-B14F-4D97-AF65-F5344CB8AC3E}">
        <p14:creationId xmlns:p14="http://schemas.microsoft.com/office/powerpoint/2010/main" val="164288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6D20D-96AE-EFB1-5104-DFDB41B2C1F1}"/>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2EED14FD-558F-6978-6632-078EC0ABCB19}"/>
              </a:ext>
            </a:extLst>
          </p:cNvPr>
          <p:cNvSpPr>
            <a:spLocks noGrp="1"/>
          </p:cNvSpPr>
          <p:nvPr>
            <p:ph type="title" idx="4294967295"/>
          </p:nvPr>
        </p:nvSpPr>
        <p:spPr>
          <a:xfrm>
            <a:off x="1270159" y="1298002"/>
            <a:ext cx="2298987" cy="604395"/>
          </a:xfrm>
          <a:prstGeom prst="roundRect">
            <a:avLst>
              <a:gd name="adj" fmla="val 50000"/>
            </a:avLst>
          </a:prstGeom>
          <a:gradFill>
            <a:gsLst>
              <a:gs pos="0">
                <a:schemeClr val="accent2">
                  <a:lumMod val="40000"/>
                  <a:lumOff val="60000"/>
                </a:schemeClr>
              </a:gs>
              <a:gs pos="99000">
                <a:schemeClr val="accent1"/>
              </a:gs>
            </a:gsLst>
            <a:lin ang="3000000" scaled="0"/>
          </a:gra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ptos" panose="020B0004020202020204" pitchFamily="34" charset="0"/>
                <a:ea typeface="+mn-ea"/>
                <a:cs typeface="+mn-cs"/>
              </a:rPr>
              <a:t>CVSS</a:t>
            </a:r>
          </a:p>
        </p:txBody>
      </p:sp>
      <p:sp>
        <p:nvSpPr>
          <p:cNvPr id="2" name="Text Placeholder 1">
            <a:extLst>
              <a:ext uri="{FF2B5EF4-FFF2-40B4-BE49-F238E27FC236}">
                <a16:creationId xmlns:a16="http://schemas.microsoft.com/office/drawing/2014/main" id="{EBE49CC8-0DF0-0604-E3AE-67B921B274AE}"/>
              </a:ext>
            </a:extLst>
          </p:cNvPr>
          <p:cNvSpPr>
            <a:spLocks noGrp="1"/>
          </p:cNvSpPr>
          <p:nvPr>
            <p:ph type="body" sz="quarter" idx="16"/>
          </p:nvPr>
        </p:nvSpPr>
        <p:spPr>
          <a:xfrm>
            <a:off x="1220787" y="2451100"/>
            <a:ext cx="10972800" cy="4017202"/>
          </a:xfrm>
        </p:spPr>
        <p:txBody>
          <a:bodyPr/>
          <a:lstStyle/>
          <a:p>
            <a:r>
              <a:rPr lang="en-US" spc="-120" dirty="0"/>
              <a:t>CVSS is not a measure of risk.</a:t>
            </a:r>
          </a:p>
          <a:p>
            <a:r>
              <a:rPr lang="en-US" spc="-120" dirty="0"/>
              <a:t>v3 score calculated from exploitability and impact metrics.</a:t>
            </a:r>
          </a:p>
          <a:p>
            <a:r>
              <a:rPr lang="en-US" spc="-120" dirty="0"/>
              <a:t>As a framework we score based on the worst possible scenario.</a:t>
            </a:r>
          </a:p>
          <a:p>
            <a:r>
              <a:rPr lang="en-US" sz="4000" dirty="0">
                <a:solidFill>
                  <a:schemeClr val="tx1"/>
                </a:solidFill>
                <a:hlinkClick r:id="rId3">
                  <a:extLst>
                    <a:ext uri="{A12FA001-AC4F-418D-AE19-62706E023703}">
                      <ahyp:hlinkClr xmlns:ahyp="http://schemas.microsoft.com/office/drawing/2018/hyperlinkcolor" val="tx"/>
                    </a:ext>
                  </a:extLst>
                </a:hlinkClick>
              </a:rPr>
              <a:t>https://nvd.nist.gov/vuln-metrics/cvss</a:t>
            </a:r>
            <a:r>
              <a:rPr lang="en-US" sz="4000" dirty="0"/>
              <a:t> </a:t>
            </a:r>
          </a:p>
        </p:txBody>
      </p:sp>
    </p:spTree>
    <p:extLst>
      <p:ext uri="{BB962C8B-B14F-4D97-AF65-F5344CB8AC3E}">
        <p14:creationId xmlns:p14="http://schemas.microsoft.com/office/powerpoint/2010/main" val="406827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6F21F-432A-A32C-8E24-CC5EEF9A3F04}"/>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53CDBC22-3095-4B7A-E5A4-6A604E28DC71}"/>
              </a:ext>
            </a:extLst>
          </p:cNvPr>
          <p:cNvSpPr>
            <a:spLocks noGrp="1"/>
          </p:cNvSpPr>
          <p:nvPr>
            <p:ph type="title" idx="4294967295"/>
          </p:nvPr>
        </p:nvSpPr>
        <p:spPr>
          <a:xfrm>
            <a:off x="1270159" y="1298002"/>
            <a:ext cx="2298987" cy="604395"/>
          </a:xfrm>
          <a:prstGeom prst="roundRect">
            <a:avLst>
              <a:gd name="adj" fmla="val 50000"/>
            </a:avLst>
          </a:prstGeom>
          <a:gradFill>
            <a:gsLst>
              <a:gs pos="0">
                <a:schemeClr val="accent2">
                  <a:lumMod val="40000"/>
                  <a:lumOff val="60000"/>
                </a:schemeClr>
              </a:gs>
              <a:gs pos="99000">
                <a:schemeClr val="accent1"/>
              </a:gs>
            </a:gsLst>
            <a:lin ang="3000000" scaled="0"/>
          </a:gra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ptos" panose="020B0004020202020204" pitchFamily="34" charset="0"/>
                <a:ea typeface="+mn-ea"/>
                <a:cs typeface="+mn-cs"/>
              </a:rPr>
              <a:t>CWD</a:t>
            </a:r>
          </a:p>
        </p:txBody>
      </p:sp>
      <p:sp>
        <p:nvSpPr>
          <p:cNvPr id="2" name="Text Placeholder 1">
            <a:extLst>
              <a:ext uri="{FF2B5EF4-FFF2-40B4-BE49-F238E27FC236}">
                <a16:creationId xmlns:a16="http://schemas.microsoft.com/office/drawing/2014/main" id="{B56DF226-C1F8-EC7D-2B78-90BDABC56C01}"/>
              </a:ext>
            </a:extLst>
          </p:cNvPr>
          <p:cNvSpPr>
            <a:spLocks noGrp="1"/>
          </p:cNvSpPr>
          <p:nvPr>
            <p:ph type="body" sz="quarter" idx="16"/>
          </p:nvPr>
        </p:nvSpPr>
        <p:spPr>
          <a:xfrm>
            <a:off x="1220787" y="2451100"/>
            <a:ext cx="10972800" cy="4017202"/>
          </a:xfrm>
        </p:spPr>
        <p:txBody>
          <a:bodyPr/>
          <a:lstStyle/>
          <a:p>
            <a:r>
              <a:rPr lang="en-US" spc="-120" dirty="0"/>
              <a:t>A list of common software and hardware weaknesses.</a:t>
            </a:r>
          </a:p>
          <a:p>
            <a:r>
              <a:rPr lang="en-US" spc="-120" dirty="0"/>
              <a:t>Usually introduced by developers.</a:t>
            </a:r>
          </a:p>
          <a:p>
            <a:r>
              <a:rPr lang="en-US" sz="4000" dirty="0">
                <a:solidFill>
                  <a:schemeClr val="tx1"/>
                </a:solidFill>
                <a:hlinkClick r:id="rId3">
                  <a:extLst>
                    <a:ext uri="{A12FA001-AC4F-418D-AE19-62706E023703}">
                      <ahyp:hlinkClr xmlns:ahyp="http://schemas.microsoft.com/office/drawing/2018/hyperlinkcolor" val="tx"/>
                    </a:ext>
                  </a:extLst>
                </a:hlinkClick>
              </a:rPr>
              <a:t>https://cwe.mitre.org/</a:t>
            </a:r>
            <a:r>
              <a:rPr lang="en-US" sz="4000" dirty="0"/>
              <a:t> </a:t>
            </a:r>
          </a:p>
        </p:txBody>
      </p:sp>
    </p:spTree>
    <p:extLst>
      <p:ext uri="{BB962C8B-B14F-4D97-AF65-F5344CB8AC3E}">
        <p14:creationId xmlns:p14="http://schemas.microsoft.com/office/powerpoint/2010/main" val="2463503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67BA5-0B6D-7FD5-A116-0FB1D63E228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18950F7-85D7-13B2-570D-EC05DF348C0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sz="2400" dirty="0">
                <a:solidFill>
                  <a:schemeClr val="tx1"/>
                </a:solidFill>
                <a:hlinkClick r:id="rId3">
                  <a:extLst>
                    <a:ext uri="{A12FA001-AC4F-418D-AE19-62706E023703}">
                      <ahyp:hlinkClr xmlns:ahyp="http://schemas.microsoft.com/office/drawing/2018/hyperlinkcolor" val="tx"/>
                    </a:ext>
                  </a:extLst>
                </a:hlinkClick>
              </a:rPr>
              <a:t>https://nvd.nist.gov/vuln/detail/CVE-2025-26682</a:t>
            </a:r>
            <a:r>
              <a:rPr lang="en-US" sz="2400" dirty="0">
                <a:solidFill>
                  <a:schemeClr val="bg2">
                    <a:lumMod val="75000"/>
                  </a:schemeClr>
                </a:solidFill>
              </a:rPr>
              <a:t> </a:t>
            </a:r>
            <a:endParaRPr lang="en-US" sz="2400" dirty="0">
              <a:solidFill>
                <a:schemeClr val="bg2">
                  <a:lumMod val="75000"/>
                </a:schemeClr>
              </a:solidFill>
              <a:latin typeface="Aptos" panose="020B0004020202020204" pitchFamily="34" charset="0"/>
            </a:endParaRPr>
          </a:p>
        </p:txBody>
      </p:sp>
      <p:sp>
        <p:nvSpPr>
          <p:cNvPr id="2" name="Text Placeholder 1">
            <a:extLst>
              <a:ext uri="{FF2B5EF4-FFF2-40B4-BE49-F238E27FC236}">
                <a16:creationId xmlns:a16="http://schemas.microsoft.com/office/drawing/2014/main" id="{465B5966-2B0A-C1D0-518F-EEC17AB86AE8}"/>
              </a:ext>
            </a:extLst>
          </p:cNvPr>
          <p:cNvSpPr>
            <a:spLocks noGrp="1"/>
          </p:cNvSpPr>
          <p:nvPr>
            <p:ph type="title" idx="4294967295"/>
          </p:nvPr>
        </p:nvSpPr>
        <p:spPr>
          <a:xfrm>
            <a:off x="1113657" y="5018767"/>
            <a:ext cx="7671527" cy="189009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kumimoji="0" lang="en-US" sz="6000" b="0" i="0" u="none" strike="noStrike" kern="0" cap="none" spc="-120" normalizeH="0" baseline="0" noProof="0" dirty="0">
                <a:ln>
                  <a:noFill/>
                </a:ln>
                <a:solidFill>
                  <a:srgbClr val="0F0F0F">
                    <a:alpha val="100000"/>
                  </a:srgbClr>
                </a:solidFill>
                <a:effectLst/>
                <a:uLnTx/>
                <a:uFillTx/>
                <a:latin typeface="Poppins" pitchFamily="2" charset="77"/>
                <a:ea typeface="Segoe UI Variable Display Bold" pitchFamily="34" charset="-122"/>
                <a:cs typeface="Poppins" pitchFamily="2" charset="77"/>
              </a:rPr>
              <a:t>CVE-2025-26682</a:t>
            </a:r>
          </a:p>
        </p:txBody>
      </p:sp>
      <p:sp>
        <p:nvSpPr>
          <p:cNvPr id="4" name="Text Placeholder 3">
            <a:extLst>
              <a:ext uri="{FF2B5EF4-FFF2-40B4-BE49-F238E27FC236}">
                <a16:creationId xmlns:a16="http://schemas.microsoft.com/office/drawing/2014/main" id="{83D92F33-6F17-B99E-9FB9-BF71F6D0F731}"/>
              </a:ext>
            </a:extLst>
          </p:cNvPr>
          <p:cNvSpPr>
            <a:spLocks noGrp="1"/>
          </p:cNvSpPr>
          <p:nvPr>
            <p:ph type="body" sz="quarter" idx="27"/>
          </p:nvPr>
        </p:nvSpPr>
        <p:spPr/>
        <p:txBody>
          <a:bodyPr/>
          <a:lstStyle/>
          <a:p>
            <a:r>
              <a:rPr lang="en-US" dirty="0">
                <a:solidFill>
                  <a:schemeClr val="bg2">
                    <a:lumMod val="75000"/>
                  </a:schemeClr>
                </a:solidFill>
                <a:latin typeface="Aptos" panose="020B0004020202020204" pitchFamily="34" charset="0"/>
              </a:rPr>
              <a:t>For example,</a:t>
            </a:r>
          </a:p>
        </p:txBody>
      </p:sp>
      <p:pic>
        <p:nvPicPr>
          <p:cNvPr id="8" name="Picture Placeholder 7" descr="A screenshot of the NIST website showing CVE details">
            <a:extLst>
              <a:ext uri="{FF2B5EF4-FFF2-40B4-BE49-F238E27FC236}">
                <a16:creationId xmlns:a16="http://schemas.microsoft.com/office/drawing/2014/main" id="{910C4E8E-E48A-8502-5FD7-178DF2290154}"/>
              </a:ext>
            </a:extLst>
          </p:cNvPr>
          <p:cNvPicPr>
            <a:picLocks noGrp="1" noChangeAspect="1"/>
          </p:cNvPicPr>
          <p:nvPr>
            <p:ph type="pic" sz="quarter" idx="28"/>
          </p:nvPr>
        </p:nvPicPr>
        <p:blipFill>
          <a:blip r:embed="rId4" cstate="hqprint">
            <a:extLst>
              <a:ext uri="{28A0092B-C50C-407E-A947-70E740481C1C}">
                <a14:useLocalDpi xmlns:a14="http://schemas.microsoft.com/office/drawing/2010/main"/>
              </a:ext>
            </a:extLst>
          </a:blip>
          <a:srcRect/>
          <a:stretch/>
        </p:blipFill>
        <p:spPr>
          <a:prstGeom prst="roundRect">
            <a:avLst>
              <a:gd name="adj" fmla="val 3536"/>
            </a:avLst>
          </a:prstGeom>
          <a:solidFill>
            <a:srgbClr val="FEFFFE"/>
          </a:solidFill>
          <a:ln w="38100" cap="flat" cmpd="sng" algn="ctr">
            <a:gradFill>
              <a:gsLst>
                <a:gs pos="0">
                  <a:srgbClr val="D502AA"/>
                </a:gs>
                <a:gs pos="32000">
                  <a:srgbClr val="9DC3FF"/>
                </a:gs>
                <a:gs pos="65000">
                  <a:srgbClr val="8853F0"/>
                </a:gs>
                <a:gs pos="100000">
                  <a:srgbClr val="502AD4"/>
                </a:gs>
              </a:gsLst>
              <a:lin ang="3000000" scaled="0"/>
            </a:gradFill>
            <a:prstDash val="solid"/>
            <a:miter lim="800000"/>
          </a:ln>
          <a:effectLst>
            <a:glow rad="254000">
              <a:srgbClr val="EEEAFA">
                <a:alpha val="9137"/>
              </a:srgbClr>
            </a:glow>
            <a:softEdge rad="0"/>
          </a:effectLst>
        </p:spPr>
      </p:pic>
    </p:spTree>
    <p:extLst>
      <p:ext uri="{BB962C8B-B14F-4D97-AF65-F5344CB8AC3E}">
        <p14:creationId xmlns:p14="http://schemas.microsoft.com/office/powerpoint/2010/main" val="3770948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A6EC-7367-73D7-16F7-43FD18058E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1E92847-B584-51AC-BDA9-08E46D3CC024}"/>
              </a:ext>
            </a:extLst>
          </p:cNvPr>
          <p:cNvSpPr>
            <a:spLocks noGrp="1"/>
          </p:cNvSpPr>
          <p:nvPr>
            <p:ph type="body" sz="quarter" idx="19"/>
          </p:nvPr>
        </p:nvSpPr>
        <p:spPr/>
        <p:txBody>
          <a:bodyPr/>
          <a:lstStyle/>
          <a:p>
            <a:pPr algn="r"/>
            <a:r>
              <a:rPr lang="en-US" b="1" dirty="0">
                <a:solidFill>
                  <a:schemeClr val="accent5">
                    <a:lumMod val="50000"/>
                  </a:schemeClr>
                </a:solidFill>
              </a:rPr>
              <a:t>2</a:t>
            </a:r>
          </a:p>
        </p:txBody>
      </p:sp>
      <p:sp>
        <p:nvSpPr>
          <p:cNvPr id="2" name="Text Placeholder 1">
            <a:extLst>
              <a:ext uri="{FF2B5EF4-FFF2-40B4-BE49-F238E27FC236}">
                <a16:creationId xmlns:a16="http://schemas.microsoft.com/office/drawing/2014/main" id="{019DE9A2-684E-B74E-4457-1F57FFC0E7BE}"/>
              </a:ext>
            </a:extLst>
          </p:cNvPr>
          <p:cNvSpPr>
            <a:spLocks noGrp="1"/>
          </p:cNvSpPr>
          <p:nvPr>
            <p:ph type="title" idx="4294967295"/>
          </p:nvPr>
        </p:nvSpPr>
        <p:spPr>
          <a:xfrm>
            <a:off x="2757376" y="6096225"/>
            <a:ext cx="14987285" cy="128931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0800"/>
              </a:lnSpc>
              <a:spcBef>
                <a:spcPct val="20000"/>
              </a:spcBef>
              <a:spcAft>
                <a:spcPts val="0"/>
              </a:spcAft>
              <a:buClrTx/>
              <a:buSzTx/>
              <a:buFont typeface="Arial" pitchFamily="34" charset="0"/>
              <a:buNone/>
              <a:tabLst/>
              <a:defRPr/>
            </a:pPr>
            <a:r>
              <a:rPr kumimoji="0" lang="en-US" sz="10000" b="1" i="0" u="none" strike="noStrike" kern="0" cap="none" spc="-120" normalizeH="0" baseline="0" noProof="0" dirty="0">
                <a:ln>
                  <a:noFill/>
                </a:ln>
                <a:solidFill>
                  <a:schemeClr val="accent5">
                    <a:lumMod val="50000"/>
                  </a:schemeClr>
                </a:solidFill>
                <a:effectLst/>
                <a:uLnTx/>
                <a:uFillTx/>
                <a:latin typeface="Poppins" pitchFamily="2" charset="77"/>
                <a:ea typeface="Poppins" pitchFamily="2" charset="77"/>
                <a:cs typeface="Poppins" pitchFamily="2" charset="77"/>
              </a:rPr>
              <a:t>This year in vulnerabilities</a:t>
            </a:r>
          </a:p>
        </p:txBody>
      </p:sp>
    </p:spTree>
    <p:extLst>
      <p:ext uri="{BB962C8B-B14F-4D97-AF65-F5344CB8AC3E}">
        <p14:creationId xmlns:p14="http://schemas.microsoft.com/office/powerpoint/2010/main" val="158670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7211C-8B9C-AF66-4EFF-FF48948C0F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3175F1-54CC-513D-0449-6FFEBA00E288}"/>
              </a:ext>
            </a:extLst>
          </p:cNvPr>
          <p:cNvSpPr>
            <a:spLocks noGrp="1"/>
          </p:cNvSpPr>
          <p:nvPr>
            <p:ph type="title" idx="4294967295"/>
          </p:nvPr>
        </p:nvSpPr>
        <p:spPr>
          <a:xfrm>
            <a:off x="1140564" y="1066800"/>
            <a:ext cx="10282809" cy="9398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kumimoji="0" lang="en-US" sz="6000" b="1" i="0" u="none" strike="noStrike" kern="0" cap="none" spc="-120" normalizeH="0" baseline="0" noProof="0" dirty="0">
                <a:ln>
                  <a:noFill/>
                </a:ln>
                <a:solidFill>
                  <a:srgbClr val="0F0F0F">
                    <a:alpha val="100000"/>
                  </a:srgbClr>
                </a:solidFill>
                <a:effectLst/>
                <a:uLnTx/>
                <a:uFillTx/>
                <a:latin typeface="Poppins" pitchFamily="2" charset="77"/>
                <a:ea typeface="Poppins" pitchFamily="2" charset="77"/>
                <a:cs typeface="Poppins" pitchFamily="2" charset="77"/>
              </a:rPr>
              <a:t>Reports, Patches and Pay</a:t>
            </a:r>
          </a:p>
        </p:txBody>
      </p:sp>
      <p:pic>
        <p:nvPicPr>
          <p:cNvPr id="13" name="Image 34">
            <a:extLst>
              <a:ext uri="{FF2B5EF4-FFF2-40B4-BE49-F238E27FC236}">
                <a16:creationId xmlns:a16="http://schemas.microsoft.com/office/drawing/2014/main" id="{08E3ED4B-350B-917E-B115-503ECA8DDAE6}"/>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63984" y="4579287"/>
            <a:ext cx="459205" cy="510158"/>
          </a:xfrm>
          <a:prstGeom prst="rect">
            <a:avLst/>
          </a:prstGeom>
        </p:spPr>
      </p:pic>
      <p:sp>
        <p:nvSpPr>
          <p:cNvPr id="19" name="Text Placeholder 18">
            <a:extLst>
              <a:ext uri="{FF2B5EF4-FFF2-40B4-BE49-F238E27FC236}">
                <a16:creationId xmlns:a16="http://schemas.microsoft.com/office/drawing/2014/main" id="{D76FC02D-A485-E10F-6E4B-229F22F6C415}"/>
              </a:ext>
            </a:extLst>
          </p:cNvPr>
          <p:cNvSpPr>
            <a:spLocks noGrp="1"/>
          </p:cNvSpPr>
          <p:nvPr>
            <p:ph type="body" sz="quarter" idx="18"/>
          </p:nvPr>
        </p:nvSpPr>
        <p:spPr/>
        <p:txBody>
          <a:bodyPr/>
          <a:lstStyle/>
          <a:p>
            <a:r>
              <a:rPr lang="en-US" dirty="0"/>
              <a:t>Reports to MSRC</a:t>
            </a:r>
          </a:p>
          <a:p>
            <a:endParaRPr lang="en-US" dirty="0"/>
          </a:p>
          <a:p>
            <a:endParaRPr lang="en-US" dirty="0"/>
          </a:p>
        </p:txBody>
      </p:sp>
      <p:sp>
        <p:nvSpPr>
          <p:cNvPr id="21" name="Text Placeholder 20">
            <a:extLst>
              <a:ext uri="{FF2B5EF4-FFF2-40B4-BE49-F238E27FC236}">
                <a16:creationId xmlns:a16="http://schemas.microsoft.com/office/drawing/2014/main" id="{7FF5785D-2389-0647-3F85-9B93354E5C85}"/>
              </a:ext>
            </a:extLst>
          </p:cNvPr>
          <p:cNvSpPr>
            <a:spLocks noGrp="1"/>
          </p:cNvSpPr>
          <p:nvPr>
            <p:ph type="body" sz="quarter" idx="19"/>
          </p:nvPr>
        </p:nvSpPr>
        <p:spPr/>
        <p:txBody>
          <a:bodyPr/>
          <a:lstStyle/>
          <a:p>
            <a:r>
              <a:rPr lang="en-US" dirty="0">
                <a:solidFill>
                  <a:schemeClr val="accent4">
                    <a:lumMod val="50000"/>
                  </a:schemeClr>
                </a:solidFill>
              </a:rPr>
              <a:t>84</a:t>
            </a:r>
          </a:p>
          <a:p>
            <a:endParaRPr lang="en-US" dirty="0">
              <a:solidFill>
                <a:schemeClr val="accent4">
                  <a:lumMod val="50000"/>
                </a:schemeClr>
              </a:solidFill>
            </a:endParaRPr>
          </a:p>
        </p:txBody>
      </p:sp>
      <p:sp>
        <p:nvSpPr>
          <p:cNvPr id="15" name="Text Placeholder 14">
            <a:extLst>
              <a:ext uri="{FF2B5EF4-FFF2-40B4-BE49-F238E27FC236}">
                <a16:creationId xmlns:a16="http://schemas.microsoft.com/office/drawing/2014/main" id="{CAE23D29-B554-2A3F-852B-4729B91CDD56}"/>
              </a:ext>
            </a:extLst>
          </p:cNvPr>
          <p:cNvSpPr>
            <a:spLocks noGrp="1"/>
          </p:cNvSpPr>
          <p:nvPr>
            <p:ph type="body" sz="quarter" idx="14"/>
          </p:nvPr>
        </p:nvSpPr>
        <p:spPr/>
        <p:txBody>
          <a:bodyPr/>
          <a:lstStyle/>
          <a:p>
            <a:r>
              <a:rPr lang="en-US" dirty="0"/>
              <a:t>CVEs</a:t>
            </a:r>
          </a:p>
          <a:p>
            <a:endParaRPr lang="en-US" dirty="0"/>
          </a:p>
          <a:p>
            <a:endParaRPr lang="en-US" dirty="0"/>
          </a:p>
        </p:txBody>
      </p:sp>
      <p:sp>
        <p:nvSpPr>
          <p:cNvPr id="17" name="Text Placeholder 16">
            <a:extLst>
              <a:ext uri="{FF2B5EF4-FFF2-40B4-BE49-F238E27FC236}">
                <a16:creationId xmlns:a16="http://schemas.microsoft.com/office/drawing/2014/main" id="{BE5DA42A-EC6C-DF2D-5159-A28BD9E380B1}"/>
              </a:ext>
            </a:extLst>
          </p:cNvPr>
          <p:cNvSpPr>
            <a:spLocks noGrp="1"/>
          </p:cNvSpPr>
          <p:nvPr>
            <p:ph type="body" sz="quarter" idx="17"/>
          </p:nvPr>
        </p:nvSpPr>
        <p:spPr/>
        <p:txBody>
          <a:bodyPr/>
          <a:lstStyle/>
          <a:p>
            <a:r>
              <a:rPr lang="en-US" dirty="0">
                <a:solidFill>
                  <a:schemeClr val="accent4">
                    <a:lumMod val="50000"/>
                  </a:schemeClr>
                </a:solidFill>
              </a:rPr>
              <a:t>12</a:t>
            </a:r>
          </a:p>
        </p:txBody>
      </p:sp>
      <p:sp>
        <p:nvSpPr>
          <p:cNvPr id="23" name="Text Placeholder 22">
            <a:extLst>
              <a:ext uri="{FF2B5EF4-FFF2-40B4-BE49-F238E27FC236}">
                <a16:creationId xmlns:a16="http://schemas.microsoft.com/office/drawing/2014/main" id="{3CFA7E4E-F2D6-6DE9-2F7C-D9D567B9D68A}"/>
              </a:ext>
            </a:extLst>
          </p:cNvPr>
          <p:cNvSpPr>
            <a:spLocks noGrp="1"/>
          </p:cNvSpPr>
          <p:nvPr>
            <p:ph type="body" sz="quarter" idx="20"/>
          </p:nvPr>
        </p:nvSpPr>
        <p:spPr/>
        <p:txBody>
          <a:bodyPr/>
          <a:lstStyle/>
          <a:p>
            <a:r>
              <a:rPr lang="en-US" dirty="0"/>
              <a:t>Bounty Paid</a:t>
            </a:r>
          </a:p>
        </p:txBody>
      </p:sp>
      <p:sp>
        <p:nvSpPr>
          <p:cNvPr id="25" name="Text Placeholder 24">
            <a:extLst>
              <a:ext uri="{FF2B5EF4-FFF2-40B4-BE49-F238E27FC236}">
                <a16:creationId xmlns:a16="http://schemas.microsoft.com/office/drawing/2014/main" id="{53BA3A9D-28AF-0C24-CD43-C8BAD420139A}"/>
              </a:ext>
            </a:extLst>
          </p:cNvPr>
          <p:cNvSpPr>
            <a:spLocks noGrp="1"/>
          </p:cNvSpPr>
          <p:nvPr>
            <p:ph type="body" sz="quarter" idx="21"/>
          </p:nvPr>
        </p:nvSpPr>
        <p:spPr/>
        <p:txBody>
          <a:bodyPr/>
          <a:lstStyle/>
          <a:p>
            <a:r>
              <a:rPr lang="en-US" dirty="0">
                <a:solidFill>
                  <a:schemeClr val="accent4">
                    <a:lumMod val="50000"/>
                  </a:schemeClr>
                </a:solidFill>
              </a:rPr>
              <a:t>$93,000</a:t>
            </a:r>
          </a:p>
        </p:txBody>
      </p:sp>
      <p:pic>
        <p:nvPicPr>
          <p:cNvPr id="5" name="Image 43">
            <a:extLst>
              <a:ext uri="{FF2B5EF4-FFF2-40B4-BE49-F238E27FC236}">
                <a16:creationId xmlns:a16="http://schemas.microsoft.com/office/drawing/2014/main" id="{5E0E7ABE-58CA-446D-BB69-0BC439AC457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78552" y="4656507"/>
            <a:ext cx="507939" cy="355718"/>
          </a:xfrm>
          <a:prstGeom prst="rect">
            <a:avLst/>
          </a:prstGeom>
        </p:spPr>
      </p:pic>
      <p:pic>
        <p:nvPicPr>
          <p:cNvPr id="6" name="Image 13">
            <a:extLst>
              <a:ext uri="{FF2B5EF4-FFF2-40B4-BE49-F238E27FC236}">
                <a16:creationId xmlns:a16="http://schemas.microsoft.com/office/drawing/2014/main" id="{9C7FE618-F64C-99C4-0038-43C14F175B5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356135" y="4573520"/>
            <a:ext cx="515990" cy="515925"/>
          </a:xfrm>
          <a:prstGeom prst="rect">
            <a:avLst/>
          </a:prstGeom>
        </p:spPr>
      </p:pic>
    </p:spTree>
    <p:extLst>
      <p:ext uri="{BB962C8B-B14F-4D97-AF65-F5344CB8AC3E}">
        <p14:creationId xmlns:p14="http://schemas.microsoft.com/office/powerpoint/2010/main" val="1848551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9EEFE-0676-D91C-BF46-6239394CE3E1}"/>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0881D7BE-6E02-423D-7954-8D03541DACF5}"/>
              </a:ext>
            </a:extLst>
          </p:cNvPr>
          <p:cNvSpPr>
            <a:spLocks noGrp="1"/>
          </p:cNvSpPr>
          <p:nvPr>
            <p:ph type="title" idx="4294967295"/>
          </p:nvPr>
        </p:nvSpPr>
        <p:spPr>
          <a:xfrm>
            <a:off x="1270159" y="1298002"/>
            <a:ext cx="2298987" cy="604395"/>
          </a:xfrm>
          <a:prstGeom prst="roundRect">
            <a:avLst>
              <a:gd name="adj" fmla="val 50000"/>
            </a:avLst>
          </a:prstGeom>
          <a:gradFill>
            <a:gsLst>
              <a:gs pos="0">
                <a:schemeClr val="accent2">
                  <a:lumMod val="40000"/>
                  <a:lumOff val="60000"/>
                </a:schemeClr>
              </a:gs>
              <a:gs pos="99000">
                <a:schemeClr val="accent1"/>
              </a:gs>
            </a:gsLst>
            <a:lin ang="3000000" scaled="0"/>
          </a:gra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ptos" panose="020B0004020202020204" pitchFamily="34" charset="0"/>
                <a:ea typeface="+mn-ea"/>
                <a:cs typeface="+mn-cs"/>
              </a:rPr>
              <a:t>Sounds low?</a:t>
            </a:r>
          </a:p>
        </p:txBody>
      </p:sp>
      <p:sp>
        <p:nvSpPr>
          <p:cNvPr id="2" name="Text Placeholder 1">
            <a:extLst>
              <a:ext uri="{FF2B5EF4-FFF2-40B4-BE49-F238E27FC236}">
                <a16:creationId xmlns:a16="http://schemas.microsoft.com/office/drawing/2014/main" id="{F37D3C42-B65B-7372-0590-E717E93DECBC}"/>
              </a:ext>
            </a:extLst>
          </p:cNvPr>
          <p:cNvSpPr>
            <a:spLocks noGrp="1"/>
          </p:cNvSpPr>
          <p:nvPr>
            <p:ph type="body" sz="quarter" idx="16"/>
          </p:nvPr>
        </p:nvSpPr>
        <p:spPr>
          <a:xfrm>
            <a:off x="1220787" y="2451100"/>
            <a:ext cx="10972800" cy="4766129"/>
          </a:xfrm>
        </p:spPr>
        <p:txBody>
          <a:bodyPr/>
          <a:lstStyle/>
          <a:p>
            <a:r>
              <a:rPr lang="en-US" spc="-120" dirty="0"/>
              <a:t>Not all valid MSRC reports get CVEs. </a:t>
            </a:r>
          </a:p>
          <a:p>
            <a:r>
              <a:rPr lang="en-US" spc="-120" dirty="0"/>
              <a:t>We issue for medium CVSS and above.</a:t>
            </a:r>
          </a:p>
          <a:p>
            <a:r>
              <a:rPr lang="en-US" spc="-120" dirty="0"/>
              <a:t>There are more security fixes made behind the scenes.</a:t>
            </a:r>
          </a:p>
        </p:txBody>
      </p:sp>
    </p:spTree>
    <p:extLst>
      <p:ext uri="{BB962C8B-B14F-4D97-AF65-F5344CB8AC3E}">
        <p14:creationId xmlns:p14="http://schemas.microsoft.com/office/powerpoint/2010/main" val="184038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3686D-52AD-F64A-653E-89C88E3687E0}"/>
            </a:ext>
          </a:extLst>
        </p:cNvPr>
        <p:cNvGrpSpPr/>
        <p:nvPr/>
      </p:nvGrpSpPr>
      <p:grpSpPr>
        <a:xfrm>
          <a:off x="0" y="0"/>
          <a:ext cx="0" cy="0"/>
          <a:chOff x="0" y="0"/>
          <a:chExt cx="0" cy="0"/>
        </a:xfrm>
      </p:grpSpPr>
      <p:sp>
        <p:nvSpPr>
          <p:cNvPr id="24" name="Title 3">
            <a:extLst>
              <a:ext uri="{FF2B5EF4-FFF2-40B4-BE49-F238E27FC236}">
                <a16:creationId xmlns:a16="http://schemas.microsoft.com/office/drawing/2014/main" id="{1D981956-E9DA-1D03-6377-C15E8FDA8D54}"/>
              </a:ext>
              <a:ext uri="{C183D7F6-B498-43B3-948B-1728B52AA6E4}">
                <adec:decorative xmlns:adec="http://schemas.microsoft.com/office/drawing/2017/decorative" val="0"/>
              </a:ext>
            </a:extLst>
          </p:cNvPr>
          <p:cNvSpPr txBox="1">
            <a:spLocks noGrp="1"/>
          </p:cNvSpPr>
          <p:nvPr>
            <p:ph type="title" idx="4294967295"/>
          </p:nvPr>
        </p:nvSpPr>
        <p:spPr>
          <a:xfrm>
            <a:off x="1676400" y="-2651125"/>
            <a:ext cx="21034375" cy="26511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.NET CVEs, 1 to 6</a:t>
            </a:r>
          </a:p>
        </p:txBody>
      </p:sp>
      <p:sp>
        <p:nvSpPr>
          <p:cNvPr id="2" name="Text Placeholder 1">
            <a:extLst>
              <a:ext uri="{FF2B5EF4-FFF2-40B4-BE49-F238E27FC236}">
                <a16:creationId xmlns:a16="http://schemas.microsoft.com/office/drawing/2014/main" id="{D3F5A1D0-0902-6217-A136-799FE7B602FB}"/>
              </a:ext>
              <a:ext uri="{C183D7F6-B498-43B3-948B-1728B52AA6E4}">
                <adec:decorative xmlns:adec="http://schemas.microsoft.com/office/drawing/2017/decorative" val="1"/>
              </a:ext>
            </a:extLst>
          </p:cNvPr>
          <p:cNvSpPr>
            <a:spLocks/>
          </p:cNvSpPr>
          <p:nvPr/>
        </p:nvSpPr>
        <p:spPr>
          <a:xfrm>
            <a:off x="1140565" y="1066800"/>
            <a:ext cx="7010400" cy="9398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kumimoji="0" lang="en-US" sz="6000" b="1" i="0" u="none" strike="noStrike" kern="0" cap="none" spc="-120" normalizeH="0" baseline="0" noProof="0">
                <a:ln>
                  <a:noFill/>
                </a:ln>
                <a:solidFill>
                  <a:srgbClr val="0F0F0F">
                    <a:alpha val="100000"/>
                  </a:srgbClr>
                </a:solidFill>
                <a:effectLst/>
                <a:uLnTx/>
                <a:uFillTx/>
                <a:latin typeface="Poppins" pitchFamily="2" charset="77"/>
                <a:ea typeface="Poppins" pitchFamily="2" charset="77"/>
                <a:cs typeface="Poppins" pitchFamily="2" charset="77"/>
              </a:rPr>
              <a:t>.NET CVEs</a:t>
            </a:r>
            <a:endParaRPr kumimoji="0" lang="en-US" sz="6000" b="1" i="0" u="none" strike="noStrike" kern="0" cap="none" spc="-120" normalizeH="0" baseline="0" noProof="0" dirty="0">
              <a:ln>
                <a:noFill/>
              </a:ln>
              <a:solidFill>
                <a:srgbClr val="0F0F0F">
                  <a:alpha val="100000"/>
                </a:srgbClr>
              </a:solidFill>
              <a:effectLst/>
              <a:uLnTx/>
              <a:uFillTx/>
              <a:latin typeface="Poppins" pitchFamily="2" charset="77"/>
              <a:ea typeface="Poppins" pitchFamily="2" charset="77"/>
              <a:cs typeface="Poppins" pitchFamily="2" charset="77"/>
            </a:endParaRPr>
          </a:p>
        </p:txBody>
      </p:sp>
      <p:sp>
        <p:nvSpPr>
          <p:cNvPr id="3" name="Text Placeholder 2">
            <a:extLst>
              <a:ext uri="{FF2B5EF4-FFF2-40B4-BE49-F238E27FC236}">
                <a16:creationId xmlns:a16="http://schemas.microsoft.com/office/drawing/2014/main" id="{742FE4C7-E765-2275-1208-52F51E011E28}"/>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solidFill>
                  <a:schemeClr val="bg2">
                    <a:lumMod val="75000"/>
                  </a:schemeClr>
                </a:solidFill>
              </a:rPr>
              <a:t>1 of 2</a:t>
            </a:r>
          </a:p>
        </p:txBody>
      </p:sp>
      <p:sp>
        <p:nvSpPr>
          <p:cNvPr id="4" name="Text Placeholder 3">
            <a:extLst>
              <a:ext uri="{FF2B5EF4-FFF2-40B4-BE49-F238E27FC236}">
                <a16:creationId xmlns:a16="http://schemas.microsoft.com/office/drawing/2014/main" id="{759B4B16-4C13-E0C5-F2FD-0333941F4B74}"/>
              </a:ext>
            </a:extLst>
          </p:cNvPr>
          <p:cNvSpPr>
            <a:spLocks noGrp="1"/>
          </p:cNvSpPr>
          <p:nvPr>
            <p:ph type="body" sz="quarter" idx="16"/>
          </p:nvPr>
        </p:nvSpPr>
        <p:spPr/>
        <p:txBody>
          <a:bodyPr/>
          <a:lstStyle/>
          <a:p>
            <a:r>
              <a:rPr lang="en-US" sz="2800" dirty="0"/>
              <a:t>CVE-2025-55248</a:t>
            </a:r>
          </a:p>
        </p:txBody>
      </p:sp>
      <p:sp>
        <p:nvSpPr>
          <p:cNvPr id="5" name="Text Placeholder 4">
            <a:extLst>
              <a:ext uri="{FF2B5EF4-FFF2-40B4-BE49-F238E27FC236}">
                <a16:creationId xmlns:a16="http://schemas.microsoft.com/office/drawing/2014/main" id="{BBFB99C5-075B-E5A5-80AD-5670C9B98988}"/>
              </a:ext>
              <a:ext uri="{C183D7F6-B498-43B3-948B-1728B52AA6E4}">
                <adec:decorative xmlns:adec="http://schemas.microsoft.com/office/drawing/2017/decorative" val="1"/>
              </a:ext>
            </a:extLst>
          </p:cNvPr>
          <p:cNvSpPr>
            <a:spLocks noGrp="1"/>
          </p:cNvSpPr>
          <p:nvPr>
            <p:ph type="body" sz="quarter" idx="19"/>
          </p:nvPr>
        </p:nvSpPr>
        <p:spPr/>
        <p:txBody>
          <a:bodyPr/>
          <a:lstStyle/>
          <a:p>
            <a:r>
              <a:rPr lang="en-US" dirty="0"/>
              <a:t>01</a:t>
            </a:r>
          </a:p>
        </p:txBody>
      </p:sp>
      <p:sp>
        <p:nvSpPr>
          <p:cNvPr id="6" name="Text Placeholder 5">
            <a:extLst>
              <a:ext uri="{FF2B5EF4-FFF2-40B4-BE49-F238E27FC236}">
                <a16:creationId xmlns:a16="http://schemas.microsoft.com/office/drawing/2014/main" id="{30C51F07-D42F-815E-380E-0202FA390803}"/>
              </a:ext>
            </a:extLst>
          </p:cNvPr>
          <p:cNvSpPr>
            <a:spLocks noGrp="1"/>
          </p:cNvSpPr>
          <p:nvPr>
            <p:ph type="body" sz="quarter" idx="22"/>
          </p:nvPr>
        </p:nvSpPr>
        <p:spPr/>
        <p:txBody>
          <a:bodyPr/>
          <a:lstStyle/>
          <a:p>
            <a:r>
              <a:rPr lang="en-US" b="1" dirty="0">
                <a:latin typeface="Poppins" panose="00000500000000000000" pitchFamily="2" charset="0"/>
                <a:cs typeface="Poppins" panose="00000500000000000000" pitchFamily="2" charset="0"/>
              </a:rPr>
              <a:t>Information Disclosure</a:t>
            </a:r>
          </a:p>
          <a:p>
            <a:r>
              <a:rPr lang="en-US" dirty="0">
                <a:latin typeface="Poppins" panose="00000500000000000000" pitchFamily="2" charset="0"/>
                <a:cs typeface="Poppins" panose="00000500000000000000" pitchFamily="2" charset="0"/>
              </a:rPr>
              <a:t>A MITM (man in the middle) attacker may prevent use of TLS between client and SMTP server, forcing client to send data over unencrypted connection.</a:t>
            </a:r>
          </a:p>
          <a:p>
            <a:endParaRPr lang="en-US" dirty="0">
              <a:latin typeface="Aptos" panose="020B0004020202020204" pitchFamily="34" charset="0"/>
            </a:endParaRPr>
          </a:p>
        </p:txBody>
      </p:sp>
      <p:sp>
        <p:nvSpPr>
          <p:cNvPr id="7" name="Text Placeholder 6">
            <a:extLst>
              <a:ext uri="{FF2B5EF4-FFF2-40B4-BE49-F238E27FC236}">
                <a16:creationId xmlns:a16="http://schemas.microsoft.com/office/drawing/2014/main" id="{D9F566FE-5DD2-C0AB-C450-9B7E763F8627}"/>
              </a:ext>
            </a:extLst>
          </p:cNvPr>
          <p:cNvSpPr>
            <a:spLocks noGrp="1"/>
          </p:cNvSpPr>
          <p:nvPr>
            <p:ph type="body" sz="quarter" idx="23"/>
          </p:nvPr>
        </p:nvSpPr>
        <p:spPr/>
        <p:txBody>
          <a:bodyPr/>
          <a:lstStyle/>
          <a:p>
            <a:r>
              <a:rPr lang="en-US" sz="2800" dirty="0"/>
              <a:t>CVE-2025-55247</a:t>
            </a:r>
            <a:endParaRPr lang="en-US" dirty="0"/>
          </a:p>
        </p:txBody>
      </p:sp>
      <p:sp>
        <p:nvSpPr>
          <p:cNvPr id="8" name="Text Placeholder 7">
            <a:extLst>
              <a:ext uri="{FF2B5EF4-FFF2-40B4-BE49-F238E27FC236}">
                <a16:creationId xmlns:a16="http://schemas.microsoft.com/office/drawing/2014/main" id="{4159A10F-773D-0C0A-E617-2DE4D1ADDC74}"/>
              </a:ext>
              <a:ext uri="{C183D7F6-B498-43B3-948B-1728B52AA6E4}">
                <adec:decorative xmlns:adec="http://schemas.microsoft.com/office/drawing/2017/decorative" val="1"/>
              </a:ext>
            </a:extLst>
          </p:cNvPr>
          <p:cNvSpPr>
            <a:spLocks noGrp="1"/>
          </p:cNvSpPr>
          <p:nvPr>
            <p:ph type="body" sz="quarter" idx="24"/>
          </p:nvPr>
        </p:nvSpPr>
        <p:spPr/>
        <p:txBody>
          <a:bodyPr/>
          <a:lstStyle/>
          <a:p>
            <a:r>
              <a:rPr lang="en-US"/>
              <a:t>02</a:t>
            </a:r>
          </a:p>
        </p:txBody>
      </p:sp>
      <p:sp>
        <p:nvSpPr>
          <p:cNvPr id="9" name="Text Placeholder 8">
            <a:extLst>
              <a:ext uri="{FF2B5EF4-FFF2-40B4-BE49-F238E27FC236}">
                <a16:creationId xmlns:a16="http://schemas.microsoft.com/office/drawing/2014/main" id="{B6CB38B7-C727-BCA4-8767-2C4B30099390}"/>
              </a:ext>
            </a:extLst>
          </p:cNvPr>
          <p:cNvSpPr>
            <a:spLocks noGrp="1"/>
          </p:cNvSpPr>
          <p:nvPr>
            <p:ph type="body" sz="quarter" idx="25"/>
          </p:nvPr>
        </p:nvSpPr>
        <p:spPr/>
        <p:txBody>
          <a:bodyPr/>
          <a:lstStyle/>
          <a:p>
            <a:r>
              <a:rPr lang="en-US" b="1" dirty="0">
                <a:latin typeface="Poppins" panose="00000500000000000000" pitchFamily="2" charset="0"/>
                <a:cs typeface="Poppins" panose="00000500000000000000" pitchFamily="2" charset="0"/>
              </a:rPr>
              <a:t>Denial-of-Service</a:t>
            </a:r>
          </a:p>
          <a:p>
            <a:r>
              <a:rPr lang="en-US" dirty="0">
                <a:latin typeface="Poppins" panose="00000500000000000000" pitchFamily="2" charset="0"/>
                <a:cs typeface="Poppins" panose="00000500000000000000" pitchFamily="2" charset="0"/>
              </a:rPr>
              <a:t>A vulnerability exists in .NET where predictable paths for MSBuild's temporary directories on Linux could lead to DoS of builds. </a:t>
            </a:r>
          </a:p>
        </p:txBody>
      </p:sp>
      <p:sp>
        <p:nvSpPr>
          <p:cNvPr id="10" name="Text Placeholder 9">
            <a:extLst>
              <a:ext uri="{FF2B5EF4-FFF2-40B4-BE49-F238E27FC236}">
                <a16:creationId xmlns:a16="http://schemas.microsoft.com/office/drawing/2014/main" id="{45F6365E-F8E5-13DC-D71B-DB91F00D2E80}"/>
              </a:ext>
            </a:extLst>
          </p:cNvPr>
          <p:cNvSpPr>
            <a:spLocks noGrp="1"/>
          </p:cNvSpPr>
          <p:nvPr>
            <p:ph type="body" sz="quarter" idx="26"/>
          </p:nvPr>
        </p:nvSpPr>
        <p:spPr/>
        <p:txBody>
          <a:bodyPr/>
          <a:lstStyle/>
          <a:p>
            <a:r>
              <a:rPr lang="en-US" sz="2800" dirty="0"/>
              <a:t>CVE-2025-30399</a:t>
            </a:r>
            <a:endParaRPr lang="en-US" dirty="0"/>
          </a:p>
        </p:txBody>
      </p:sp>
      <p:sp>
        <p:nvSpPr>
          <p:cNvPr id="11" name="Text Placeholder 10">
            <a:extLst>
              <a:ext uri="{FF2B5EF4-FFF2-40B4-BE49-F238E27FC236}">
                <a16:creationId xmlns:a16="http://schemas.microsoft.com/office/drawing/2014/main" id="{D94E0ADD-1EC1-0C24-2F43-783505A28B9A}"/>
              </a:ext>
              <a:ext uri="{C183D7F6-B498-43B3-948B-1728B52AA6E4}">
                <adec:decorative xmlns:adec="http://schemas.microsoft.com/office/drawing/2017/decorative" val="1"/>
              </a:ext>
            </a:extLst>
          </p:cNvPr>
          <p:cNvSpPr>
            <a:spLocks noGrp="1"/>
          </p:cNvSpPr>
          <p:nvPr>
            <p:ph type="body" sz="quarter" idx="27"/>
          </p:nvPr>
        </p:nvSpPr>
        <p:spPr/>
        <p:txBody>
          <a:bodyPr/>
          <a:lstStyle/>
          <a:p>
            <a:r>
              <a:rPr lang="en-US"/>
              <a:t>03</a:t>
            </a:r>
          </a:p>
        </p:txBody>
      </p:sp>
      <p:sp>
        <p:nvSpPr>
          <p:cNvPr id="12" name="Text Placeholder 11">
            <a:extLst>
              <a:ext uri="{FF2B5EF4-FFF2-40B4-BE49-F238E27FC236}">
                <a16:creationId xmlns:a16="http://schemas.microsoft.com/office/drawing/2014/main" id="{11031F99-C8E0-A8BF-B2B9-3259C9AF020A}"/>
              </a:ext>
            </a:extLst>
          </p:cNvPr>
          <p:cNvSpPr>
            <a:spLocks noGrp="1"/>
          </p:cNvSpPr>
          <p:nvPr>
            <p:ph type="body" sz="quarter" idx="28"/>
          </p:nvPr>
        </p:nvSpPr>
        <p:spPr/>
        <p:txBody>
          <a:bodyPr/>
          <a:lstStyle/>
          <a:p>
            <a:r>
              <a:rPr lang="en-US" b="1" dirty="0">
                <a:latin typeface="Poppins" panose="00000500000000000000" pitchFamily="2" charset="0"/>
                <a:cs typeface="Poppins" panose="00000500000000000000" pitchFamily="2" charset="0"/>
              </a:rPr>
              <a:t>Remote Code Execution</a:t>
            </a:r>
          </a:p>
          <a:p>
            <a:r>
              <a:rPr lang="en-US" dirty="0">
                <a:latin typeface="Poppins" panose="00000500000000000000" pitchFamily="2" charset="0"/>
                <a:cs typeface="Poppins" panose="00000500000000000000" pitchFamily="2" charset="0"/>
              </a:rPr>
              <a:t>Exploitable by placing files in particular locations, leading to unintended code execution.</a:t>
            </a:r>
          </a:p>
        </p:txBody>
      </p:sp>
      <p:sp>
        <p:nvSpPr>
          <p:cNvPr id="13" name="Text Placeholder 12">
            <a:extLst>
              <a:ext uri="{FF2B5EF4-FFF2-40B4-BE49-F238E27FC236}">
                <a16:creationId xmlns:a16="http://schemas.microsoft.com/office/drawing/2014/main" id="{05945CFC-6048-4238-DFA4-FE77F84711F6}"/>
              </a:ext>
            </a:extLst>
          </p:cNvPr>
          <p:cNvSpPr>
            <a:spLocks noGrp="1"/>
          </p:cNvSpPr>
          <p:nvPr>
            <p:ph type="body" sz="quarter" idx="29"/>
          </p:nvPr>
        </p:nvSpPr>
        <p:spPr/>
        <p:txBody>
          <a:bodyPr/>
          <a:lstStyle/>
          <a:p>
            <a:r>
              <a:rPr lang="en-US" sz="2800" dirty="0"/>
              <a:t>CVE-2025-26646</a:t>
            </a:r>
          </a:p>
        </p:txBody>
      </p:sp>
      <p:sp>
        <p:nvSpPr>
          <p:cNvPr id="14" name="Text Placeholder 13">
            <a:extLst>
              <a:ext uri="{FF2B5EF4-FFF2-40B4-BE49-F238E27FC236}">
                <a16:creationId xmlns:a16="http://schemas.microsoft.com/office/drawing/2014/main" id="{86760256-DEB9-8321-E9D0-2891CDB3C2D1}"/>
              </a:ext>
              <a:ext uri="{C183D7F6-B498-43B3-948B-1728B52AA6E4}">
                <adec:decorative xmlns:adec="http://schemas.microsoft.com/office/drawing/2017/decorative" val="1"/>
              </a:ext>
            </a:extLst>
          </p:cNvPr>
          <p:cNvSpPr>
            <a:spLocks noGrp="1"/>
          </p:cNvSpPr>
          <p:nvPr>
            <p:ph type="body" sz="quarter" idx="30"/>
          </p:nvPr>
        </p:nvSpPr>
        <p:spPr/>
        <p:txBody>
          <a:bodyPr/>
          <a:lstStyle/>
          <a:p>
            <a:r>
              <a:rPr lang="en-US"/>
              <a:t>04</a:t>
            </a:r>
          </a:p>
        </p:txBody>
      </p:sp>
      <p:sp>
        <p:nvSpPr>
          <p:cNvPr id="15" name="Text Placeholder 14">
            <a:extLst>
              <a:ext uri="{FF2B5EF4-FFF2-40B4-BE49-F238E27FC236}">
                <a16:creationId xmlns:a16="http://schemas.microsoft.com/office/drawing/2014/main" id="{77D803BD-6AE9-F184-E094-0A894342827B}"/>
              </a:ext>
            </a:extLst>
          </p:cNvPr>
          <p:cNvSpPr>
            <a:spLocks noGrp="1"/>
          </p:cNvSpPr>
          <p:nvPr>
            <p:ph type="body" sz="quarter" idx="31"/>
          </p:nvPr>
        </p:nvSpPr>
        <p:spPr/>
        <p:txBody>
          <a:bodyPr/>
          <a:lstStyle/>
          <a:p>
            <a:r>
              <a:rPr lang="en-US" b="1" dirty="0">
                <a:latin typeface="Poppins" panose="00000500000000000000" pitchFamily="2" charset="0"/>
                <a:cs typeface="Poppins" panose="00000500000000000000" pitchFamily="2" charset="0"/>
              </a:rPr>
              <a:t>Spoofing</a:t>
            </a:r>
          </a:p>
          <a:p>
            <a:r>
              <a:rPr lang="en-US" dirty="0">
                <a:latin typeface="Poppins" panose="00000500000000000000" pitchFamily="2" charset="0"/>
                <a:cs typeface="Poppins" panose="00000500000000000000" pitchFamily="2" charset="0"/>
              </a:rPr>
              <a:t>A vulnerability exists in .NET SDK or MSBuild applications where external control of file name or path allows an unauthorized attacked to perform spoofing over a network.</a:t>
            </a:r>
          </a:p>
        </p:txBody>
      </p:sp>
      <p:sp>
        <p:nvSpPr>
          <p:cNvPr id="16" name="Text Placeholder 15">
            <a:extLst>
              <a:ext uri="{FF2B5EF4-FFF2-40B4-BE49-F238E27FC236}">
                <a16:creationId xmlns:a16="http://schemas.microsoft.com/office/drawing/2014/main" id="{D36491DC-E762-4A1E-0253-A8B5F4548867}"/>
              </a:ext>
            </a:extLst>
          </p:cNvPr>
          <p:cNvSpPr>
            <a:spLocks noGrp="1"/>
          </p:cNvSpPr>
          <p:nvPr>
            <p:ph type="body" sz="quarter" idx="32"/>
          </p:nvPr>
        </p:nvSpPr>
        <p:spPr/>
        <p:txBody>
          <a:bodyPr/>
          <a:lstStyle/>
          <a:p>
            <a:r>
              <a:rPr lang="en-US" sz="2800" dirty="0"/>
              <a:t>CVE-2025-21173</a:t>
            </a:r>
            <a:endParaRPr lang="en-US" dirty="0"/>
          </a:p>
        </p:txBody>
      </p:sp>
      <p:sp>
        <p:nvSpPr>
          <p:cNvPr id="17" name="Text Placeholder 16">
            <a:extLst>
              <a:ext uri="{FF2B5EF4-FFF2-40B4-BE49-F238E27FC236}">
                <a16:creationId xmlns:a16="http://schemas.microsoft.com/office/drawing/2014/main" id="{26C78076-F586-3A9C-AECF-31237A20EFF4}"/>
              </a:ext>
              <a:ext uri="{C183D7F6-B498-43B3-948B-1728B52AA6E4}">
                <adec:decorative xmlns:adec="http://schemas.microsoft.com/office/drawing/2017/decorative" val="1"/>
              </a:ext>
            </a:extLst>
          </p:cNvPr>
          <p:cNvSpPr>
            <a:spLocks noGrp="1"/>
          </p:cNvSpPr>
          <p:nvPr>
            <p:ph type="body" sz="quarter" idx="33"/>
          </p:nvPr>
        </p:nvSpPr>
        <p:spPr/>
        <p:txBody>
          <a:bodyPr/>
          <a:lstStyle/>
          <a:p>
            <a:r>
              <a:rPr lang="en-US"/>
              <a:t>05</a:t>
            </a:r>
          </a:p>
        </p:txBody>
      </p:sp>
      <p:sp>
        <p:nvSpPr>
          <p:cNvPr id="18" name="Text Placeholder 17">
            <a:extLst>
              <a:ext uri="{FF2B5EF4-FFF2-40B4-BE49-F238E27FC236}">
                <a16:creationId xmlns:a16="http://schemas.microsoft.com/office/drawing/2014/main" id="{ABA9D40D-876B-DC49-B0F5-CA22FE95FCC4}"/>
              </a:ext>
            </a:extLst>
          </p:cNvPr>
          <p:cNvSpPr>
            <a:spLocks noGrp="1"/>
          </p:cNvSpPr>
          <p:nvPr>
            <p:ph type="body" sz="quarter" idx="34"/>
          </p:nvPr>
        </p:nvSpPr>
        <p:spPr/>
        <p:txBody>
          <a:bodyPr/>
          <a:lstStyle/>
          <a:p>
            <a:r>
              <a:rPr lang="en-US" b="1" dirty="0">
                <a:latin typeface="Poppins" panose="00000500000000000000" pitchFamily="2" charset="0"/>
                <a:cs typeface="Poppins" panose="00000500000000000000" pitchFamily="2" charset="0"/>
              </a:rPr>
              <a:t>Elevation of Privilege</a:t>
            </a:r>
          </a:p>
          <a:p>
            <a:r>
              <a:rPr lang="en-US" dirty="0">
                <a:latin typeface="Poppins" panose="00000500000000000000" pitchFamily="2" charset="0"/>
                <a:cs typeface="Poppins" panose="00000500000000000000" pitchFamily="2" charset="0"/>
              </a:rPr>
              <a:t>Exploitable by writing a specially crafted file in the security context of the local system. This only affects .NET on Linux operating systems</a:t>
            </a:r>
            <a:r>
              <a:rPr lang="en-US" dirty="0"/>
              <a:t>.</a:t>
            </a:r>
          </a:p>
        </p:txBody>
      </p:sp>
      <p:sp>
        <p:nvSpPr>
          <p:cNvPr id="19" name="Text Placeholder 18">
            <a:extLst>
              <a:ext uri="{FF2B5EF4-FFF2-40B4-BE49-F238E27FC236}">
                <a16:creationId xmlns:a16="http://schemas.microsoft.com/office/drawing/2014/main" id="{1B457DD6-980F-7F58-4401-283B2BC4EAE0}"/>
              </a:ext>
            </a:extLst>
          </p:cNvPr>
          <p:cNvSpPr>
            <a:spLocks noGrp="1"/>
          </p:cNvSpPr>
          <p:nvPr>
            <p:ph type="body" sz="quarter" idx="35"/>
          </p:nvPr>
        </p:nvSpPr>
        <p:spPr/>
        <p:txBody>
          <a:bodyPr/>
          <a:lstStyle/>
          <a:p>
            <a:r>
              <a:rPr lang="en-US" sz="2800" dirty="0"/>
              <a:t>CVE-2025-21172</a:t>
            </a:r>
            <a:endParaRPr lang="en-US" dirty="0"/>
          </a:p>
        </p:txBody>
      </p:sp>
      <p:sp>
        <p:nvSpPr>
          <p:cNvPr id="20" name="Text Placeholder 19">
            <a:extLst>
              <a:ext uri="{FF2B5EF4-FFF2-40B4-BE49-F238E27FC236}">
                <a16:creationId xmlns:a16="http://schemas.microsoft.com/office/drawing/2014/main" id="{56CF4150-55CA-5B43-DF0F-82E5316312A3}"/>
              </a:ext>
              <a:ext uri="{C183D7F6-B498-43B3-948B-1728B52AA6E4}">
                <adec:decorative xmlns:adec="http://schemas.microsoft.com/office/drawing/2017/decorative" val="1"/>
              </a:ext>
            </a:extLst>
          </p:cNvPr>
          <p:cNvSpPr>
            <a:spLocks noGrp="1"/>
          </p:cNvSpPr>
          <p:nvPr>
            <p:ph type="body" sz="quarter" idx="36"/>
          </p:nvPr>
        </p:nvSpPr>
        <p:spPr/>
        <p:txBody>
          <a:bodyPr/>
          <a:lstStyle/>
          <a:p>
            <a:r>
              <a:rPr lang="en-US"/>
              <a:t>06</a:t>
            </a:r>
          </a:p>
        </p:txBody>
      </p:sp>
      <p:sp>
        <p:nvSpPr>
          <p:cNvPr id="21" name="Text Placeholder 20">
            <a:extLst>
              <a:ext uri="{FF2B5EF4-FFF2-40B4-BE49-F238E27FC236}">
                <a16:creationId xmlns:a16="http://schemas.microsoft.com/office/drawing/2014/main" id="{4C12AB1C-FC18-333B-49EB-8C8F6F7D02BB}"/>
              </a:ext>
            </a:extLst>
          </p:cNvPr>
          <p:cNvSpPr>
            <a:spLocks noGrp="1"/>
          </p:cNvSpPr>
          <p:nvPr>
            <p:ph type="body" sz="quarter" idx="37"/>
          </p:nvPr>
        </p:nvSpPr>
        <p:spPr/>
        <p:txBody>
          <a:bodyPr/>
          <a:lstStyle/>
          <a:p>
            <a:r>
              <a:rPr lang="en-US" b="1" dirty="0">
                <a:latin typeface="Poppins" panose="00000500000000000000" pitchFamily="2" charset="0"/>
                <a:cs typeface="Poppins" panose="00000500000000000000" pitchFamily="2" charset="0"/>
              </a:rPr>
              <a:t>Remote Code Execution </a:t>
            </a:r>
          </a:p>
          <a:p>
            <a:r>
              <a:rPr lang="en-US" dirty="0">
                <a:latin typeface="Poppins" panose="00000500000000000000" pitchFamily="2" charset="0"/>
                <a:cs typeface="Poppins" panose="00000500000000000000" pitchFamily="2" charset="0"/>
              </a:rPr>
              <a:t>Exploitable by loading a specially crafted file in Visual Studio.</a:t>
            </a:r>
          </a:p>
        </p:txBody>
      </p:sp>
    </p:spTree>
    <p:extLst>
      <p:ext uri="{BB962C8B-B14F-4D97-AF65-F5344CB8AC3E}">
        <p14:creationId xmlns:p14="http://schemas.microsoft.com/office/powerpoint/2010/main" val="3719028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0810-2296-5C12-649B-E7D9C6EEBBED}"/>
            </a:ext>
          </a:extLst>
        </p:cNvPr>
        <p:cNvGrpSpPr/>
        <p:nvPr/>
      </p:nvGrpSpPr>
      <p:grpSpPr>
        <a:xfrm>
          <a:off x="0" y="0"/>
          <a:ext cx="0" cy="0"/>
          <a:chOff x="0" y="0"/>
          <a:chExt cx="0" cy="0"/>
        </a:xfrm>
      </p:grpSpPr>
      <p:sp>
        <p:nvSpPr>
          <p:cNvPr id="13" name="Title 3">
            <a:extLst>
              <a:ext uri="{FF2B5EF4-FFF2-40B4-BE49-F238E27FC236}">
                <a16:creationId xmlns:a16="http://schemas.microsoft.com/office/drawing/2014/main" id="{163CAE3B-EA31-F3F0-6145-EAF8EE841366}"/>
              </a:ext>
              <a:ext uri="{C183D7F6-B498-43B3-948B-1728B52AA6E4}">
                <adec:decorative xmlns:adec="http://schemas.microsoft.com/office/drawing/2017/decorative" val="0"/>
              </a:ext>
            </a:extLst>
          </p:cNvPr>
          <p:cNvSpPr txBox="1">
            <a:spLocks noGrp="1"/>
          </p:cNvSpPr>
          <p:nvPr>
            <p:ph type="title" idx="4294967295"/>
          </p:nvPr>
        </p:nvSpPr>
        <p:spPr>
          <a:xfrm>
            <a:off x="1676400" y="-2651125"/>
            <a:ext cx="21034375" cy="26511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.NET CVEs, 7 to 9</a:t>
            </a:r>
          </a:p>
        </p:txBody>
      </p:sp>
      <p:sp>
        <p:nvSpPr>
          <p:cNvPr id="2" name="Text Placeholder 1">
            <a:extLst>
              <a:ext uri="{FF2B5EF4-FFF2-40B4-BE49-F238E27FC236}">
                <a16:creationId xmlns:a16="http://schemas.microsoft.com/office/drawing/2014/main" id="{B3F073C9-B6C0-B25B-3F1E-708735E91E77}"/>
              </a:ext>
              <a:ext uri="{C183D7F6-B498-43B3-948B-1728B52AA6E4}">
                <adec:decorative xmlns:adec="http://schemas.microsoft.com/office/drawing/2017/decorative" val="1"/>
              </a:ext>
            </a:extLst>
          </p:cNvPr>
          <p:cNvSpPr>
            <a:spLocks/>
          </p:cNvSpPr>
          <p:nvPr/>
        </p:nvSpPr>
        <p:spPr>
          <a:xfrm>
            <a:off x="1140565" y="1066800"/>
            <a:ext cx="7010400" cy="9398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kumimoji="0" lang="en-US" sz="6000" b="1" i="0" u="none" strike="noStrike" kern="0" cap="none" spc="-120" normalizeH="0" baseline="0" noProof="0">
                <a:ln>
                  <a:noFill/>
                </a:ln>
                <a:solidFill>
                  <a:srgbClr val="0F0F0F">
                    <a:alpha val="100000"/>
                  </a:srgbClr>
                </a:solidFill>
                <a:effectLst/>
                <a:uLnTx/>
                <a:uFillTx/>
                <a:latin typeface="Poppins" pitchFamily="2" charset="77"/>
                <a:ea typeface="Poppins" pitchFamily="2" charset="77"/>
                <a:cs typeface="Poppins" pitchFamily="2" charset="77"/>
              </a:rPr>
              <a:t>.NET CVEs</a:t>
            </a:r>
            <a:endParaRPr kumimoji="0" lang="en-US" sz="6000" b="1" i="0" u="none" strike="noStrike" kern="0" cap="none" spc="-120" normalizeH="0" baseline="0" noProof="0" dirty="0">
              <a:ln>
                <a:noFill/>
              </a:ln>
              <a:solidFill>
                <a:srgbClr val="0F0F0F">
                  <a:alpha val="100000"/>
                </a:srgbClr>
              </a:solidFill>
              <a:effectLst/>
              <a:uLnTx/>
              <a:uFillTx/>
              <a:latin typeface="Poppins" pitchFamily="2" charset="77"/>
              <a:ea typeface="Poppins" pitchFamily="2" charset="77"/>
              <a:cs typeface="Poppins" pitchFamily="2" charset="77"/>
            </a:endParaRPr>
          </a:p>
        </p:txBody>
      </p:sp>
      <p:sp>
        <p:nvSpPr>
          <p:cNvPr id="3" name="Text Placeholder 2">
            <a:extLst>
              <a:ext uri="{FF2B5EF4-FFF2-40B4-BE49-F238E27FC236}">
                <a16:creationId xmlns:a16="http://schemas.microsoft.com/office/drawing/2014/main" id="{3F0AFDE1-812F-BDDC-C80B-53F06F475A8F}"/>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solidFill>
                  <a:schemeClr val="bg2">
                    <a:lumMod val="75000"/>
                  </a:schemeClr>
                </a:solidFill>
              </a:rPr>
              <a:t>2 of 2</a:t>
            </a:r>
          </a:p>
        </p:txBody>
      </p:sp>
      <p:sp>
        <p:nvSpPr>
          <p:cNvPr id="4" name="Text Placeholder 3">
            <a:extLst>
              <a:ext uri="{FF2B5EF4-FFF2-40B4-BE49-F238E27FC236}">
                <a16:creationId xmlns:a16="http://schemas.microsoft.com/office/drawing/2014/main" id="{1DF19592-DF89-593B-FEE6-A6E779F718B3}"/>
              </a:ext>
            </a:extLst>
          </p:cNvPr>
          <p:cNvSpPr>
            <a:spLocks noGrp="1"/>
          </p:cNvSpPr>
          <p:nvPr>
            <p:ph type="body" sz="quarter" idx="16"/>
          </p:nvPr>
        </p:nvSpPr>
        <p:spPr/>
        <p:txBody>
          <a:bodyPr/>
          <a:lstStyle/>
          <a:p>
            <a:r>
              <a:rPr lang="en-US" sz="2800" dirty="0"/>
              <a:t>CVE-2025-21171</a:t>
            </a:r>
          </a:p>
        </p:txBody>
      </p:sp>
      <p:sp>
        <p:nvSpPr>
          <p:cNvPr id="5" name="Text Placeholder 4">
            <a:extLst>
              <a:ext uri="{FF2B5EF4-FFF2-40B4-BE49-F238E27FC236}">
                <a16:creationId xmlns:a16="http://schemas.microsoft.com/office/drawing/2014/main" id="{F3A1BBD4-B3C5-EA36-4DBA-7572A6D3F5AA}"/>
              </a:ext>
              <a:ext uri="{C183D7F6-B498-43B3-948B-1728B52AA6E4}">
                <adec:decorative xmlns:adec="http://schemas.microsoft.com/office/drawing/2017/decorative" val="1"/>
              </a:ext>
            </a:extLst>
          </p:cNvPr>
          <p:cNvSpPr>
            <a:spLocks noGrp="1"/>
          </p:cNvSpPr>
          <p:nvPr>
            <p:ph type="body" sz="quarter" idx="19"/>
          </p:nvPr>
        </p:nvSpPr>
        <p:spPr/>
        <p:txBody>
          <a:bodyPr/>
          <a:lstStyle/>
          <a:p>
            <a:r>
              <a:rPr lang="en-US" dirty="0"/>
              <a:t>07</a:t>
            </a:r>
          </a:p>
        </p:txBody>
      </p:sp>
      <p:sp>
        <p:nvSpPr>
          <p:cNvPr id="6" name="Text Placeholder 5">
            <a:extLst>
              <a:ext uri="{FF2B5EF4-FFF2-40B4-BE49-F238E27FC236}">
                <a16:creationId xmlns:a16="http://schemas.microsoft.com/office/drawing/2014/main" id="{22A9D584-5158-CE1E-5826-0601B6DD71E7}"/>
              </a:ext>
            </a:extLst>
          </p:cNvPr>
          <p:cNvSpPr>
            <a:spLocks noGrp="1"/>
          </p:cNvSpPr>
          <p:nvPr>
            <p:ph type="body" sz="quarter" idx="22"/>
          </p:nvPr>
        </p:nvSpPr>
        <p:spPr/>
        <p:txBody>
          <a:bodyPr/>
          <a:lstStyle/>
          <a:p>
            <a:r>
              <a:rPr lang="en-US" b="1" dirty="0">
                <a:latin typeface="Poppins" panose="00000500000000000000" pitchFamily="2" charset="0"/>
                <a:cs typeface="Poppins" panose="00000500000000000000" pitchFamily="2" charset="0"/>
              </a:rPr>
              <a:t>Remote Code Execution</a:t>
            </a:r>
          </a:p>
          <a:p>
            <a:r>
              <a:rPr lang="en-US" dirty="0">
                <a:latin typeface="Poppins" panose="00000500000000000000" pitchFamily="2" charset="0"/>
                <a:cs typeface="Poppins" panose="00000500000000000000" pitchFamily="2" charset="0"/>
              </a:rPr>
              <a:t>Exploitable by sending a specially crafted request to the vulnerable web app.</a:t>
            </a:r>
          </a:p>
        </p:txBody>
      </p:sp>
      <p:sp>
        <p:nvSpPr>
          <p:cNvPr id="7" name="Text Placeholder 6">
            <a:extLst>
              <a:ext uri="{FF2B5EF4-FFF2-40B4-BE49-F238E27FC236}">
                <a16:creationId xmlns:a16="http://schemas.microsoft.com/office/drawing/2014/main" id="{B23FEB41-78C0-82EA-F019-D1A02527EC90}"/>
              </a:ext>
            </a:extLst>
          </p:cNvPr>
          <p:cNvSpPr>
            <a:spLocks noGrp="1"/>
          </p:cNvSpPr>
          <p:nvPr>
            <p:ph type="body" sz="quarter" idx="23"/>
          </p:nvPr>
        </p:nvSpPr>
        <p:spPr/>
        <p:txBody>
          <a:bodyPr/>
          <a:lstStyle/>
          <a:p>
            <a:r>
              <a:rPr lang="en-US" sz="2800" dirty="0"/>
              <a:t>CVE-2024-43499</a:t>
            </a:r>
            <a:endParaRPr lang="en-US" dirty="0"/>
          </a:p>
        </p:txBody>
      </p:sp>
      <p:sp>
        <p:nvSpPr>
          <p:cNvPr id="8" name="Text Placeholder 7">
            <a:extLst>
              <a:ext uri="{FF2B5EF4-FFF2-40B4-BE49-F238E27FC236}">
                <a16:creationId xmlns:a16="http://schemas.microsoft.com/office/drawing/2014/main" id="{322720FB-F4D0-D635-4655-0972620DC0F5}"/>
              </a:ext>
              <a:ext uri="{C183D7F6-B498-43B3-948B-1728B52AA6E4}">
                <adec:decorative xmlns:adec="http://schemas.microsoft.com/office/drawing/2017/decorative" val="1"/>
              </a:ext>
            </a:extLst>
          </p:cNvPr>
          <p:cNvSpPr>
            <a:spLocks noGrp="1"/>
          </p:cNvSpPr>
          <p:nvPr>
            <p:ph type="body" sz="quarter" idx="24"/>
          </p:nvPr>
        </p:nvSpPr>
        <p:spPr/>
        <p:txBody>
          <a:bodyPr/>
          <a:lstStyle/>
          <a:p>
            <a:r>
              <a:rPr lang="en-US" dirty="0"/>
              <a:t>08</a:t>
            </a:r>
          </a:p>
        </p:txBody>
      </p:sp>
      <p:sp>
        <p:nvSpPr>
          <p:cNvPr id="9" name="Text Placeholder 8">
            <a:extLst>
              <a:ext uri="{FF2B5EF4-FFF2-40B4-BE49-F238E27FC236}">
                <a16:creationId xmlns:a16="http://schemas.microsoft.com/office/drawing/2014/main" id="{87D2E028-B1D9-8093-438A-04475ABBF264}"/>
              </a:ext>
            </a:extLst>
          </p:cNvPr>
          <p:cNvSpPr>
            <a:spLocks noGrp="1"/>
          </p:cNvSpPr>
          <p:nvPr>
            <p:ph type="body" sz="quarter" idx="25"/>
          </p:nvPr>
        </p:nvSpPr>
        <p:spPr/>
        <p:txBody>
          <a:bodyPr/>
          <a:lstStyle/>
          <a:p>
            <a:r>
              <a:rPr lang="en-US" b="1" dirty="0">
                <a:latin typeface="Poppins" panose="00000500000000000000" pitchFamily="2" charset="0"/>
                <a:cs typeface="Poppins" panose="00000500000000000000" pitchFamily="2" charset="0"/>
              </a:rPr>
              <a:t>Denial of Service</a:t>
            </a:r>
          </a:p>
          <a:p>
            <a:r>
              <a:rPr lang="en-US" dirty="0">
                <a:latin typeface="Poppins" panose="00000500000000000000" pitchFamily="2" charset="0"/>
                <a:cs typeface="Poppins" panose="00000500000000000000" pitchFamily="2" charset="0"/>
              </a:rPr>
              <a:t>The NrbfDecoder component in .NET 9 contains a denial-of-service vulnerability due to incorrect input validation.</a:t>
            </a:r>
          </a:p>
        </p:txBody>
      </p:sp>
      <p:sp>
        <p:nvSpPr>
          <p:cNvPr id="10" name="Text Placeholder 9">
            <a:extLst>
              <a:ext uri="{FF2B5EF4-FFF2-40B4-BE49-F238E27FC236}">
                <a16:creationId xmlns:a16="http://schemas.microsoft.com/office/drawing/2014/main" id="{FB33D68D-FEE1-EC8D-F3B4-1B7577965301}"/>
              </a:ext>
            </a:extLst>
          </p:cNvPr>
          <p:cNvSpPr>
            <a:spLocks noGrp="1"/>
          </p:cNvSpPr>
          <p:nvPr>
            <p:ph type="body" sz="quarter" idx="26"/>
          </p:nvPr>
        </p:nvSpPr>
        <p:spPr/>
        <p:txBody>
          <a:bodyPr/>
          <a:lstStyle/>
          <a:p>
            <a:r>
              <a:rPr lang="en-US" sz="2800" dirty="0"/>
              <a:t>CVE-2024-43498</a:t>
            </a:r>
            <a:endParaRPr lang="en-US" dirty="0"/>
          </a:p>
        </p:txBody>
      </p:sp>
      <p:sp>
        <p:nvSpPr>
          <p:cNvPr id="11" name="Text Placeholder 10">
            <a:extLst>
              <a:ext uri="{FF2B5EF4-FFF2-40B4-BE49-F238E27FC236}">
                <a16:creationId xmlns:a16="http://schemas.microsoft.com/office/drawing/2014/main" id="{349762DA-6049-FDC2-222B-C24AF915FA19}"/>
              </a:ext>
              <a:ext uri="{C183D7F6-B498-43B3-948B-1728B52AA6E4}">
                <adec:decorative xmlns:adec="http://schemas.microsoft.com/office/drawing/2017/decorative" val="1"/>
              </a:ext>
            </a:extLst>
          </p:cNvPr>
          <p:cNvSpPr>
            <a:spLocks noGrp="1"/>
          </p:cNvSpPr>
          <p:nvPr>
            <p:ph type="body" sz="quarter" idx="27"/>
          </p:nvPr>
        </p:nvSpPr>
        <p:spPr/>
        <p:txBody>
          <a:bodyPr/>
          <a:lstStyle/>
          <a:p>
            <a:r>
              <a:rPr lang="en-US" dirty="0"/>
              <a:t>09</a:t>
            </a:r>
          </a:p>
        </p:txBody>
      </p:sp>
      <p:sp>
        <p:nvSpPr>
          <p:cNvPr id="12" name="Text Placeholder 11">
            <a:extLst>
              <a:ext uri="{FF2B5EF4-FFF2-40B4-BE49-F238E27FC236}">
                <a16:creationId xmlns:a16="http://schemas.microsoft.com/office/drawing/2014/main" id="{38C149A9-CEC8-A11E-1A37-1ADE61CEE4BB}"/>
              </a:ext>
            </a:extLst>
          </p:cNvPr>
          <p:cNvSpPr>
            <a:spLocks noGrp="1"/>
          </p:cNvSpPr>
          <p:nvPr>
            <p:ph type="body" sz="quarter" idx="28"/>
          </p:nvPr>
        </p:nvSpPr>
        <p:spPr>
          <a:xfrm>
            <a:off x="8485743" y="8740532"/>
            <a:ext cx="3491894" cy="3603868"/>
          </a:xfrm>
        </p:spPr>
        <p:txBody>
          <a:bodyPr/>
          <a:lstStyle/>
          <a:p>
            <a:r>
              <a:rPr lang="en-US" b="1" dirty="0">
                <a:latin typeface="Poppins" panose="00000500000000000000" pitchFamily="2" charset="0"/>
                <a:cs typeface="Poppins" panose="00000500000000000000" pitchFamily="2" charset="0"/>
              </a:rPr>
              <a:t>Remote Code Execution </a:t>
            </a:r>
          </a:p>
          <a:p>
            <a:r>
              <a:rPr lang="en-US" dirty="0">
                <a:latin typeface="Poppins" panose="00000500000000000000" pitchFamily="2" charset="0"/>
                <a:cs typeface="Poppins" panose="00000500000000000000" pitchFamily="2" charset="0"/>
              </a:rPr>
              <a:t>Exploitable by sending specially crafted requests to a .NET vulnerable webapp or loading a specially crafted file into a vulnerable application.</a:t>
            </a:r>
          </a:p>
        </p:txBody>
      </p:sp>
    </p:spTree>
    <p:extLst>
      <p:ext uri="{BB962C8B-B14F-4D97-AF65-F5344CB8AC3E}">
        <p14:creationId xmlns:p14="http://schemas.microsoft.com/office/powerpoint/2010/main" val="1177362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603F-BC61-AFE8-F489-99739AE320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79B045-D9C9-4B26-4749-A31AC9127312}"/>
              </a:ext>
            </a:extLst>
          </p:cNvPr>
          <p:cNvSpPr>
            <a:spLocks noGrp="1"/>
          </p:cNvSpPr>
          <p:nvPr>
            <p:ph type="title" idx="4294967295"/>
          </p:nvPr>
        </p:nvSpPr>
        <p:spPr>
          <a:xfrm>
            <a:off x="1140565" y="1066800"/>
            <a:ext cx="7010400" cy="9398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kumimoji="0" lang="en-US" sz="6000" b="1" i="0" u="none" strike="noStrike" kern="0" cap="none" spc="-120" normalizeH="0" baseline="0" noProof="0" dirty="0">
                <a:ln>
                  <a:noFill/>
                </a:ln>
                <a:solidFill>
                  <a:srgbClr val="0F0F0F">
                    <a:alpha val="100000"/>
                  </a:srgbClr>
                </a:solidFill>
                <a:effectLst/>
                <a:uLnTx/>
                <a:uFillTx/>
                <a:latin typeface="Poppins" pitchFamily="2" charset="77"/>
                <a:ea typeface="Poppins" pitchFamily="2" charset="77"/>
                <a:cs typeface="Poppins" pitchFamily="2" charset="77"/>
              </a:rPr>
              <a:t>ASP.NET CVEs</a:t>
            </a:r>
          </a:p>
        </p:txBody>
      </p:sp>
      <p:sp>
        <p:nvSpPr>
          <p:cNvPr id="4" name="Text Placeholder 3">
            <a:extLst>
              <a:ext uri="{FF2B5EF4-FFF2-40B4-BE49-F238E27FC236}">
                <a16:creationId xmlns:a16="http://schemas.microsoft.com/office/drawing/2014/main" id="{3F082CD1-CF8E-F531-E293-12690364A43D}"/>
              </a:ext>
            </a:extLst>
          </p:cNvPr>
          <p:cNvSpPr>
            <a:spLocks noGrp="1"/>
          </p:cNvSpPr>
          <p:nvPr>
            <p:ph type="body" sz="quarter" idx="16"/>
          </p:nvPr>
        </p:nvSpPr>
        <p:spPr/>
        <p:txBody>
          <a:bodyPr/>
          <a:lstStyle/>
          <a:p>
            <a:r>
              <a:rPr lang="en-US" sz="2800" dirty="0"/>
              <a:t>CVE-2025-55315</a:t>
            </a:r>
            <a:endParaRPr lang="en-US" sz="3200" dirty="0"/>
          </a:p>
        </p:txBody>
      </p:sp>
      <p:sp>
        <p:nvSpPr>
          <p:cNvPr id="5" name="Text Placeholder 4">
            <a:extLst>
              <a:ext uri="{FF2B5EF4-FFF2-40B4-BE49-F238E27FC236}">
                <a16:creationId xmlns:a16="http://schemas.microsoft.com/office/drawing/2014/main" id="{2046D5F6-E278-612C-45B4-915CD862F4DF}"/>
              </a:ext>
              <a:ext uri="{C183D7F6-B498-43B3-948B-1728B52AA6E4}">
                <adec:decorative xmlns:adec="http://schemas.microsoft.com/office/drawing/2017/decorative" val="1"/>
              </a:ext>
            </a:extLst>
          </p:cNvPr>
          <p:cNvSpPr>
            <a:spLocks noGrp="1"/>
          </p:cNvSpPr>
          <p:nvPr>
            <p:ph type="body" sz="quarter" idx="19"/>
          </p:nvPr>
        </p:nvSpPr>
        <p:spPr/>
        <p:txBody>
          <a:bodyPr/>
          <a:lstStyle/>
          <a:p>
            <a:r>
              <a:rPr lang="en-US" dirty="0"/>
              <a:t>01</a:t>
            </a:r>
          </a:p>
        </p:txBody>
      </p:sp>
      <p:sp>
        <p:nvSpPr>
          <p:cNvPr id="6" name="Text Placeholder 5">
            <a:extLst>
              <a:ext uri="{FF2B5EF4-FFF2-40B4-BE49-F238E27FC236}">
                <a16:creationId xmlns:a16="http://schemas.microsoft.com/office/drawing/2014/main" id="{BEC20DFC-9B87-301F-9472-815260D9C184}"/>
              </a:ext>
            </a:extLst>
          </p:cNvPr>
          <p:cNvSpPr>
            <a:spLocks noGrp="1"/>
          </p:cNvSpPr>
          <p:nvPr>
            <p:ph type="body" sz="quarter" idx="22"/>
          </p:nvPr>
        </p:nvSpPr>
        <p:spPr/>
        <p:txBody>
          <a:bodyPr/>
          <a:lstStyle/>
          <a:p>
            <a:r>
              <a:rPr lang="en-US" dirty="0">
                <a:latin typeface="Poppins" panose="00000500000000000000" pitchFamily="2" charset="0"/>
                <a:cs typeface="Poppins" panose="00000500000000000000" pitchFamily="2" charset="0"/>
              </a:rPr>
              <a:t>Security Feature Bypass</a:t>
            </a:r>
          </a:p>
          <a:p>
            <a:r>
              <a:rPr lang="en-US" dirty="0">
                <a:latin typeface="Poppins" panose="00000500000000000000" pitchFamily="2" charset="0"/>
                <a:cs typeface="Poppins" panose="00000500000000000000" pitchFamily="2" charset="0"/>
              </a:rPr>
              <a:t>HTTP Request Smuggling vulnerability.</a:t>
            </a:r>
          </a:p>
        </p:txBody>
      </p:sp>
      <p:sp>
        <p:nvSpPr>
          <p:cNvPr id="7" name="Text Placeholder 6">
            <a:extLst>
              <a:ext uri="{FF2B5EF4-FFF2-40B4-BE49-F238E27FC236}">
                <a16:creationId xmlns:a16="http://schemas.microsoft.com/office/drawing/2014/main" id="{AAA0D769-CED2-9319-9230-F99C4D34C121}"/>
              </a:ext>
            </a:extLst>
          </p:cNvPr>
          <p:cNvSpPr>
            <a:spLocks noGrp="1"/>
          </p:cNvSpPr>
          <p:nvPr>
            <p:ph type="body" sz="quarter" idx="23"/>
          </p:nvPr>
        </p:nvSpPr>
        <p:spPr/>
        <p:txBody>
          <a:bodyPr/>
          <a:lstStyle/>
          <a:p>
            <a:r>
              <a:rPr lang="en-US" sz="2800" dirty="0"/>
              <a:t>CVE-2025-26682</a:t>
            </a:r>
          </a:p>
        </p:txBody>
      </p:sp>
      <p:sp>
        <p:nvSpPr>
          <p:cNvPr id="8" name="Text Placeholder 7">
            <a:extLst>
              <a:ext uri="{FF2B5EF4-FFF2-40B4-BE49-F238E27FC236}">
                <a16:creationId xmlns:a16="http://schemas.microsoft.com/office/drawing/2014/main" id="{99FF80BF-4C40-AD6C-4D3A-7AE9A9CA38B9}"/>
              </a:ext>
              <a:ext uri="{C183D7F6-B498-43B3-948B-1728B52AA6E4}">
                <adec:decorative xmlns:adec="http://schemas.microsoft.com/office/drawing/2017/decorative" val="1"/>
              </a:ext>
            </a:extLst>
          </p:cNvPr>
          <p:cNvSpPr>
            <a:spLocks noGrp="1"/>
          </p:cNvSpPr>
          <p:nvPr>
            <p:ph type="body" sz="quarter" idx="24"/>
          </p:nvPr>
        </p:nvSpPr>
        <p:spPr/>
        <p:txBody>
          <a:bodyPr/>
          <a:lstStyle/>
          <a:p>
            <a:r>
              <a:rPr lang="en-US" dirty="0"/>
              <a:t>02</a:t>
            </a:r>
          </a:p>
        </p:txBody>
      </p:sp>
      <p:sp>
        <p:nvSpPr>
          <p:cNvPr id="9" name="Text Placeholder 8">
            <a:extLst>
              <a:ext uri="{FF2B5EF4-FFF2-40B4-BE49-F238E27FC236}">
                <a16:creationId xmlns:a16="http://schemas.microsoft.com/office/drawing/2014/main" id="{35AD21B9-6F0D-25ED-8076-A7313040CA4D}"/>
              </a:ext>
            </a:extLst>
          </p:cNvPr>
          <p:cNvSpPr>
            <a:spLocks noGrp="1"/>
          </p:cNvSpPr>
          <p:nvPr>
            <p:ph type="body" sz="quarter" idx="25"/>
          </p:nvPr>
        </p:nvSpPr>
        <p:spPr/>
        <p:txBody>
          <a:bodyPr/>
          <a:lstStyle/>
          <a:p>
            <a:r>
              <a:rPr lang="en-US" dirty="0">
                <a:latin typeface="Poppins" panose="00000500000000000000" pitchFamily="2" charset="0"/>
                <a:cs typeface="Poppins" panose="00000500000000000000" pitchFamily="2" charset="0"/>
              </a:rPr>
              <a:t>Denial-of-Service</a:t>
            </a:r>
          </a:p>
          <a:p>
            <a:r>
              <a:rPr lang="en-US" dirty="0">
                <a:latin typeface="Poppins" panose="00000500000000000000" pitchFamily="2" charset="0"/>
                <a:cs typeface="Poppins" panose="00000500000000000000" pitchFamily="2" charset="0"/>
              </a:rPr>
              <a:t>DoS in ASP.NET’s HTTP/3 stack.</a:t>
            </a:r>
          </a:p>
        </p:txBody>
      </p:sp>
      <p:sp>
        <p:nvSpPr>
          <p:cNvPr id="10" name="Text Placeholder 9">
            <a:extLst>
              <a:ext uri="{FF2B5EF4-FFF2-40B4-BE49-F238E27FC236}">
                <a16:creationId xmlns:a16="http://schemas.microsoft.com/office/drawing/2014/main" id="{20988A13-C8A6-A955-23B9-95E6EB01358F}"/>
              </a:ext>
            </a:extLst>
          </p:cNvPr>
          <p:cNvSpPr>
            <a:spLocks noGrp="1"/>
          </p:cNvSpPr>
          <p:nvPr>
            <p:ph type="body" sz="quarter" idx="26"/>
          </p:nvPr>
        </p:nvSpPr>
        <p:spPr/>
        <p:txBody>
          <a:bodyPr/>
          <a:lstStyle/>
          <a:p>
            <a:r>
              <a:rPr lang="en-US" sz="2800" dirty="0"/>
              <a:t>CVE-2025-24070</a:t>
            </a:r>
          </a:p>
        </p:txBody>
      </p:sp>
      <p:sp>
        <p:nvSpPr>
          <p:cNvPr id="11" name="Text Placeholder 10">
            <a:extLst>
              <a:ext uri="{FF2B5EF4-FFF2-40B4-BE49-F238E27FC236}">
                <a16:creationId xmlns:a16="http://schemas.microsoft.com/office/drawing/2014/main" id="{CFEBC28C-3474-287A-ED12-080110A30E48}"/>
              </a:ext>
              <a:ext uri="{C183D7F6-B498-43B3-948B-1728B52AA6E4}">
                <adec:decorative xmlns:adec="http://schemas.microsoft.com/office/drawing/2017/decorative" val="1"/>
              </a:ext>
            </a:extLst>
          </p:cNvPr>
          <p:cNvSpPr>
            <a:spLocks noGrp="1"/>
          </p:cNvSpPr>
          <p:nvPr>
            <p:ph type="body" sz="quarter" idx="27"/>
          </p:nvPr>
        </p:nvSpPr>
        <p:spPr/>
        <p:txBody>
          <a:bodyPr/>
          <a:lstStyle/>
          <a:p>
            <a:r>
              <a:rPr lang="en-US"/>
              <a:t>03</a:t>
            </a:r>
          </a:p>
        </p:txBody>
      </p:sp>
      <p:sp>
        <p:nvSpPr>
          <p:cNvPr id="12" name="Text Placeholder 11">
            <a:extLst>
              <a:ext uri="{FF2B5EF4-FFF2-40B4-BE49-F238E27FC236}">
                <a16:creationId xmlns:a16="http://schemas.microsoft.com/office/drawing/2014/main" id="{6026B5F2-D964-8A82-928F-7A0E53908B82}"/>
              </a:ext>
            </a:extLst>
          </p:cNvPr>
          <p:cNvSpPr>
            <a:spLocks noGrp="1"/>
          </p:cNvSpPr>
          <p:nvPr>
            <p:ph type="body" sz="quarter" idx="28"/>
          </p:nvPr>
        </p:nvSpPr>
        <p:spPr/>
        <p:txBody>
          <a:bodyPr/>
          <a:lstStyle/>
          <a:p>
            <a:r>
              <a:rPr lang="en-US" dirty="0">
                <a:latin typeface="Poppins" panose="00000500000000000000" pitchFamily="2" charset="0"/>
                <a:cs typeface="Poppins" panose="00000500000000000000" pitchFamily="2" charset="0"/>
              </a:rPr>
              <a:t>Elevation of Privilege</a:t>
            </a:r>
          </a:p>
          <a:p>
            <a:r>
              <a:rPr lang="en-US" dirty="0" err="1">
                <a:latin typeface="Poppins" panose="00000500000000000000" pitchFamily="2" charset="0"/>
                <a:cs typeface="Poppins" panose="00000500000000000000" pitchFamily="2" charset="0"/>
              </a:rPr>
              <a:t>RefreshSignInAsync</a:t>
            </a:r>
            <a:r>
              <a:rPr lang="en-US" dirty="0">
                <a:latin typeface="Poppins" panose="00000500000000000000" pitchFamily="2" charset="0"/>
                <a:cs typeface="Poppins" panose="00000500000000000000" pitchFamily="2" charset="0"/>
              </a:rPr>
              <a:t>() did not authenticate properly.</a:t>
            </a:r>
          </a:p>
        </p:txBody>
      </p:sp>
    </p:spTree>
    <p:extLst>
      <p:ext uri="{BB962C8B-B14F-4D97-AF65-F5344CB8AC3E}">
        <p14:creationId xmlns:p14="http://schemas.microsoft.com/office/powerpoint/2010/main" val="2087822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F973E-4A96-840A-28C0-441FFD00385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140E6F6-0A88-D477-D16C-CFDFED1C174C}"/>
              </a:ext>
            </a:extLst>
          </p:cNvPr>
          <p:cNvSpPr>
            <a:spLocks noGrp="1"/>
          </p:cNvSpPr>
          <p:nvPr>
            <p:ph type="body" sz="quarter" idx="10"/>
          </p:nvPr>
        </p:nvSpPr>
        <p:spPr>
          <a:xfrm>
            <a:off x="1140564" y="1066800"/>
            <a:ext cx="11223713" cy="939800"/>
          </a:xfrm>
        </p:spPr>
        <p:txBody>
          <a:bodyPr/>
          <a:lstStyle/>
          <a:p>
            <a:r>
              <a:rPr lang="en-US" dirty="0"/>
              <a:t>Vulnerabilities by type</a:t>
            </a:r>
            <a:br>
              <a:rPr lang="en-US" dirty="0"/>
            </a:br>
            <a:endParaRPr lang="en-US" dirty="0"/>
          </a:p>
        </p:txBody>
      </p:sp>
      <p:graphicFrame>
        <p:nvGraphicFramePr>
          <p:cNvPr id="8" name="Chart Placeholder 7" descr="A pie chart showing a breakdown of vulnerabilities by type.&#10;&#10;There are &#10;&#10;4 Remote Code Execution &#10;2 Denial-of-Service&#10;1 Spoofing&#10;3 Elevation of Privilege&#10;1 Security Feature Bypass&#10;1 Information Disclosure&#10;">
            <a:extLst>
              <a:ext uri="{FF2B5EF4-FFF2-40B4-BE49-F238E27FC236}">
                <a16:creationId xmlns:a16="http://schemas.microsoft.com/office/drawing/2014/main" id="{95D9B496-52D6-C14B-3E22-1140B11A4BA2}"/>
              </a:ext>
            </a:extLst>
          </p:cNvPr>
          <p:cNvGraphicFramePr>
            <a:graphicFrameLocks noGrp="1"/>
          </p:cNvGraphicFramePr>
          <p:nvPr>
            <p:ph type="chart" sz="quarter" idx="12"/>
            <p:extLst>
              <p:ext uri="{D42A27DB-BD31-4B8C-83A1-F6EECF244321}">
                <p14:modId xmlns:p14="http://schemas.microsoft.com/office/powerpoint/2010/main" val="748545517"/>
              </p:ext>
            </p:extLst>
          </p:nvPr>
        </p:nvGraphicFramePr>
        <p:xfrm>
          <a:off x="5624513" y="3733800"/>
          <a:ext cx="13138150" cy="746601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1">
            <a:extLst>
              <a:ext uri="{FF2B5EF4-FFF2-40B4-BE49-F238E27FC236}">
                <a16:creationId xmlns:a16="http://schemas.microsoft.com/office/drawing/2014/main" id="{0A1BA004-81DA-EA60-3DB4-D8BB06C372C8}"/>
              </a:ext>
              <a:ext uri="{C183D7F6-B498-43B3-948B-1728B52AA6E4}">
                <adec:decorative xmlns:adec="http://schemas.microsoft.com/office/drawing/2017/decorative" val="1"/>
              </a:ext>
            </a:extLst>
          </p:cNvPr>
          <p:cNvSpPr txBox="1">
            <a:spLocks/>
          </p:cNvSpPr>
          <p:nvPr/>
        </p:nvSpPr>
        <p:spPr>
          <a:xfrm>
            <a:off x="10896969" y="6388100"/>
            <a:ext cx="2593235" cy="939800"/>
          </a:xfrm>
          <a:prstGeom prst="rect">
            <a:avLst/>
          </a:prstGeom>
        </p:spPr>
        <p:txBody>
          <a:bodyPr/>
          <a:lstStyle>
            <a:lvl1pPr marL="0" indent="0" algn="l" defTabSz="914400" rtl="0" eaLnBrk="1" latinLnBrk="0" hangingPunct="1">
              <a:lnSpc>
                <a:spcPts val="6800"/>
              </a:lnSpc>
              <a:spcBef>
                <a:spcPct val="20000"/>
              </a:spcBef>
              <a:buFont typeface="Arial" pitchFamily="34" charset="0"/>
              <a:buNone/>
              <a:defRPr lang="en-US" sz="6000" kern="0" spc="-120" dirty="0" smtClean="0">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b="1" dirty="0">
                <a:latin typeface="Poppins" pitchFamily="2" charset="77"/>
                <a:cs typeface="Poppins" pitchFamily="2" charset="77"/>
              </a:rPr>
              <a:t>FY25</a:t>
            </a:r>
          </a:p>
        </p:txBody>
      </p:sp>
      <p:sp>
        <p:nvSpPr>
          <p:cNvPr id="3" name="Title 2">
            <a:extLst>
              <a:ext uri="{FF2B5EF4-FFF2-40B4-BE49-F238E27FC236}">
                <a16:creationId xmlns:a16="http://schemas.microsoft.com/office/drawing/2014/main" id="{F812FCA3-D601-872F-DE5B-2DAAB13D10EA}"/>
              </a:ext>
              <a:ext uri="{C183D7F6-B498-43B3-948B-1728B52AA6E4}">
                <adec:decorative xmlns:adec="http://schemas.microsoft.com/office/drawing/2017/decorative" val="1"/>
              </a:ext>
            </a:extLst>
          </p:cNvPr>
          <p:cNvSpPr>
            <a:spLocks noGrp="1"/>
          </p:cNvSpPr>
          <p:nvPr>
            <p:ph type="title" idx="4294967295"/>
          </p:nvPr>
        </p:nvSpPr>
        <p:spPr>
          <a:xfrm>
            <a:off x="1676400" y="-2651125"/>
            <a:ext cx="21034375" cy="2651125"/>
          </a:xfrm>
          <a:prstGeom prst="rect">
            <a:avLst/>
          </a:prstGeom>
        </p:spPr>
        <p:txBody>
          <a:bodyPr anchor="b"/>
          <a:lstStyle/>
          <a:p>
            <a:r>
              <a:rPr lang="en-US" dirty="0"/>
              <a:t>Vulnerabilities by type</a:t>
            </a:r>
          </a:p>
        </p:txBody>
      </p:sp>
    </p:spTree>
    <p:extLst>
      <p:ext uri="{BB962C8B-B14F-4D97-AF65-F5344CB8AC3E}">
        <p14:creationId xmlns:p14="http://schemas.microsoft.com/office/powerpoint/2010/main" val="3304798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E49C0-0972-2F14-FD19-E72520D75D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9530A5-4BA3-D321-8432-EAF72F1D49BC}"/>
              </a:ext>
            </a:extLst>
          </p:cNvPr>
          <p:cNvSpPr>
            <a:spLocks noGrp="1"/>
          </p:cNvSpPr>
          <p:nvPr>
            <p:ph type="body" sz="quarter" idx="10"/>
          </p:nvPr>
        </p:nvSpPr>
        <p:spPr>
          <a:xfrm>
            <a:off x="1140565" y="1066800"/>
            <a:ext cx="10190044" cy="939800"/>
          </a:xfrm>
        </p:spPr>
        <p:txBody>
          <a:bodyPr/>
          <a:lstStyle/>
          <a:p>
            <a:r>
              <a:rPr lang="en-US" dirty="0"/>
              <a:t>Vulnerabilities by CVSS</a:t>
            </a:r>
            <a:br>
              <a:rPr lang="en-US" dirty="0"/>
            </a:br>
            <a:endParaRPr lang="en-US" dirty="0"/>
          </a:p>
        </p:txBody>
      </p:sp>
      <p:graphicFrame>
        <p:nvGraphicFramePr>
          <p:cNvPr id="8" name="Chart Placeholder 7" descr="A pie chart showing the break down of vulnerabiltiesby score&#10;&#10;Medium (4.0 - 6.9)  1 &#10;High (7.0 - 8.9)  9 &#10;Critical (9.0 - 10)  2 &#10;">
            <a:extLst>
              <a:ext uri="{FF2B5EF4-FFF2-40B4-BE49-F238E27FC236}">
                <a16:creationId xmlns:a16="http://schemas.microsoft.com/office/drawing/2014/main" id="{2E468E20-B0DB-C48F-3A1F-61F3C14F3475}"/>
              </a:ext>
            </a:extLst>
          </p:cNvPr>
          <p:cNvGraphicFramePr>
            <a:graphicFrameLocks noGrp="1"/>
          </p:cNvGraphicFramePr>
          <p:nvPr>
            <p:ph type="chart" sz="quarter" idx="12"/>
            <p:extLst>
              <p:ext uri="{D42A27DB-BD31-4B8C-83A1-F6EECF244321}">
                <p14:modId xmlns:p14="http://schemas.microsoft.com/office/powerpoint/2010/main" val="4020172180"/>
              </p:ext>
            </p:extLst>
          </p:nvPr>
        </p:nvGraphicFramePr>
        <p:xfrm>
          <a:off x="5624513" y="3733800"/>
          <a:ext cx="13138150" cy="746601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1">
            <a:extLst>
              <a:ext uri="{FF2B5EF4-FFF2-40B4-BE49-F238E27FC236}">
                <a16:creationId xmlns:a16="http://schemas.microsoft.com/office/drawing/2014/main" id="{1DD68270-79B4-79AC-397B-01A20764C34C}"/>
              </a:ext>
              <a:ext uri="{C183D7F6-B498-43B3-948B-1728B52AA6E4}">
                <adec:decorative xmlns:adec="http://schemas.microsoft.com/office/drawing/2017/decorative" val="1"/>
              </a:ext>
            </a:extLst>
          </p:cNvPr>
          <p:cNvSpPr txBox="1">
            <a:spLocks/>
          </p:cNvSpPr>
          <p:nvPr/>
        </p:nvSpPr>
        <p:spPr>
          <a:xfrm>
            <a:off x="10916019" y="6724650"/>
            <a:ext cx="2593235" cy="939800"/>
          </a:xfrm>
          <a:prstGeom prst="rect">
            <a:avLst/>
          </a:prstGeom>
        </p:spPr>
        <p:txBody>
          <a:bodyPr/>
          <a:lstStyle>
            <a:lvl1pPr marL="0" indent="0" algn="l" defTabSz="914400" rtl="0" eaLnBrk="1" latinLnBrk="0" hangingPunct="1">
              <a:lnSpc>
                <a:spcPts val="6800"/>
              </a:lnSpc>
              <a:spcBef>
                <a:spcPct val="20000"/>
              </a:spcBef>
              <a:buFont typeface="Arial" pitchFamily="34" charset="0"/>
              <a:buNone/>
              <a:defRPr lang="en-US" sz="6000" kern="0" spc="-120" dirty="0" smtClean="0">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b="1" dirty="0">
                <a:latin typeface="Poppins" pitchFamily="2" charset="77"/>
                <a:cs typeface="Poppins" pitchFamily="2" charset="77"/>
              </a:rPr>
              <a:t>FY25</a:t>
            </a:r>
          </a:p>
        </p:txBody>
      </p:sp>
      <p:sp>
        <p:nvSpPr>
          <p:cNvPr id="3" name="Title 2">
            <a:extLst>
              <a:ext uri="{FF2B5EF4-FFF2-40B4-BE49-F238E27FC236}">
                <a16:creationId xmlns:a16="http://schemas.microsoft.com/office/drawing/2014/main" id="{82B197F9-81A7-05E3-2A1F-F30C9E6D3D5D}"/>
              </a:ext>
              <a:ext uri="{C183D7F6-B498-43B3-948B-1728B52AA6E4}">
                <adec:decorative xmlns:adec="http://schemas.microsoft.com/office/drawing/2017/decorative" val="1"/>
              </a:ext>
            </a:extLst>
          </p:cNvPr>
          <p:cNvSpPr>
            <a:spLocks noGrp="1"/>
          </p:cNvSpPr>
          <p:nvPr>
            <p:ph type="title" idx="4294967295"/>
          </p:nvPr>
        </p:nvSpPr>
        <p:spPr>
          <a:xfrm>
            <a:off x="1676400" y="-2651125"/>
            <a:ext cx="21034375" cy="2651125"/>
          </a:xfrm>
          <a:prstGeom prst="rect">
            <a:avLst/>
          </a:prstGeom>
        </p:spPr>
        <p:txBody>
          <a:bodyPr anchor="b"/>
          <a:lstStyle/>
          <a:p>
            <a:r>
              <a:rPr lang="en-US" dirty="0"/>
              <a:t>Vulnerabilities by CVSS</a:t>
            </a:r>
          </a:p>
        </p:txBody>
      </p:sp>
    </p:spTree>
    <p:extLst>
      <p:ext uri="{BB962C8B-B14F-4D97-AF65-F5344CB8AC3E}">
        <p14:creationId xmlns:p14="http://schemas.microsoft.com/office/powerpoint/2010/main" val="888078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A8BE9-04E3-46EB-E0DC-6E0CDC1DA4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647FE67-B014-BB7B-228A-1CF0B07AFC8F}"/>
              </a:ext>
            </a:extLst>
          </p:cNvPr>
          <p:cNvSpPr>
            <a:spLocks noGrp="1"/>
          </p:cNvSpPr>
          <p:nvPr>
            <p:ph type="title" idx="4294967295"/>
          </p:nvPr>
        </p:nvSpPr>
        <p:spPr>
          <a:xfrm>
            <a:off x="2757376" y="6096225"/>
            <a:ext cx="14987285" cy="128931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0800"/>
              </a:lnSpc>
              <a:spcBef>
                <a:spcPct val="20000"/>
              </a:spcBef>
              <a:spcAft>
                <a:spcPts val="0"/>
              </a:spcAft>
              <a:buClrTx/>
              <a:buSzTx/>
              <a:buFont typeface="Arial" pitchFamily="34" charset="0"/>
              <a:buNone/>
              <a:tabLst/>
              <a:defRPr/>
            </a:pPr>
            <a:r>
              <a:rPr kumimoji="0" lang="en-US" sz="10000" b="1" i="0" u="none" strike="noStrike" kern="0" cap="none" spc="-120" normalizeH="0" baseline="0" noProof="0" dirty="0">
                <a:ln>
                  <a:noFill/>
                </a:ln>
                <a:solidFill>
                  <a:schemeClr val="accent5">
                    <a:lumMod val="50000"/>
                  </a:schemeClr>
                </a:solidFill>
                <a:effectLst/>
                <a:uLnTx/>
                <a:uFillTx/>
                <a:latin typeface="Poppins" pitchFamily="2" charset="77"/>
                <a:ea typeface="Poppins" pitchFamily="2" charset="77"/>
                <a:cs typeface="Poppins" pitchFamily="2" charset="77"/>
              </a:rPr>
              <a:t>The year in .NET CVEs</a:t>
            </a:r>
          </a:p>
        </p:txBody>
      </p:sp>
      <p:sp>
        <p:nvSpPr>
          <p:cNvPr id="3" name="Text Placeholder 2">
            <a:extLst>
              <a:ext uri="{FF2B5EF4-FFF2-40B4-BE49-F238E27FC236}">
                <a16:creationId xmlns:a16="http://schemas.microsoft.com/office/drawing/2014/main" id="{74BD73CC-C6ED-5471-09B5-E9DFC6C3F5B6}"/>
              </a:ext>
            </a:extLst>
          </p:cNvPr>
          <p:cNvSpPr>
            <a:spLocks noGrp="1"/>
          </p:cNvSpPr>
          <p:nvPr>
            <p:ph type="body" sz="quarter" idx="19"/>
          </p:nvPr>
        </p:nvSpPr>
        <p:spPr/>
        <p:txBody>
          <a:bodyPr/>
          <a:lstStyle/>
          <a:p>
            <a:pPr algn="r"/>
            <a:r>
              <a:rPr lang="en-US" b="1" dirty="0">
                <a:solidFill>
                  <a:schemeClr val="accent5">
                    <a:lumMod val="50000"/>
                  </a:schemeClr>
                </a:solidFill>
              </a:rPr>
              <a:t>3</a:t>
            </a:r>
          </a:p>
        </p:txBody>
      </p:sp>
    </p:spTree>
    <p:extLst>
      <p:ext uri="{BB962C8B-B14F-4D97-AF65-F5344CB8AC3E}">
        <p14:creationId xmlns:p14="http://schemas.microsoft.com/office/powerpoint/2010/main" val="1173790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D0101-F7EF-2807-5D71-909F9C60F0F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FE264A-2E68-C8CC-AA10-1161902EF2EC}"/>
              </a:ext>
            </a:extLst>
          </p:cNvPr>
          <p:cNvSpPr>
            <a:spLocks noGrp="1"/>
          </p:cNvSpPr>
          <p:nvPr>
            <p:ph type="body" sz="quarter" idx="17"/>
          </p:nvPr>
        </p:nvSpPr>
        <p:spPr/>
        <p:txBody>
          <a:bodyPr/>
          <a:lstStyle/>
          <a:p>
            <a:pPr algn="l"/>
            <a:r>
              <a:rPr lang="en-US" dirty="0"/>
              <a:t>The fix author may not have written the vulnerable code!</a:t>
            </a:r>
          </a:p>
        </p:txBody>
      </p:sp>
      <p:pic>
        <p:nvPicPr>
          <p:cNvPr id="3" name="Image 0">
            <a:extLst>
              <a:ext uri="{FF2B5EF4-FFF2-40B4-BE49-F238E27FC236}">
                <a16:creationId xmlns:a16="http://schemas.microsoft.com/office/drawing/2014/main" id="{24D85687-B703-C817-D405-4D60246470C9}"/>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2707" y="5121003"/>
            <a:ext cx="572105" cy="474607"/>
          </a:xfrm>
          <a:prstGeom prst="rect">
            <a:avLst/>
          </a:prstGeom>
        </p:spPr>
      </p:pic>
      <p:sp>
        <p:nvSpPr>
          <p:cNvPr id="4" name="Title 3">
            <a:extLst>
              <a:ext uri="{FF2B5EF4-FFF2-40B4-BE49-F238E27FC236}">
                <a16:creationId xmlns:a16="http://schemas.microsoft.com/office/drawing/2014/main" id="{9C9F4376-3917-09B3-F514-8C05B67EA082}"/>
              </a:ext>
            </a:extLst>
          </p:cNvPr>
          <p:cNvSpPr>
            <a:spLocks noGrp="1"/>
          </p:cNvSpPr>
          <p:nvPr>
            <p:ph type="title" idx="4294967295"/>
          </p:nvPr>
        </p:nvSpPr>
        <p:spPr>
          <a:xfrm>
            <a:off x="1676400" y="-2651125"/>
            <a:ext cx="21034375" cy="2651125"/>
          </a:xfrm>
          <a:prstGeom prst="rect">
            <a:avLst/>
          </a:prstGeom>
        </p:spPr>
        <p:txBody>
          <a:bodyPr anchor="b"/>
          <a:lstStyle/>
          <a:p>
            <a:r>
              <a:rPr lang="en-US" dirty="0"/>
              <a:t>Caution</a:t>
            </a:r>
          </a:p>
        </p:txBody>
      </p:sp>
    </p:spTree>
    <p:extLst>
      <p:ext uri="{BB962C8B-B14F-4D97-AF65-F5344CB8AC3E}">
        <p14:creationId xmlns:p14="http://schemas.microsoft.com/office/powerpoint/2010/main" val="2228447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F3AB1-EEAB-ACC5-E213-378084A2F19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470EC6B-409E-6E6F-F763-B5BAE4ABF924}"/>
              </a:ext>
            </a:extLst>
          </p:cNvPr>
          <p:cNvSpPr>
            <a:spLocks noGrp="1"/>
          </p:cNvSpPr>
          <p:nvPr>
            <p:ph type="title" idx="4294967295"/>
          </p:nvPr>
        </p:nvSpPr>
        <p:spPr>
          <a:xfrm>
            <a:off x="1083509" y="1103244"/>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tx1"/>
                </a:solidFill>
                <a:effectLst/>
                <a:uLnTx/>
                <a:uFillTx/>
                <a:latin typeface="Poppins" pitchFamily="2" charset="77"/>
                <a:ea typeface="Poppins" pitchFamily="2" charset="77"/>
                <a:cs typeface="Poppins" pitchFamily="2" charset="77"/>
              </a:rPr>
              <a:t>.NET Vulnerability details</a:t>
            </a:r>
          </a:p>
        </p:txBody>
      </p:sp>
      <p:sp>
        <p:nvSpPr>
          <p:cNvPr id="3" name="Text Placeholder 2">
            <a:extLst>
              <a:ext uri="{FF2B5EF4-FFF2-40B4-BE49-F238E27FC236}">
                <a16:creationId xmlns:a16="http://schemas.microsoft.com/office/drawing/2014/main" id="{B9FDF1B7-69BD-FD6A-2439-EEA844F0C273}"/>
              </a:ext>
            </a:extLst>
          </p:cNvPr>
          <p:cNvSpPr>
            <a:spLocks noGrp="1"/>
          </p:cNvSpPr>
          <p:nvPr>
            <p:ph type="body" sz="quarter" idx="11"/>
          </p:nvPr>
        </p:nvSpPr>
        <p:spPr>
          <a:xfrm>
            <a:off x="8390021" y="1066799"/>
            <a:ext cx="1230606" cy="812165"/>
          </a:xfrm>
        </p:spPr>
        <p:txBody>
          <a:bodyPr/>
          <a:lstStyle/>
          <a:p>
            <a:r>
              <a:rPr lang="en-US" dirty="0">
                <a:solidFill>
                  <a:schemeClr val="accent1"/>
                </a:solidFill>
              </a:rPr>
              <a:t>01</a:t>
            </a:r>
          </a:p>
        </p:txBody>
      </p:sp>
      <p:sp>
        <p:nvSpPr>
          <p:cNvPr id="2" name="Text Placeholder 1">
            <a:extLst>
              <a:ext uri="{FF2B5EF4-FFF2-40B4-BE49-F238E27FC236}">
                <a16:creationId xmlns:a16="http://schemas.microsoft.com/office/drawing/2014/main" id="{AC571A69-EC85-5E39-AAE5-88D62F721268}"/>
              </a:ext>
            </a:extLst>
          </p:cNvPr>
          <p:cNvSpPr>
            <a:spLocks noGrp="1"/>
          </p:cNvSpPr>
          <p:nvPr>
            <p:ph type="body" sz="quarter" idx="10"/>
          </p:nvPr>
        </p:nvSpPr>
        <p:spPr>
          <a:xfrm>
            <a:off x="9699059" y="1062934"/>
            <a:ext cx="12909148" cy="812165"/>
          </a:xfrm>
        </p:spPr>
        <p:txBody>
          <a:bodyPr/>
          <a:lstStyle/>
          <a:p>
            <a:r>
              <a:rPr lang="en-US" dirty="0">
                <a:solidFill>
                  <a:schemeClr val="tx1"/>
                </a:solidFill>
              </a:rPr>
              <a:t>Information Disclosure</a:t>
            </a:r>
          </a:p>
        </p:txBody>
      </p:sp>
      <p:sp>
        <p:nvSpPr>
          <p:cNvPr id="7" name="Text Placeholder 6">
            <a:extLst>
              <a:ext uri="{FF2B5EF4-FFF2-40B4-BE49-F238E27FC236}">
                <a16:creationId xmlns:a16="http://schemas.microsoft.com/office/drawing/2014/main" id="{EE89B1E8-BA01-0F92-5300-51519B962472}"/>
              </a:ext>
            </a:extLst>
          </p:cNvPr>
          <p:cNvSpPr>
            <a:spLocks noGrp="1"/>
          </p:cNvSpPr>
          <p:nvPr>
            <p:ph type="body" sz="quarter" idx="17"/>
          </p:nvPr>
        </p:nvSpPr>
        <p:spPr>
          <a:xfrm>
            <a:off x="8390021" y="1969624"/>
            <a:ext cx="1230606" cy="812165"/>
          </a:xfrm>
        </p:spPr>
        <p:txBody>
          <a:bodyPr/>
          <a:lstStyle/>
          <a:p>
            <a:r>
              <a:rPr lang="en-US" dirty="0">
                <a:solidFill>
                  <a:schemeClr val="accent1"/>
                </a:solidFill>
              </a:rPr>
              <a:t>02</a:t>
            </a:r>
          </a:p>
        </p:txBody>
      </p:sp>
      <p:sp>
        <p:nvSpPr>
          <p:cNvPr id="6" name="Text Placeholder 5">
            <a:extLst>
              <a:ext uri="{FF2B5EF4-FFF2-40B4-BE49-F238E27FC236}">
                <a16:creationId xmlns:a16="http://schemas.microsoft.com/office/drawing/2014/main" id="{08EB0888-9A60-931F-1E27-CF542429651A}"/>
              </a:ext>
            </a:extLst>
          </p:cNvPr>
          <p:cNvSpPr>
            <a:spLocks noGrp="1"/>
          </p:cNvSpPr>
          <p:nvPr>
            <p:ph type="body" sz="quarter" idx="16"/>
          </p:nvPr>
        </p:nvSpPr>
        <p:spPr>
          <a:xfrm>
            <a:off x="9699059" y="1965759"/>
            <a:ext cx="10828558" cy="812165"/>
          </a:xfrm>
        </p:spPr>
        <p:txBody>
          <a:bodyPr/>
          <a:lstStyle/>
          <a:p>
            <a:r>
              <a:rPr lang="en-US" dirty="0">
                <a:solidFill>
                  <a:schemeClr val="tx1"/>
                </a:solidFill>
              </a:rPr>
              <a:t>Denial-of-Service</a:t>
            </a:r>
          </a:p>
        </p:txBody>
      </p:sp>
      <p:sp>
        <p:nvSpPr>
          <p:cNvPr id="9" name="Text Placeholder 8">
            <a:extLst>
              <a:ext uri="{FF2B5EF4-FFF2-40B4-BE49-F238E27FC236}">
                <a16:creationId xmlns:a16="http://schemas.microsoft.com/office/drawing/2014/main" id="{E8CC6FF0-C1AF-8CE9-A7F6-DC58F4521E48}"/>
              </a:ext>
            </a:extLst>
          </p:cNvPr>
          <p:cNvSpPr>
            <a:spLocks noGrp="1"/>
          </p:cNvSpPr>
          <p:nvPr>
            <p:ph type="body" sz="quarter" idx="19"/>
          </p:nvPr>
        </p:nvSpPr>
        <p:spPr>
          <a:xfrm>
            <a:off x="8390021" y="2879557"/>
            <a:ext cx="1230606" cy="812165"/>
          </a:xfrm>
        </p:spPr>
        <p:txBody>
          <a:bodyPr/>
          <a:lstStyle/>
          <a:p>
            <a:r>
              <a:rPr lang="en-US" dirty="0">
                <a:solidFill>
                  <a:schemeClr val="accent1"/>
                </a:solidFill>
              </a:rPr>
              <a:t>03</a:t>
            </a:r>
          </a:p>
        </p:txBody>
      </p:sp>
      <p:sp>
        <p:nvSpPr>
          <p:cNvPr id="8" name="Text Placeholder 7">
            <a:extLst>
              <a:ext uri="{FF2B5EF4-FFF2-40B4-BE49-F238E27FC236}">
                <a16:creationId xmlns:a16="http://schemas.microsoft.com/office/drawing/2014/main" id="{66BDD5E4-B9F2-4EFE-A220-3367B726297D}"/>
              </a:ext>
            </a:extLst>
          </p:cNvPr>
          <p:cNvSpPr>
            <a:spLocks noGrp="1"/>
          </p:cNvSpPr>
          <p:nvPr>
            <p:ph type="body" sz="quarter" idx="18"/>
          </p:nvPr>
        </p:nvSpPr>
        <p:spPr>
          <a:xfrm>
            <a:off x="9699058" y="2875692"/>
            <a:ext cx="11146611" cy="812165"/>
          </a:xfrm>
        </p:spPr>
        <p:txBody>
          <a:bodyPr/>
          <a:lstStyle/>
          <a:p>
            <a:r>
              <a:rPr lang="en-US" dirty="0">
                <a:solidFill>
                  <a:schemeClr val="tx1"/>
                </a:solidFill>
              </a:rPr>
              <a:t>Remote Code Execution</a:t>
            </a:r>
          </a:p>
          <a:p>
            <a:endParaRPr lang="en-US" dirty="0">
              <a:solidFill>
                <a:schemeClr val="tx1"/>
              </a:solidFill>
            </a:endParaRPr>
          </a:p>
        </p:txBody>
      </p:sp>
      <p:sp>
        <p:nvSpPr>
          <p:cNvPr id="11" name="Text Placeholder 10">
            <a:extLst>
              <a:ext uri="{FF2B5EF4-FFF2-40B4-BE49-F238E27FC236}">
                <a16:creationId xmlns:a16="http://schemas.microsoft.com/office/drawing/2014/main" id="{EFA2B4A7-7259-A1F4-93DE-257B9C93FFCD}"/>
              </a:ext>
            </a:extLst>
          </p:cNvPr>
          <p:cNvSpPr>
            <a:spLocks noGrp="1"/>
          </p:cNvSpPr>
          <p:nvPr>
            <p:ph type="body" sz="quarter" idx="21"/>
          </p:nvPr>
        </p:nvSpPr>
        <p:spPr>
          <a:xfrm>
            <a:off x="8390021" y="3789490"/>
            <a:ext cx="1230606" cy="812165"/>
          </a:xfrm>
        </p:spPr>
        <p:txBody>
          <a:bodyPr/>
          <a:lstStyle/>
          <a:p>
            <a:r>
              <a:rPr lang="en-US" dirty="0">
                <a:solidFill>
                  <a:schemeClr val="accent1"/>
                </a:solidFill>
              </a:rPr>
              <a:t>04</a:t>
            </a:r>
          </a:p>
        </p:txBody>
      </p:sp>
      <p:sp>
        <p:nvSpPr>
          <p:cNvPr id="10" name="Text Placeholder 9">
            <a:extLst>
              <a:ext uri="{FF2B5EF4-FFF2-40B4-BE49-F238E27FC236}">
                <a16:creationId xmlns:a16="http://schemas.microsoft.com/office/drawing/2014/main" id="{14467A54-2DA4-9D19-FAC9-01783B40146F}"/>
              </a:ext>
            </a:extLst>
          </p:cNvPr>
          <p:cNvSpPr>
            <a:spLocks noGrp="1"/>
          </p:cNvSpPr>
          <p:nvPr>
            <p:ph type="body" sz="quarter" idx="20"/>
          </p:nvPr>
        </p:nvSpPr>
        <p:spPr/>
        <p:txBody>
          <a:bodyPr/>
          <a:lstStyle/>
          <a:p>
            <a:r>
              <a:rPr lang="en-US" dirty="0">
                <a:solidFill>
                  <a:schemeClr val="tx1"/>
                </a:solidFill>
              </a:rPr>
              <a:t>Spoofing</a:t>
            </a:r>
          </a:p>
        </p:txBody>
      </p:sp>
      <p:sp>
        <p:nvSpPr>
          <p:cNvPr id="13" name="Text Placeholder 12">
            <a:extLst>
              <a:ext uri="{FF2B5EF4-FFF2-40B4-BE49-F238E27FC236}">
                <a16:creationId xmlns:a16="http://schemas.microsoft.com/office/drawing/2014/main" id="{BA4E4DAF-0C35-962A-7B0E-51F99A669A6F}"/>
              </a:ext>
            </a:extLst>
          </p:cNvPr>
          <p:cNvSpPr>
            <a:spLocks noGrp="1"/>
          </p:cNvSpPr>
          <p:nvPr>
            <p:ph type="body" sz="quarter" idx="23"/>
          </p:nvPr>
        </p:nvSpPr>
        <p:spPr>
          <a:xfrm>
            <a:off x="8390021" y="4699423"/>
            <a:ext cx="1230606" cy="812165"/>
          </a:xfrm>
        </p:spPr>
        <p:txBody>
          <a:bodyPr/>
          <a:lstStyle/>
          <a:p>
            <a:r>
              <a:rPr lang="en-US" dirty="0">
                <a:solidFill>
                  <a:schemeClr val="accent1"/>
                </a:solidFill>
              </a:rPr>
              <a:t>05</a:t>
            </a:r>
          </a:p>
        </p:txBody>
      </p:sp>
      <p:sp>
        <p:nvSpPr>
          <p:cNvPr id="12" name="Text Placeholder 11">
            <a:extLst>
              <a:ext uri="{FF2B5EF4-FFF2-40B4-BE49-F238E27FC236}">
                <a16:creationId xmlns:a16="http://schemas.microsoft.com/office/drawing/2014/main" id="{F548DCB4-4D35-5B33-00F3-6E501E00FDC5}"/>
              </a:ext>
            </a:extLst>
          </p:cNvPr>
          <p:cNvSpPr>
            <a:spLocks noGrp="1"/>
          </p:cNvSpPr>
          <p:nvPr>
            <p:ph type="body" sz="quarter" idx="22"/>
          </p:nvPr>
        </p:nvSpPr>
        <p:spPr>
          <a:xfrm>
            <a:off x="9699058" y="4695558"/>
            <a:ext cx="12909149" cy="812165"/>
          </a:xfrm>
        </p:spPr>
        <p:txBody>
          <a:bodyPr/>
          <a:lstStyle/>
          <a:p>
            <a:r>
              <a:rPr lang="en-US" dirty="0">
                <a:solidFill>
                  <a:schemeClr val="tx1"/>
                </a:solidFill>
              </a:rPr>
              <a:t>Elevation of Privilege</a:t>
            </a:r>
          </a:p>
          <a:p>
            <a:endParaRPr lang="en-US" dirty="0">
              <a:solidFill>
                <a:schemeClr val="tx1"/>
              </a:solidFill>
            </a:endParaRPr>
          </a:p>
        </p:txBody>
      </p:sp>
      <p:sp>
        <p:nvSpPr>
          <p:cNvPr id="15" name="Text Placeholder 14">
            <a:extLst>
              <a:ext uri="{FF2B5EF4-FFF2-40B4-BE49-F238E27FC236}">
                <a16:creationId xmlns:a16="http://schemas.microsoft.com/office/drawing/2014/main" id="{D11B2A78-28D9-7FDA-3D36-917C89694AFC}"/>
              </a:ext>
            </a:extLst>
          </p:cNvPr>
          <p:cNvSpPr>
            <a:spLocks noGrp="1"/>
          </p:cNvSpPr>
          <p:nvPr>
            <p:ph type="body" sz="quarter" idx="25"/>
          </p:nvPr>
        </p:nvSpPr>
        <p:spPr>
          <a:xfrm>
            <a:off x="8390021" y="5609356"/>
            <a:ext cx="1230606" cy="812165"/>
          </a:xfrm>
        </p:spPr>
        <p:txBody>
          <a:bodyPr/>
          <a:lstStyle/>
          <a:p>
            <a:r>
              <a:rPr lang="en-US" dirty="0">
                <a:solidFill>
                  <a:schemeClr val="accent1"/>
                </a:solidFill>
              </a:rPr>
              <a:t>06</a:t>
            </a:r>
          </a:p>
        </p:txBody>
      </p:sp>
      <p:sp>
        <p:nvSpPr>
          <p:cNvPr id="14" name="Text Placeholder 13">
            <a:extLst>
              <a:ext uri="{FF2B5EF4-FFF2-40B4-BE49-F238E27FC236}">
                <a16:creationId xmlns:a16="http://schemas.microsoft.com/office/drawing/2014/main" id="{B7E09D45-EFD4-2817-3027-C2D12851EAFB}"/>
              </a:ext>
            </a:extLst>
          </p:cNvPr>
          <p:cNvSpPr>
            <a:spLocks noGrp="1"/>
          </p:cNvSpPr>
          <p:nvPr>
            <p:ph type="body" sz="quarter" idx="24"/>
          </p:nvPr>
        </p:nvSpPr>
        <p:spPr>
          <a:xfrm>
            <a:off x="9699059" y="5605491"/>
            <a:ext cx="11773012" cy="812165"/>
          </a:xfrm>
        </p:spPr>
        <p:txBody>
          <a:bodyPr/>
          <a:lstStyle/>
          <a:p>
            <a:r>
              <a:rPr lang="en-US" dirty="0">
                <a:solidFill>
                  <a:schemeClr val="tx1"/>
                </a:solidFill>
              </a:rPr>
              <a:t>Remote Code Execution</a:t>
            </a:r>
          </a:p>
        </p:txBody>
      </p:sp>
      <p:sp>
        <p:nvSpPr>
          <p:cNvPr id="17" name="Text Placeholder 16">
            <a:extLst>
              <a:ext uri="{FF2B5EF4-FFF2-40B4-BE49-F238E27FC236}">
                <a16:creationId xmlns:a16="http://schemas.microsoft.com/office/drawing/2014/main" id="{101C6442-8638-E39B-56BB-71A5603E6069}"/>
              </a:ext>
            </a:extLst>
          </p:cNvPr>
          <p:cNvSpPr>
            <a:spLocks noGrp="1"/>
          </p:cNvSpPr>
          <p:nvPr>
            <p:ph type="body" sz="quarter" idx="27"/>
          </p:nvPr>
        </p:nvSpPr>
        <p:spPr>
          <a:xfrm>
            <a:off x="8390021" y="6519289"/>
            <a:ext cx="1230606" cy="812165"/>
          </a:xfrm>
        </p:spPr>
        <p:txBody>
          <a:bodyPr/>
          <a:lstStyle/>
          <a:p>
            <a:r>
              <a:rPr lang="en-US">
                <a:solidFill>
                  <a:schemeClr val="accent1"/>
                </a:solidFill>
              </a:rPr>
              <a:t>07</a:t>
            </a:r>
          </a:p>
        </p:txBody>
      </p:sp>
      <p:sp>
        <p:nvSpPr>
          <p:cNvPr id="16" name="Text Placeholder 15">
            <a:extLst>
              <a:ext uri="{FF2B5EF4-FFF2-40B4-BE49-F238E27FC236}">
                <a16:creationId xmlns:a16="http://schemas.microsoft.com/office/drawing/2014/main" id="{06A75985-9430-703C-BE6D-46C0250AB798}"/>
              </a:ext>
            </a:extLst>
          </p:cNvPr>
          <p:cNvSpPr>
            <a:spLocks noGrp="1"/>
          </p:cNvSpPr>
          <p:nvPr>
            <p:ph type="body" sz="quarter" idx="26"/>
          </p:nvPr>
        </p:nvSpPr>
        <p:spPr>
          <a:xfrm>
            <a:off x="9699059" y="6515424"/>
            <a:ext cx="12230212" cy="812165"/>
          </a:xfrm>
        </p:spPr>
        <p:txBody>
          <a:bodyPr/>
          <a:lstStyle/>
          <a:p>
            <a:r>
              <a:rPr lang="en-US" dirty="0">
                <a:solidFill>
                  <a:schemeClr val="tx1"/>
                </a:solidFill>
              </a:rPr>
              <a:t>Remote Code Execution</a:t>
            </a:r>
          </a:p>
          <a:p>
            <a:endParaRPr lang="en-US" dirty="0">
              <a:solidFill>
                <a:schemeClr val="tx1"/>
              </a:solidFill>
            </a:endParaRPr>
          </a:p>
        </p:txBody>
      </p:sp>
      <p:sp>
        <p:nvSpPr>
          <p:cNvPr id="19" name="Text Placeholder 18">
            <a:extLst>
              <a:ext uri="{FF2B5EF4-FFF2-40B4-BE49-F238E27FC236}">
                <a16:creationId xmlns:a16="http://schemas.microsoft.com/office/drawing/2014/main" id="{12A16005-0928-DDD8-1FA6-2D0D0D0BB941}"/>
              </a:ext>
            </a:extLst>
          </p:cNvPr>
          <p:cNvSpPr>
            <a:spLocks noGrp="1"/>
          </p:cNvSpPr>
          <p:nvPr>
            <p:ph type="body" sz="quarter" idx="29"/>
          </p:nvPr>
        </p:nvSpPr>
        <p:spPr>
          <a:xfrm>
            <a:off x="8390021" y="7429222"/>
            <a:ext cx="1230606" cy="812165"/>
          </a:xfrm>
        </p:spPr>
        <p:txBody>
          <a:bodyPr/>
          <a:lstStyle/>
          <a:p>
            <a:r>
              <a:rPr lang="en-US" dirty="0">
                <a:solidFill>
                  <a:schemeClr val="accent1"/>
                </a:solidFill>
              </a:rPr>
              <a:t>08</a:t>
            </a:r>
          </a:p>
        </p:txBody>
      </p:sp>
      <p:sp>
        <p:nvSpPr>
          <p:cNvPr id="18" name="Text Placeholder 17">
            <a:extLst>
              <a:ext uri="{FF2B5EF4-FFF2-40B4-BE49-F238E27FC236}">
                <a16:creationId xmlns:a16="http://schemas.microsoft.com/office/drawing/2014/main" id="{ED3E8477-0231-0B9A-16D4-41E68D3D1ADD}"/>
              </a:ext>
            </a:extLst>
          </p:cNvPr>
          <p:cNvSpPr>
            <a:spLocks noGrp="1"/>
          </p:cNvSpPr>
          <p:nvPr>
            <p:ph type="body" sz="quarter" idx="28"/>
          </p:nvPr>
        </p:nvSpPr>
        <p:spPr>
          <a:xfrm>
            <a:off x="9699059" y="7425357"/>
            <a:ext cx="12909150" cy="812165"/>
          </a:xfrm>
        </p:spPr>
        <p:txBody>
          <a:bodyPr/>
          <a:lstStyle/>
          <a:p>
            <a:r>
              <a:rPr lang="en-US" dirty="0">
                <a:solidFill>
                  <a:schemeClr val="tx1"/>
                </a:solidFill>
              </a:rPr>
              <a:t>Denial-of-Service</a:t>
            </a:r>
          </a:p>
        </p:txBody>
      </p:sp>
      <p:sp>
        <p:nvSpPr>
          <p:cNvPr id="20" name="Text Placeholder 18">
            <a:extLst>
              <a:ext uri="{FF2B5EF4-FFF2-40B4-BE49-F238E27FC236}">
                <a16:creationId xmlns:a16="http://schemas.microsoft.com/office/drawing/2014/main" id="{EC8758C1-58BC-8D0F-CDC7-3441B07CC42A}"/>
              </a:ext>
            </a:extLst>
          </p:cNvPr>
          <p:cNvSpPr txBox="1">
            <a:spLocks/>
          </p:cNvSpPr>
          <p:nvPr/>
        </p:nvSpPr>
        <p:spPr>
          <a:xfrm>
            <a:off x="8390021" y="8339155"/>
            <a:ext cx="1230606" cy="812165"/>
          </a:xfrm>
          <a:prstGeom prst="rect">
            <a:avLst/>
          </a:prstGeom>
        </p:spPr>
        <p:txBody>
          <a:bodyPr/>
          <a:lstStyle>
            <a:lvl1pPr marL="0" indent="0" algn="l" defTabSz="914400" rtl="0" eaLnBrk="1" latinLnBrk="0" hangingPunct="1">
              <a:lnSpc>
                <a:spcPts val="6800"/>
              </a:lnSpc>
              <a:spcBef>
                <a:spcPct val="20000"/>
              </a:spcBef>
              <a:buFont typeface="Arial" pitchFamily="34" charset="0"/>
              <a:buNone/>
              <a:defRPr lang="en-US" sz="6000" b="1" i="0" kern="0" spc="-120" dirty="0" smtClean="0">
                <a:solidFill>
                  <a:schemeClr val="tx2"/>
                </a:solidFill>
                <a:latin typeface="Poppins" pitchFamily="2" charset="77"/>
                <a:ea typeface="Poppins" pitchFamily="2" charset="77"/>
                <a:cs typeface="Poppins" pitchFamily="2" charset="77"/>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accent1"/>
                </a:solidFill>
              </a:rPr>
              <a:t>09</a:t>
            </a:r>
          </a:p>
        </p:txBody>
      </p:sp>
      <p:sp>
        <p:nvSpPr>
          <p:cNvPr id="5" name="Text Placeholder 17">
            <a:extLst>
              <a:ext uri="{FF2B5EF4-FFF2-40B4-BE49-F238E27FC236}">
                <a16:creationId xmlns:a16="http://schemas.microsoft.com/office/drawing/2014/main" id="{D3230BB0-9629-45A6-6962-FF881A2EFDBC}"/>
              </a:ext>
            </a:extLst>
          </p:cNvPr>
          <p:cNvSpPr txBox="1">
            <a:spLocks/>
          </p:cNvSpPr>
          <p:nvPr/>
        </p:nvSpPr>
        <p:spPr>
          <a:xfrm>
            <a:off x="9699059" y="8335290"/>
            <a:ext cx="12909150" cy="812165"/>
          </a:xfrm>
          <a:prstGeom prst="rect">
            <a:avLst/>
          </a:prstGeom>
        </p:spPr>
        <p:txBody>
          <a:bodyPr/>
          <a:lstStyle>
            <a:lvl1pPr marL="0" indent="0" algn="l" defTabSz="914400" rtl="0" eaLnBrk="1" latinLnBrk="0" hangingPunct="1">
              <a:lnSpc>
                <a:spcPts val="6800"/>
              </a:lnSpc>
              <a:spcBef>
                <a:spcPct val="20000"/>
              </a:spcBef>
              <a:buFont typeface="Arial" pitchFamily="34" charset="0"/>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tx1"/>
                </a:solidFill>
              </a:rPr>
              <a:t>Remote Code Execution</a:t>
            </a:r>
          </a:p>
        </p:txBody>
      </p:sp>
    </p:spTree>
    <p:extLst>
      <p:ext uri="{BB962C8B-B14F-4D97-AF65-F5344CB8AC3E}">
        <p14:creationId xmlns:p14="http://schemas.microsoft.com/office/powerpoint/2010/main" val="101389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22E8A-8D86-DACD-77B5-E2EEA31A0A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3B8151-C300-3B05-51EC-5E3B3EBE9FF1}"/>
              </a:ext>
            </a:extLst>
          </p:cNvPr>
          <p:cNvSpPr>
            <a:spLocks noGrp="1"/>
          </p:cNvSpPr>
          <p:nvPr>
            <p:ph type="title" idx="4294967295"/>
          </p:nvPr>
        </p:nvSpPr>
        <p:spPr>
          <a:xfrm>
            <a:off x="1083509" y="1103244"/>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CVE-2025-55248</a:t>
            </a:r>
          </a:p>
        </p:txBody>
      </p:sp>
      <p:sp>
        <p:nvSpPr>
          <p:cNvPr id="3" name="Text Placeholder 2">
            <a:extLst>
              <a:ext uri="{FF2B5EF4-FFF2-40B4-BE49-F238E27FC236}">
                <a16:creationId xmlns:a16="http://schemas.microsoft.com/office/drawing/2014/main" id="{C39AD37E-5C55-EE62-6EB0-76B409F0BDDC}"/>
              </a:ext>
            </a:extLst>
          </p:cNvPr>
          <p:cNvSpPr>
            <a:spLocks noGrp="1"/>
          </p:cNvSpPr>
          <p:nvPr>
            <p:ph type="body" sz="quarter" idx="15"/>
          </p:nvPr>
        </p:nvSpPr>
        <p:spPr>
          <a:xfrm>
            <a:off x="1083509" y="1659835"/>
            <a:ext cx="11983134" cy="635000"/>
          </a:xfrm>
        </p:spPr>
        <p:txBody>
          <a:bodyPr/>
          <a:lstStyle/>
          <a:p>
            <a:r>
              <a:rPr lang="en-US" b="1" dirty="0"/>
              <a:t>Information Disclosure</a:t>
            </a:r>
          </a:p>
        </p:txBody>
      </p:sp>
      <p:sp>
        <p:nvSpPr>
          <p:cNvPr id="4" name="Text Placeholder 3">
            <a:extLst>
              <a:ext uri="{FF2B5EF4-FFF2-40B4-BE49-F238E27FC236}">
                <a16:creationId xmlns:a16="http://schemas.microsoft.com/office/drawing/2014/main" id="{7ABDDBFB-C9DC-32AC-61D5-FBEE3C68F17A}"/>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D1CD010E-7AC8-206A-1C3E-2F585939B438}"/>
              </a:ext>
            </a:extLst>
          </p:cNvPr>
          <p:cNvSpPr>
            <a:spLocks noGrp="1"/>
          </p:cNvSpPr>
          <p:nvPr>
            <p:ph type="body" sz="quarter" idx="22"/>
          </p:nvPr>
        </p:nvSpPr>
        <p:spPr>
          <a:xfrm>
            <a:off x="1070063" y="6648782"/>
            <a:ext cx="6650252" cy="1836590"/>
          </a:xfrm>
        </p:spPr>
        <p:txBody>
          <a:bodyPr/>
          <a:lstStyle/>
          <a:p>
            <a:r>
              <a:rPr lang="en-US" sz="2400" dirty="0">
                <a:latin typeface="Poppins" panose="00000500000000000000" pitchFamily="2" charset="0"/>
                <a:cs typeface="Poppins" panose="00000500000000000000" pitchFamily="2" charset="0"/>
              </a:rPr>
              <a:t>A MITM (man in the middle) attacker may prevent use of TLS between client and SMTP server, forcing client to send data over unencrypted connection.</a:t>
            </a:r>
          </a:p>
        </p:txBody>
      </p:sp>
      <p:sp>
        <p:nvSpPr>
          <p:cNvPr id="7" name="Text Placeholder 6">
            <a:extLst>
              <a:ext uri="{FF2B5EF4-FFF2-40B4-BE49-F238E27FC236}">
                <a16:creationId xmlns:a16="http://schemas.microsoft.com/office/drawing/2014/main" id="{C2D37A4F-9A54-3985-3367-8485E5DF9D01}"/>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E6A4CB12-C92B-4933-5BAA-25A7B2045FFD}"/>
              </a:ext>
            </a:extLst>
          </p:cNvPr>
          <p:cNvSpPr>
            <a:spLocks noGrp="1"/>
          </p:cNvSpPr>
          <p:nvPr>
            <p:ph type="body" sz="quarter" idx="25"/>
          </p:nvPr>
        </p:nvSpPr>
        <p:spPr>
          <a:xfrm>
            <a:off x="8505843" y="6648781"/>
            <a:ext cx="6650252" cy="2720505"/>
          </a:xfrm>
        </p:spPr>
        <p:txBody>
          <a:bodyPr/>
          <a:lstStyle/>
          <a:p>
            <a:r>
              <a:rPr lang="en-US" sz="2400" dirty="0" err="1">
                <a:latin typeface="Aptos Mono" panose="020B0009020202020204" pitchFamily="49" charset="0"/>
              </a:rPr>
              <a:t>SmtpClient</a:t>
            </a:r>
            <a:r>
              <a:rPr lang="en-US" sz="2400" dirty="0">
                <a:latin typeface="Aptos" panose="020B0004020202020204" pitchFamily="34" charset="0"/>
              </a:rPr>
              <a:t> </a:t>
            </a:r>
            <a:r>
              <a:rPr lang="en-US" sz="2400" dirty="0">
                <a:latin typeface="Poppins" panose="00000500000000000000" pitchFamily="2" charset="0"/>
                <a:cs typeface="Poppins" panose="00000500000000000000" pitchFamily="2" charset="0"/>
              </a:rPr>
              <a:t>may connect without TLS even if </a:t>
            </a:r>
            <a:r>
              <a:rPr lang="en-US" sz="2400" dirty="0" err="1">
                <a:latin typeface="Aptos Mono" panose="020B0009020202020204" pitchFamily="49" charset="0"/>
              </a:rPr>
              <a:t>UseSsl</a:t>
            </a:r>
            <a:r>
              <a:rPr lang="en-US" sz="2400" dirty="0">
                <a:latin typeface="Aptos" panose="020B0004020202020204" pitchFamily="34" charset="0"/>
              </a:rPr>
              <a:t> </a:t>
            </a:r>
            <a:r>
              <a:rPr lang="en-US" sz="2400" dirty="0">
                <a:latin typeface="Poppins" panose="00000500000000000000" pitchFamily="2" charset="0"/>
                <a:cs typeface="Poppins" panose="00000500000000000000" pitchFamily="2" charset="0"/>
              </a:rPr>
              <a:t>is </a:t>
            </a:r>
            <a:r>
              <a:rPr lang="en-US" sz="2400" dirty="0">
                <a:latin typeface="Aptos Mono" panose="020B0009020202020204" pitchFamily="49" charset="0"/>
                <a:cs typeface="Poppins" panose="00000500000000000000" pitchFamily="2" charset="0"/>
              </a:rPr>
              <a:t>true</a:t>
            </a:r>
            <a:r>
              <a:rPr lang="en-US" sz="2400" dirty="0">
                <a:latin typeface="Poppins" panose="00000500000000000000" pitchFamily="2" charset="0"/>
                <a:cs typeface="Poppins" panose="00000500000000000000" pitchFamily="2" charset="0"/>
              </a:rPr>
              <a:t>.</a:t>
            </a:r>
          </a:p>
          <a:p>
            <a:endParaRPr lang="en-US" sz="2400" dirty="0">
              <a:latin typeface="Poppins" panose="00000500000000000000" pitchFamily="2" charset="0"/>
              <a:cs typeface="Poppins" panose="00000500000000000000" pitchFamily="2" charset="0"/>
            </a:endParaRPr>
          </a:p>
          <a:p>
            <a:r>
              <a:rPr lang="en-US" sz="2400" dirty="0">
                <a:latin typeface="Poppins" panose="00000500000000000000" pitchFamily="2" charset="0"/>
                <a:cs typeface="Poppins" panose="00000500000000000000" pitchFamily="2" charset="0"/>
              </a:rPr>
              <a:t>An attacker that sat between the application and the SMTP server could then see all traffic, including email contents, disclosing information.</a:t>
            </a:r>
          </a:p>
        </p:txBody>
      </p:sp>
      <p:sp>
        <p:nvSpPr>
          <p:cNvPr id="10" name="Text Placeholder 9">
            <a:extLst>
              <a:ext uri="{FF2B5EF4-FFF2-40B4-BE49-F238E27FC236}">
                <a16:creationId xmlns:a16="http://schemas.microsoft.com/office/drawing/2014/main" id="{7E7D6E7F-E9E9-E977-55AD-B4675C876A25}"/>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395481C0-5DC4-78E5-9211-7A74DF44B514}"/>
              </a:ext>
            </a:extLst>
          </p:cNvPr>
          <p:cNvSpPr>
            <a:spLocks noGrp="1"/>
          </p:cNvSpPr>
          <p:nvPr>
            <p:ph type="body" sz="quarter" idx="28"/>
          </p:nvPr>
        </p:nvSpPr>
        <p:spPr>
          <a:xfrm>
            <a:off x="15941624" y="6648782"/>
            <a:ext cx="6650252" cy="1836590"/>
          </a:xfrm>
        </p:spPr>
        <p:txBody>
          <a:bodyPr/>
          <a:lstStyle/>
          <a:p>
            <a:r>
              <a:rPr lang="en-US" sz="2400" dirty="0">
                <a:latin typeface="Poppins" panose="00000500000000000000" pitchFamily="2" charset="0"/>
                <a:cs typeface="Poppins" panose="00000500000000000000" pitchFamily="2" charset="0"/>
              </a:rPr>
              <a:t>Add missing check inside </a:t>
            </a:r>
            <a:r>
              <a:rPr lang="en-US" sz="2400" dirty="0" err="1">
                <a:latin typeface="Aptos Mono" panose="020B0009020202020204" pitchFamily="49" charset="0"/>
              </a:rPr>
              <a:t>SendHello</a:t>
            </a:r>
            <a:r>
              <a:rPr lang="en-US" sz="2400" dirty="0">
                <a:latin typeface="Aptos Mono" panose="020B0009020202020204" pitchFamily="49" charset="0"/>
              </a:rPr>
              <a:t>()</a:t>
            </a:r>
            <a:r>
              <a:rPr lang="en-US" sz="2400" dirty="0">
                <a:latin typeface="Poppins" panose="00000500000000000000" pitchFamily="2" charset="0"/>
                <a:cs typeface="Poppins" panose="00000500000000000000" pitchFamily="2" charset="0"/>
              </a:rPr>
              <a:t> so it fails when </a:t>
            </a:r>
            <a:r>
              <a:rPr lang="en-US" sz="2400" dirty="0" err="1">
                <a:latin typeface="Aptos Mono" panose="020B0009020202020204" pitchFamily="49" charset="0"/>
                <a:cs typeface="Poppins" panose="00000500000000000000" pitchFamily="2" charset="0"/>
              </a:rPr>
              <a:t>UseSSL</a:t>
            </a:r>
            <a:r>
              <a:rPr lang="en-US" sz="2400" dirty="0">
                <a:latin typeface="Poppins" panose="00000500000000000000" pitchFamily="2" charset="0"/>
                <a:cs typeface="Poppins" panose="00000500000000000000" pitchFamily="2" charset="0"/>
              </a:rPr>
              <a:t> is </a:t>
            </a:r>
            <a:r>
              <a:rPr lang="en-US" sz="2400" dirty="0">
                <a:latin typeface="Aptos Mono" panose="020B0009020202020204" pitchFamily="49" charset="0"/>
                <a:cs typeface="Poppins" panose="00000500000000000000" pitchFamily="2" charset="0"/>
              </a:rPr>
              <a:t>true</a:t>
            </a:r>
            <a:r>
              <a:rPr lang="en-US" sz="2400" dirty="0">
                <a:latin typeface="Poppins" panose="00000500000000000000" pitchFamily="2" charset="0"/>
                <a:cs typeface="Poppins" panose="00000500000000000000" pitchFamily="2" charset="0"/>
              </a:rPr>
              <a:t>.</a:t>
            </a:r>
          </a:p>
          <a:p>
            <a:endParaRPr lang="en-US" sz="2400" dirty="0">
              <a:latin typeface="Aptos" panose="020B0004020202020204" pitchFamily="34"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https://github.com/dotnet/runtime/commit/615ee7dcf32cef6e42d6427723cb4c14ca56989a</a:t>
            </a:r>
            <a:r>
              <a:rPr lang="en-US" sz="2000" dirty="0">
                <a:solidFill>
                  <a:schemeClr val="tx1"/>
                </a:solidFill>
                <a:latin typeface="Poppins" panose="00000500000000000000" pitchFamily="2" charset="0"/>
                <a:cs typeface="Poppins" panose="00000500000000000000" pitchFamily="2" charset="0"/>
              </a:rPr>
              <a:t> </a:t>
            </a:r>
          </a:p>
          <a:p>
            <a:endParaRPr lang="en-US" sz="2400" dirty="0">
              <a:solidFill>
                <a:schemeClr val="tx1"/>
              </a:solidFill>
              <a:latin typeface="Aptos" panose="020B0004020202020204" pitchFamily="34" charset="0"/>
              <a:hlinkClick r:id="rId4"/>
            </a:endParaRPr>
          </a:p>
          <a:p>
            <a:endParaRPr lang="en-US" sz="2200" dirty="0">
              <a:latin typeface="Aptos" panose="020B0004020202020204" pitchFamily="34" charset="0"/>
            </a:endParaRPr>
          </a:p>
        </p:txBody>
      </p:sp>
      <p:pic>
        <p:nvPicPr>
          <p:cNvPr id="5" name="Image 50">
            <a:extLst>
              <a:ext uri="{FF2B5EF4-FFF2-40B4-BE49-F238E27FC236}">
                <a16:creationId xmlns:a16="http://schemas.microsoft.com/office/drawing/2014/main" id="{E6DAFCC4-8577-7308-1088-8F760570C56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E4CAA56A-0929-ABE0-59CF-BBB7F92090E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A06318F4-AE0B-F0FD-1C5B-065D37C6D8B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2439980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5C9F4-EAC4-A6C5-4AE4-64942867F9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7638AB-BA87-D7FD-CB79-5846F31F92C3}"/>
              </a:ext>
            </a:extLst>
          </p:cNvPr>
          <p:cNvSpPr>
            <a:spLocks noGrp="1"/>
          </p:cNvSpPr>
          <p:nvPr>
            <p:ph type="title" idx="4294967295"/>
          </p:nvPr>
        </p:nvSpPr>
        <p:spPr>
          <a:xfrm>
            <a:off x="1083509" y="1103244"/>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CVE-2025-55247</a:t>
            </a:r>
          </a:p>
        </p:txBody>
      </p:sp>
      <p:sp>
        <p:nvSpPr>
          <p:cNvPr id="3" name="Text Placeholder 2">
            <a:extLst>
              <a:ext uri="{FF2B5EF4-FFF2-40B4-BE49-F238E27FC236}">
                <a16:creationId xmlns:a16="http://schemas.microsoft.com/office/drawing/2014/main" id="{5150D0E6-88A6-454A-D7C6-5B9B64443A0E}"/>
              </a:ext>
            </a:extLst>
          </p:cNvPr>
          <p:cNvSpPr>
            <a:spLocks noGrp="1"/>
          </p:cNvSpPr>
          <p:nvPr>
            <p:ph type="body" sz="quarter" idx="15"/>
          </p:nvPr>
        </p:nvSpPr>
        <p:spPr>
          <a:xfrm>
            <a:off x="1083509" y="1659835"/>
            <a:ext cx="11983134" cy="635000"/>
          </a:xfrm>
        </p:spPr>
        <p:txBody>
          <a:bodyPr/>
          <a:lstStyle/>
          <a:p>
            <a:r>
              <a:rPr lang="en-US" b="1" dirty="0"/>
              <a:t>.NET Denial of Service</a:t>
            </a:r>
          </a:p>
        </p:txBody>
      </p:sp>
      <p:sp>
        <p:nvSpPr>
          <p:cNvPr id="4" name="Text Placeholder 3">
            <a:extLst>
              <a:ext uri="{FF2B5EF4-FFF2-40B4-BE49-F238E27FC236}">
                <a16:creationId xmlns:a16="http://schemas.microsoft.com/office/drawing/2014/main" id="{368FF9D5-41CD-17A3-24BC-AEC18AD87D46}"/>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53F01F79-DB4C-86AB-3944-A0908C252A1A}"/>
              </a:ext>
            </a:extLst>
          </p:cNvPr>
          <p:cNvSpPr>
            <a:spLocks noGrp="1"/>
          </p:cNvSpPr>
          <p:nvPr>
            <p:ph type="body" sz="quarter" idx="22"/>
          </p:nvPr>
        </p:nvSpPr>
        <p:spPr>
          <a:xfrm>
            <a:off x="1070063" y="6648782"/>
            <a:ext cx="6650252" cy="1836590"/>
          </a:xfrm>
        </p:spPr>
        <p:txBody>
          <a:bodyPr/>
          <a:lstStyle/>
          <a:p>
            <a:r>
              <a:rPr lang="en-US" sz="2400" dirty="0">
                <a:latin typeface="Poppins" panose="00000500000000000000" pitchFamily="2" charset="0"/>
                <a:cs typeface="Poppins" panose="00000500000000000000" pitchFamily="2" charset="0"/>
              </a:rPr>
              <a:t>A vulnerability exists in .NET where predictable paths for MSBuild's temporary directories on Linux let another user create the directories ahead of MSBuild, leading to DoS of builds. This only affects .NET on Linux operating systems.</a:t>
            </a:r>
          </a:p>
        </p:txBody>
      </p:sp>
      <p:sp>
        <p:nvSpPr>
          <p:cNvPr id="7" name="Text Placeholder 6">
            <a:extLst>
              <a:ext uri="{FF2B5EF4-FFF2-40B4-BE49-F238E27FC236}">
                <a16:creationId xmlns:a16="http://schemas.microsoft.com/office/drawing/2014/main" id="{4578B243-C6BD-B527-1410-6EDFF88A9362}"/>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CA548B14-5153-4509-67EF-B32AA22596AA}"/>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The temp directory on Linux is writable by everyone, unlike Windows where you get a user specific temp directory.</a:t>
            </a:r>
          </a:p>
          <a:p>
            <a:endParaRPr lang="en-US" sz="2400" dirty="0">
              <a:latin typeface="Poppins" panose="00000500000000000000" pitchFamily="2" charset="0"/>
              <a:cs typeface="Poppins" panose="00000500000000000000" pitchFamily="2" charset="0"/>
            </a:endParaRPr>
          </a:p>
          <a:p>
            <a:r>
              <a:rPr lang="en-US" sz="2400" dirty="0">
                <a:latin typeface="Poppins" panose="00000500000000000000" pitchFamily="2" charset="0"/>
                <a:cs typeface="Poppins" panose="00000500000000000000" pitchFamily="2" charset="0"/>
              </a:rPr>
              <a:t>As </a:t>
            </a:r>
            <a:r>
              <a:rPr lang="en-US" sz="2400" dirty="0" err="1">
                <a:latin typeface="Poppins" panose="00000500000000000000" pitchFamily="2" charset="0"/>
                <a:cs typeface="Poppins" panose="00000500000000000000" pitchFamily="2" charset="0"/>
              </a:rPr>
              <a:t>MSBuild</a:t>
            </a:r>
            <a:r>
              <a:rPr lang="en-US" sz="2400" dirty="0">
                <a:latin typeface="Poppins" panose="00000500000000000000" pitchFamily="2" charset="0"/>
                <a:cs typeface="Poppins" panose="00000500000000000000" pitchFamily="2" charset="0"/>
              </a:rPr>
              <a:t> used predictable paths an attacker on Linux could create the directory it used, and deny access to it, resulting in </a:t>
            </a:r>
            <a:r>
              <a:rPr lang="en-US" sz="2400" dirty="0" err="1">
                <a:latin typeface="Poppins" panose="00000500000000000000" pitchFamily="2" charset="0"/>
                <a:cs typeface="Poppins" panose="00000500000000000000" pitchFamily="2" charset="0"/>
              </a:rPr>
              <a:t>MSBuild</a:t>
            </a:r>
            <a:r>
              <a:rPr lang="en-US" sz="2400" dirty="0">
                <a:latin typeface="Poppins" panose="00000500000000000000" pitchFamily="2" charset="0"/>
                <a:cs typeface="Poppins" panose="00000500000000000000" pitchFamily="2" charset="0"/>
              </a:rPr>
              <a:t> giving up, a denial of service.</a:t>
            </a:r>
          </a:p>
          <a:p>
            <a:endParaRPr lang="en-US" dirty="0">
              <a:latin typeface="Aptos" panose="020B0004020202020204" pitchFamily="34" charset="0"/>
            </a:endParaRPr>
          </a:p>
        </p:txBody>
      </p:sp>
      <p:sp>
        <p:nvSpPr>
          <p:cNvPr id="10" name="Text Placeholder 9">
            <a:extLst>
              <a:ext uri="{FF2B5EF4-FFF2-40B4-BE49-F238E27FC236}">
                <a16:creationId xmlns:a16="http://schemas.microsoft.com/office/drawing/2014/main" id="{1182A758-A13C-34DB-F1F3-45249B115E9A}"/>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85753CF3-369C-6C9A-54CC-30FAD756EF4B}"/>
              </a:ext>
            </a:extLst>
          </p:cNvPr>
          <p:cNvSpPr>
            <a:spLocks noGrp="1"/>
          </p:cNvSpPr>
          <p:nvPr>
            <p:ph type="body" sz="quarter" idx="28"/>
          </p:nvPr>
        </p:nvSpPr>
        <p:spPr>
          <a:xfrm>
            <a:off x="15941624" y="6648782"/>
            <a:ext cx="6650252" cy="1836590"/>
          </a:xfrm>
        </p:spPr>
        <p:txBody>
          <a:bodyPr/>
          <a:lstStyle/>
          <a:p>
            <a:r>
              <a:rPr lang="en-US" sz="2400" dirty="0">
                <a:latin typeface="Poppins" panose="00000500000000000000" pitchFamily="2" charset="0"/>
                <a:cs typeface="Poppins" panose="00000500000000000000" pitchFamily="2" charset="0"/>
              </a:rPr>
              <a:t>Use  </a:t>
            </a:r>
            <a:r>
              <a:rPr lang="en-US" sz="2400" dirty="0" err="1">
                <a:latin typeface="Poppins" panose="00000500000000000000" pitchFamily="2" charset="0"/>
                <a:cs typeface="Poppins" panose="00000500000000000000" pitchFamily="2" charset="0"/>
              </a:rPr>
              <a:t>D</a:t>
            </a:r>
            <a:r>
              <a:rPr lang="en-US" sz="2400" dirty="0" err="1">
                <a:latin typeface="Aptos Mono" panose="020B0009020202020204" pitchFamily="49" charset="0"/>
              </a:rPr>
              <a:t>irectory.CreateTempSubdirectory</a:t>
            </a:r>
            <a:r>
              <a:rPr lang="en-US" sz="2400" dirty="0">
                <a:latin typeface="Aptos Mono" panose="020B0009020202020204" pitchFamily="49" charset="0"/>
              </a:rPr>
              <a:t>()</a:t>
            </a:r>
            <a:r>
              <a:rPr lang="en-US" sz="2400" dirty="0">
                <a:latin typeface="Aptos" panose="020B0004020202020204" pitchFamily="34" charset="0"/>
              </a:rPr>
              <a:t> </a:t>
            </a:r>
            <a:br>
              <a:rPr lang="en-US" sz="2400" dirty="0">
                <a:latin typeface="Aptos" panose="020B0004020202020204" pitchFamily="34" charset="0"/>
              </a:rPr>
            </a:br>
            <a:r>
              <a:rPr lang="en-US" sz="2400" dirty="0">
                <a:latin typeface="Poppins" panose="00000500000000000000" pitchFamily="2" charset="0"/>
                <a:cs typeface="Poppins" panose="00000500000000000000" pitchFamily="2" charset="0"/>
              </a:rPr>
              <a:t>not </a:t>
            </a:r>
            <a:r>
              <a:rPr lang="en-US" sz="2400" dirty="0" err="1">
                <a:latin typeface="Aptos Mono" panose="020B0009020202020204" pitchFamily="49" charset="0"/>
              </a:rPr>
              <a:t>File.GetTempPath</a:t>
            </a:r>
            <a:r>
              <a:rPr lang="en-US" sz="2400" dirty="0">
                <a:latin typeface="Aptos Mono" panose="020B0009020202020204" pitchFamily="49" charset="0"/>
              </a:rPr>
              <a:t>()</a:t>
            </a:r>
            <a:r>
              <a:rPr lang="en-US" sz="2400" dirty="0">
                <a:latin typeface="Aptos" panose="020B0004020202020204" pitchFamily="34" charset="0"/>
              </a:rPr>
              <a:t>.</a:t>
            </a:r>
          </a:p>
          <a:p>
            <a:endParaRPr lang="en-US" sz="2000" dirty="0">
              <a:solidFill>
                <a:srgbClr val="EF99DD"/>
              </a:solidFill>
              <a:latin typeface="Aptos Mono" panose="020B0009020202020204" pitchFamily="49" charset="0"/>
              <a:hlinkClick r:id="rId3">
                <a:extLst>
                  <a:ext uri="{A12FA001-AC4F-418D-AE19-62706E023703}">
                    <ahyp:hlinkClr xmlns:ahyp="http://schemas.microsoft.com/office/drawing/2018/hyperlinkcolor" val="tx"/>
                  </a:ext>
                </a:extLst>
              </a:hlinkClick>
            </a:endParaRPr>
          </a:p>
          <a:p>
            <a:r>
              <a:rPr lang="en-US" sz="2000" dirty="0">
                <a:solidFill>
                  <a:schemeClr val="tx1"/>
                </a:solidFill>
                <a:latin typeface="Poppins" panose="00000500000000000000" pitchFamily="2" charset="0"/>
                <a:cs typeface="Poppins" panose="00000500000000000000" pitchFamily="2" charset="0"/>
                <a:hlinkClick r:id="rId4">
                  <a:extLst>
                    <a:ext uri="{A12FA001-AC4F-418D-AE19-62706E023703}">
                      <ahyp:hlinkClr xmlns:ahyp="http://schemas.microsoft.com/office/drawing/2018/hyperlinkcolor" val="tx"/>
                    </a:ext>
                  </a:extLst>
                </a:hlinkClick>
              </a:rPr>
              <a:t>https://github.com/dotnet/msbuild/pull/12688</a:t>
            </a:r>
            <a:endParaRPr lang="en-US" sz="2000" dirty="0">
              <a:solidFill>
                <a:schemeClr val="tx1"/>
              </a:solidFill>
              <a:latin typeface="Poppins" panose="00000500000000000000" pitchFamily="2" charset="0"/>
              <a:cs typeface="Poppins" panose="00000500000000000000" pitchFamily="2" charset="0"/>
            </a:endParaRPr>
          </a:p>
          <a:p>
            <a:endParaRPr lang="en-US" sz="2400" dirty="0">
              <a:solidFill>
                <a:schemeClr val="tx1"/>
              </a:solidFill>
              <a:latin typeface="Aptos" panose="020B0004020202020204" pitchFamily="34" charset="0"/>
            </a:endParaRPr>
          </a:p>
        </p:txBody>
      </p:sp>
      <p:pic>
        <p:nvPicPr>
          <p:cNvPr id="5" name="Image 50">
            <a:extLst>
              <a:ext uri="{FF2B5EF4-FFF2-40B4-BE49-F238E27FC236}">
                <a16:creationId xmlns:a16="http://schemas.microsoft.com/office/drawing/2014/main" id="{16AA1CA3-9E32-D110-B180-3451C598869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796E7238-F48B-6AA6-3859-016E622491C7}"/>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9AFEE492-0674-EBCA-D081-59A49578FCDB}"/>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4221283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92AA2-80C8-B358-9B73-8B8FE52B78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CF6522-E29A-EAA7-B25F-27249955968E}"/>
              </a:ext>
            </a:extLst>
          </p:cNvPr>
          <p:cNvSpPr>
            <a:spLocks noGrp="1"/>
          </p:cNvSpPr>
          <p:nvPr>
            <p:ph type="title" idx="4294967295"/>
          </p:nvPr>
        </p:nvSpPr>
        <p:spPr>
          <a:xfrm>
            <a:off x="1083509" y="1103244"/>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CVE-2025-30399</a:t>
            </a:r>
          </a:p>
        </p:txBody>
      </p:sp>
      <p:sp>
        <p:nvSpPr>
          <p:cNvPr id="3" name="Text Placeholder 2">
            <a:extLst>
              <a:ext uri="{FF2B5EF4-FFF2-40B4-BE49-F238E27FC236}">
                <a16:creationId xmlns:a16="http://schemas.microsoft.com/office/drawing/2014/main" id="{66D0AA2B-8472-BD0E-2032-EABF7535150B}"/>
              </a:ext>
            </a:extLst>
          </p:cNvPr>
          <p:cNvSpPr>
            <a:spLocks noGrp="1"/>
          </p:cNvSpPr>
          <p:nvPr>
            <p:ph type="body" sz="quarter" idx="15"/>
          </p:nvPr>
        </p:nvSpPr>
        <p:spPr>
          <a:xfrm>
            <a:off x="1083509" y="1659835"/>
            <a:ext cx="11983134" cy="635000"/>
          </a:xfrm>
        </p:spPr>
        <p:txBody>
          <a:bodyPr/>
          <a:lstStyle/>
          <a:p>
            <a:r>
              <a:rPr lang="en-US" b="1" dirty="0"/>
              <a:t>.NET Remote Code Execution</a:t>
            </a:r>
          </a:p>
        </p:txBody>
      </p:sp>
      <p:sp>
        <p:nvSpPr>
          <p:cNvPr id="4" name="Text Placeholder 3">
            <a:extLst>
              <a:ext uri="{FF2B5EF4-FFF2-40B4-BE49-F238E27FC236}">
                <a16:creationId xmlns:a16="http://schemas.microsoft.com/office/drawing/2014/main" id="{1CE7B72C-42F0-B4AD-0091-58AA830C18BA}"/>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B8D42D90-3653-0D14-C47C-8E4D95CCFB23}"/>
              </a:ext>
            </a:extLst>
          </p:cNvPr>
          <p:cNvSpPr>
            <a:spLocks noGrp="1"/>
          </p:cNvSpPr>
          <p:nvPr>
            <p:ph type="body" sz="quarter" idx="22"/>
          </p:nvPr>
        </p:nvSpPr>
        <p:spPr>
          <a:xfrm>
            <a:off x="1070063" y="6648782"/>
            <a:ext cx="6650252" cy="1836590"/>
          </a:xfrm>
        </p:spPr>
        <p:txBody>
          <a:bodyPr/>
          <a:lstStyle/>
          <a:p>
            <a:r>
              <a:rPr lang="en-US" sz="2400" dirty="0">
                <a:latin typeface="Poppins" panose="00000500000000000000" pitchFamily="2" charset="0"/>
                <a:cs typeface="Poppins" panose="00000500000000000000" pitchFamily="2" charset="0"/>
              </a:rPr>
              <a:t>An attacker could exploit this vulnerability by placing files in particular locations, leading to unintended code execution.</a:t>
            </a:r>
            <a:endParaRPr lang="en-US" sz="2800" dirty="0">
              <a:latin typeface="Poppins" panose="00000500000000000000" pitchFamily="2" charset="0"/>
              <a:cs typeface="Poppins" panose="00000500000000000000" pitchFamily="2" charset="0"/>
            </a:endParaRPr>
          </a:p>
        </p:txBody>
      </p:sp>
      <p:sp>
        <p:nvSpPr>
          <p:cNvPr id="7" name="Text Placeholder 6">
            <a:extLst>
              <a:ext uri="{FF2B5EF4-FFF2-40B4-BE49-F238E27FC236}">
                <a16:creationId xmlns:a16="http://schemas.microsoft.com/office/drawing/2014/main" id="{5DCF9DAD-F749-A2DD-84B8-204D1F9AC662}"/>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E4C8ABC1-69DC-F759-F66C-E4F35520B33E}"/>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If a non-.NET application hosted .NET via COM, C++/CLI or some type of custom hosting </a:t>
            </a:r>
            <a:r>
              <a:rPr lang="en-US" sz="2400" dirty="0" err="1">
                <a:latin typeface="Poppins" panose="00000500000000000000" pitchFamily="2" charset="0"/>
                <a:cs typeface="Poppins" panose="00000500000000000000" pitchFamily="2" charset="0"/>
              </a:rPr>
              <a:t>coreclr</a:t>
            </a:r>
            <a:r>
              <a:rPr lang="en-US" sz="2400" dirty="0">
                <a:latin typeface="Poppins" panose="00000500000000000000" pitchFamily="2" charset="0"/>
                <a:cs typeface="Poppins" panose="00000500000000000000" pitchFamily="2" charset="0"/>
              </a:rPr>
              <a:t> could be loaded from the current working directory, rather than the trusted install location.</a:t>
            </a:r>
          </a:p>
          <a:p>
            <a:endParaRPr lang="en-US" sz="2400" dirty="0">
              <a:latin typeface="Poppins" panose="00000500000000000000" pitchFamily="2" charset="0"/>
              <a:cs typeface="Poppins" panose="00000500000000000000" pitchFamily="2" charset="0"/>
            </a:endParaRPr>
          </a:p>
          <a:p>
            <a:r>
              <a:rPr lang="en-US" sz="2400" dirty="0">
                <a:latin typeface="Poppins" panose="00000500000000000000" pitchFamily="2" charset="0"/>
                <a:cs typeface="Poppins" panose="00000500000000000000" pitchFamily="2" charset="0"/>
              </a:rPr>
              <a:t>Why is this remote code execution? The application could be started from a network share, which is “remote” to the local machine</a:t>
            </a:r>
            <a:r>
              <a:rPr lang="en-US" sz="2400" dirty="0">
                <a:latin typeface="Aptos" panose="020B0004020202020204" pitchFamily="34" charset="0"/>
              </a:rPr>
              <a:t>.</a:t>
            </a:r>
          </a:p>
          <a:p>
            <a:endParaRPr lang="en-US" dirty="0">
              <a:latin typeface="Aptos" panose="020B0004020202020204" pitchFamily="34" charset="0"/>
            </a:endParaRPr>
          </a:p>
        </p:txBody>
      </p:sp>
      <p:sp>
        <p:nvSpPr>
          <p:cNvPr id="10" name="Text Placeholder 9">
            <a:extLst>
              <a:ext uri="{FF2B5EF4-FFF2-40B4-BE49-F238E27FC236}">
                <a16:creationId xmlns:a16="http://schemas.microsoft.com/office/drawing/2014/main" id="{88AE8C0D-4987-CFBD-8CBD-45A6FAE5BA8B}"/>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23465D22-390E-D185-CB71-00014E905AD8}"/>
              </a:ext>
            </a:extLst>
          </p:cNvPr>
          <p:cNvSpPr>
            <a:spLocks noGrp="1"/>
          </p:cNvSpPr>
          <p:nvPr>
            <p:ph type="body" sz="quarter" idx="28"/>
          </p:nvPr>
        </p:nvSpPr>
        <p:spPr>
          <a:xfrm>
            <a:off x="15941624" y="6648782"/>
            <a:ext cx="6650252" cy="1836590"/>
          </a:xfrm>
        </p:spPr>
        <p:txBody>
          <a:bodyPr/>
          <a:lstStyle/>
          <a:p>
            <a:r>
              <a:rPr lang="en-US" sz="2400" dirty="0">
                <a:solidFill>
                  <a:schemeClr val="tx1"/>
                </a:solidFill>
                <a:latin typeface="Poppins" panose="00000500000000000000" pitchFamily="2" charset="0"/>
                <a:cs typeface="Poppins" panose="00000500000000000000" pitchFamily="2" charset="0"/>
              </a:rPr>
              <a:t>Remove a fallback path in </a:t>
            </a:r>
            <a:r>
              <a:rPr lang="en-US" sz="2400" dirty="0" err="1">
                <a:solidFill>
                  <a:schemeClr val="tx1"/>
                </a:solidFill>
                <a:latin typeface="Aptos Mono" panose="020B0009020202020204" pitchFamily="49" charset="0"/>
              </a:rPr>
              <a:t>Comhost.cs</a:t>
            </a:r>
            <a:r>
              <a:rPr lang="en-US" sz="2400" dirty="0">
                <a:solidFill>
                  <a:schemeClr val="tx1"/>
                </a:solidFill>
                <a:latin typeface="Aptos" panose="020B0004020202020204" pitchFamily="34" charset="0"/>
              </a:rPr>
              <a:t> </a:t>
            </a:r>
            <a:r>
              <a:rPr lang="en-US" sz="2400" dirty="0">
                <a:solidFill>
                  <a:schemeClr val="tx1"/>
                </a:solidFill>
                <a:latin typeface="Poppins" panose="00000500000000000000" pitchFamily="2" charset="0"/>
                <a:cs typeface="Poppins" panose="00000500000000000000" pitchFamily="2" charset="0"/>
              </a:rPr>
              <a:t>where apps with no .</a:t>
            </a:r>
            <a:r>
              <a:rPr lang="en-US" sz="2400" dirty="0" err="1">
                <a:solidFill>
                  <a:schemeClr val="tx1"/>
                </a:solidFill>
                <a:latin typeface="Poppins" panose="00000500000000000000" pitchFamily="2" charset="0"/>
                <a:cs typeface="Poppins" panose="00000500000000000000" pitchFamily="2" charset="0"/>
              </a:rPr>
              <a:t>deps.json</a:t>
            </a:r>
            <a:r>
              <a:rPr lang="en-US" sz="2400" dirty="0">
                <a:solidFill>
                  <a:schemeClr val="tx1"/>
                </a:solidFill>
                <a:latin typeface="Poppins" panose="00000500000000000000" pitchFamily="2" charset="0"/>
                <a:cs typeface="Poppins" panose="00000500000000000000" pitchFamily="2" charset="0"/>
              </a:rPr>
              <a:t> which caused .NET to look for </a:t>
            </a:r>
            <a:r>
              <a:rPr lang="en-US" sz="2400" dirty="0" err="1">
                <a:solidFill>
                  <a:schemeClr val="tx1"/>
                </a:solidFill>
                <a:latin typeface="Poppins" panose="00000500000000000000" pitchFamily="2" charset="0"/>
                <a:cs typeface="Poppins" panose="00000500000000000000" pitchFamily="2" charset="0"/>
              </a:rPr>
              <a:t>coreclr</a:t>
            </a:r>
            <a:r>
              <a:rPr lang="en-US" sz="2400" dirty="0">
                <a:solidFill>
                  <a:schemeClr val="tx1"/>
                </a:solidFill>
                <a:latin typeface="Poppins" panose="00000500000000000000" pitchFamily="2" charset="0"/>
                <a:cs typeface="Poppins" panose="00000500000000000000" pitchFamily="2" charset="0"/>
              </a:rPr>
              <a:t> in the current working directory.</a:t>
            </a:r>
          </a:p>
          <a:p>
            <a:endParaRPr lang="en-US" sz="2400" dirty="0">
              <a:solidFill>
                <a:schemeClr val="tx1"/>
              </a:solidFill>
              <a:latin typeface="Aptos" panose="020B0004020202020204" pitchFamily="34"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https://github.com/dotnet/runtime/pull/116504</a:t>
            </a:r>
            <a:r>
              <a:rPr lang="en-US" sz="2000" dirty="0">
                <a:solidFill>
                  <a:schemeClr val="tx1"/>
                </a:solidFill>
                <a:latin typeface="Poppins" panose="00000500000000000000" pitchFamily="2" charset="0"/>
                <a:cs typeface="Poppins" panose="00000500000000000000" pitchFamily="2" charset="0"/>
              </a:rPr>
              <a:t> </a:t>
            </a:r>
          </a:p>
        </p:txBody>
      </p:sp>
      <p:pic>
        <p:nvPicPr>
          <p:cNvPr id="5" name="Image 50">
            <a:extLst>
              <a:ext uri="{FF2B5EF4-FFF2-40B4-BE49-F238E27FC236}">
                <a16:creationId xmlns:a16="http://schemas.microsoft.com/office/drawing/2014/main" id="{C7850958-481F-67A9-43EE-13BEED965B0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03E1A1F1-E60D-25D2-ECEF-39015AC55A9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B8A1A34B-8C15-B8BE-732E-F828255047A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1978585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C3150-8B1A-A7CD-25A2-FF27307D80E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AF00C0C-5AFE-0A1D-E01A-701E2751A272}"/>
              </a:ext>
            </a:extLst>
          </p:cNvPr>
          <p:cNvSpPr>
            <a:spLocks noGrp="1"/>
          </p:cNvSpPr>
          <p:nvPr>
            <p:ph type="title" idx="4294967295"/>
          </p:nvPr>
        </p:nvSpPr>
        <p:spPr>
          <a:xfrm>
            <a:off x="1083509" y="1103244"/>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CVE-2025-26646</a:t>
            </a:r>
          </a:p>
        </p:txBody>
      </p:sp>
      <p:sp>
        <p:nvSpPr>
          <p:cNvPr id="3" name="Text Placeholder 2">
            <a:extLst>
              <a:ext uri="{FF2B5EF4-FFF2-40B4-BE49-F238E27FC236}">
                <a16:creationId xmlns:a16="http://schemas.microsoft.com/office/drawing/2014/main" id="{B7FC0667-54B4-3F16-4085-4308526ADC54}"/>
              </a:ext>
            </a:extLst>
          </p:cNvPr>
          <p:cNvSpPr>
            <a:spLocks noGrp="1"/>
          </p:cNvSpPr>
          <p:nvPr>
            <p:ph type="body" sz="quarter" idx="15"/>
          </p:nvPr>
        </p:nvSpPr>
        <p:spPr>
          <a:xfrm>
            <a:off x="1083509" y="1659835"/>
            <a:ext cx="11983134" cy="635000"/>
          </a:xfrm>
        </p:spPr>
        <p:txBody>
          <a:bodyPr/>
          <a:lstStyle/>
          <a:p>
            <a:r>
              <a:rPr lang="en-US" b="1" dirty="0"/>
              <a:t>.NET Spoofing Vulnerability</a:t>
            </a:r>
          </a:p>
        </p:txBody>
      </p:sp>
      <p:sp>
        <p:nvSpPr>
          <p:cNvPr id="4" name="Text Placeholder 3">
            <a:extLst>
              <a:ext uri="{FF2B5EF4-FFF2-40B4-BE49-F238E27FC236}">
                <a16:creationId xmlns:a16="http://schemas.microsoft.com/office/drawing/2014/main" id="{B4E75C74-06AF-C004-5CF8-DE663C24C5E3}"/>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DC86294B-C06C-E298-1E41-CE96F0F03AA4}"/>
              </a:ext>
            </a:extLst>
          </p:cNvPr>
          <p:cNvSpPr>
            <a:spLocks noGrp="1"/>
          </p:cNvSpPr>
          <p:nvPr>
            <p:ph type="body" sz="quarter" idx="22"/>
          </p:nvPr>
        </p:nvSpPr>
        <p:spPr>
          <a:xfrm>
            <a:off x="1070063" y="6648782"/>
            <a:ext cx="6650252" cy="1836590"/>
          </a:xfrm>
        </p:spPr>
        <p:txBody>
          <a:bodyPr/>
          <a:lstStyle/>
          <a:p>
            <a:r>
              <a:rPr lang="en-US" sz="2400" dirty="0">
                <a:latin typeface="Poppins" panose="00000500000000000000" pitchFamily="2" charset="0"/>
                <a:cs typeface="Poppins" panose="00000500000000000000" pitchFamily="2" charset="0"/>
              </a:rPr>
              <a:t>A vulnerability exists in .NET SDK or MSBuild applications where external control of file name or path allows an unauthorized attacked to perform spoofing over a network</a:t>
            </a:r>
            <a:r>
              <a:rPr lang="en-US" dirty="0">
                <a:latin typeface="Poppins" panose="00000500000000000000" pitchFamily="2" charset="0"/>
                <a:cs typeface="Poppins" panose="00000500000000000000" pitchFamily="2" charset="0"/>
              </a:rPr>
              <a:t>.</a:t>
            </a:r>
            <a:endParaRPr lang="en-US" sz="2400" dirty="0">
              <a:latin typeface="Poppins" panose="00000500000000000000" pitchFamily="2" charset="0"/>
              <a:cs typeface="Poppins" panose="00000500000000000000" pitchFamily="2" charset="0"/>
            </a:endParaRPr>
          </a:p>
        </p:txBody>
      </p:sp>
      <p:sp>
        <p:nvSpPr>
          <p:cNvPr id="7" name="Text Placeholder 6">
            <a:extLst>
              <a:ext uri="{FF2B5EF4-FFF2-40B4-BE49-F238E27FC236}">
                <a16:creationId xmlns:a16="http://schemas.microsoft.com/office/drawing/2014/main" id="{FEB1A67E-C8A2-170B-2431-3C91D2341DFA}"/>
              </a:ext>
            </a:extLst>
          </p:cNvPr>
          <p:cNvSpPr>
            <a:spLocks noGrp="1"/>
          </p:cNvSpPr>
          <p:nvPr>
            <p:ph type="body" sz="quarter" idx="23"/>
          </p:nvPr>
        </p:nvSpPr>
        <p:spPr/>
        <p:txBody>
          <a:bodyPr/>
          <a:lstStyle/>
          <a:p>
            <a:r>
              <a:rPr lang="en-US" dirty="0"/>
              <a:t>Bug</a:t>
            </a:r>
          </a:p>
        </p:txBody>
      </p:sp>
      <p:sp>
        <p:nvSpPr>
          <p:cNvPr id="10" name="Text Placeholder 9">
            <a:extLst>
              <a:ext uri="{FF2B5EF4-FFF2-40B4-BE49-F238E27FC236}">
                <a16:creationId xmlns:a16="http://schemas.microsoft.com/office/drawing/2014/main" id="{BC5DE429-552F-DFC2-1730-425F3C808E12}"/>
              </a:ext>
            </a:extLst>
          </p:cNvPr>
          <p:cNvSpPr>
            <a:spLocks noGrp="1"/>
          </p:cNvSpPr>
          <p:nvPr>
            <p:ph type="body" sz="quarter" idx="26"/>
          </p:nvPr>
        </p:nvSpPr>
        <p:spPr/>
        <p:txBody>
          <a:bodyPr/>
          <a:lstStyle/>
          <a:p>
            <a:r>
              <a:rPr lang="en-US" dirty="0"/>
              <a:t>The fix</a:t>
            </a:r>
          </a:p>
        </p:txBody>
      </p:sp>
      <p:pic>
        <p:nvPicPr>
          <p:cNvPr id="5" name="Image 50">
            <a:extLst>
              <a:ext uri="{FF2B5EF4-FFF2-40B4-BE49-F238E27FC236}">
                <a16:creationId xmlns:a16="http://schemas.microsoft.com/office/drawing/2014/main" id="{CEF645F5-C293-3047-EA06-298FD0E5B2D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425AA060-70CC-C2DE-E2EB-1878CE282AD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ECB92A78-2E6B-F89E-636E-6C144AF3CFB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096417" y="5023924"/>
            <a:ext cx="529076" cy="451222"/>
          </a:xfrm>
          <a:prstGeom prst="rect">
            <a:avLst/>
          </a:prstGeom>
        </p:spPr>
      </p:pic>
      <p:sp>
        <p:nvSpPr>
          <p:cNvPr id="8" name="Text Placeholder 8">
            <a:extLst>
              <a:ext uri="{FF2B5EF4-FFF2-40B4-BE49-F238E27FC236}">
                <a16:creationId xmlns:a16="http://schemas.microsoft.com/office/drawing/2014/main" id="{30F78F27-826F-5D09-74DB-D21A7A845C90}"/>
              </a:ext>
            </a:extLst>
          </p:cNvPr>
          <p:cNvSpPr txBox="1">
            <a:spLocks/>
          </p:cNvSpPr>
          <p:nvPr/>
        </p:nvSpPr>
        <p:spPr>
          <a:xfrm>
            <a:off x="8505843" y="6648781"/>
            <a:ext cx="6650252" cy="2720505"/>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Aptos" panose="020B0004020202020204" pitchFamily="34" charset="0"/>
                <a:cs typeface="Poppins" pitchFamily="2" charset="77"/>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latin typeface="Poppins" panose="00000500000000000000" pitchFamily="2" charset="0"/>
                <a:cs typeface="Poppins" panose="00000500000000000000" pitchFamily="2" charset="0"/>
              </a:rPr>
              <a:t>The </a:t>
            </a:r>
            <a:r>
              <a:rPr lang="en-US" sz="2400" dirty="0" err="1">
                <a:latin typeface="Aptos Mono" panose="020B0009020202020204" pitchFamily="49" charset="0"/>
                <a:cs typeface="Poppins" panose="00000500000000000000" pitchFamily="2" charset="0"/>
              </a:rPr>
              <a:t>DownloadFile</a:t>
            </a:r>
            <a:r>
              <a:rPr lang="en-US" sz="2400" dirty="0">
                <a:latin typeface="Poppins" panose="00000500000000000000" pitchFamily="2" charset="0"/>
                <a:cs typeface="Poppins" panose="00000500000000000000" pitchFamily="2" charset="0"/>
              </a:rPr>
              <a:t> task in </a:t>
            </a:r>
            <a:r>
              <a:rPr lang="en-US" sz="2400" dirty="0" err="1">
                <a:latin typeface="Poppins" panose="00000500000000000000" pitchFamily="2" charset="0"/>
                <a:cs typeface="Poppins" panose="00000500000000000000" pitchFamily="2" charset="0"/>
              </a:rPr>
              <a:t>MSBuild</a:t>
            </a:r>
            <a:r>
              <a:rPr lang="en-US" sz="2400" dirty="0">
                <a:latin typeface="Poppins" panose="00000500000000000000" pitchFamily="2" charset="0"/>
                <a:cs typeface="Poppins" panose="00000500000000000000" pitchFamily="2" charset="0"/>
              </a:rPr>
              <a:t> ceded too much control to the remote server, allowing it to choose the filename of the file being downloaded.</a:t>
            </a:r>
          </a:p>
          <a:p>
            <a:endParaRPr lang="en-US" sz="2400" dirty="0">
              <a:latin typeface="Poppins" panose="00000500000000000000" pitchFamily="2" charset="0"/>
              <a:cs typeface="Poppins" panose="00000500000000000000" pitchFamily="2" charset="0"/>
            </a:endParaRPr>
          </a:p>
          <a:p>
            <a:r>
              <a:rPr lang="en-US" sz="2400" dirty="0">
                <a:latin typeface="Poppins" panose="00000500000000000000" pitchFamily="2" charset="0"/>
                <a:cs typeface="Poppins" panose="00000500000000000000" pitchFamily="2" charset="0"/>
              </a:rPr>
              <a:t>Allowing the server to choose a filename is categorized as spoofing.</a:t>
            </a:r>
          </a:p>
          <a:p>
            <a:endParaRPr lang="en-US" sz="2400" dirty="0">
              <a:latin typeface="Poppins" panose="00000500000000000000" pitchFamily="2" charset="0"/>
              <a:cs typeface="Poppins" panose="00000500000000000000" pitchFamily="2" charset="0"/>
            </a:endParaRPr>
          </a:p>
          <a:p>
            <a:endParaRPr lang="en-US" sz="2400" dirty="0">
              <a:latin typeface="Poppins" panose="00000500000000000000" pitchFamily="2" charset="0"/>
              <a:cs typeface="Poppins" panose="00000500000000000000" pitchFamily="2" charset="0"/>
            </a:endParaRPr>
          </a:p>
          <a:p>
            <a:endParaRPr lang="en-US" dirty="0">
              <a:latin typeface="Aptos" panose="020B0004020202020204" pitchFamily="34" charset="0"/>
            </a:endParaRPr>
          </a:p>
        </p:txBody>
      </p:sp>
      <p:sp>
        <p:nvSpPr>
          <p:cNvPr id="14" name="Text Placeholder 11">
            <a:extLst>
              <a:ext uri="{FF2B5EF4-FFF2-40B4-BE49-F238E27FC236}">
                <a16:creationId xmlns:a16="http://schemas.microsoft.com/office/drawing/2014/main" id="{7CA41D45-C9B0-03C4-E203-C77E2B508C59}"/>
              </a:ext>
            </a:extLst>
          </p:cNvPr>
          <p:cNvSpPr txBox="1">
            <a:spLocks/>
          </p:cNvSpPr>
          <p:nvPr/>
        </p:nvSpPr>
        <p:spPr>
          <a:xfrm>
            <a:off x="15941624" y="6648782"/>
            <a:ext cx="6650252" cy="1836590"/>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Aptos" panose="020B0004020202020204" pitchFamily="34" charset="0"/>
                <a:cs typeface="Poppins" pitchFamily="2" charset="77"/>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tx1"/>
                </a:solidFill>
                <a:latin typeface="Poppins" panose="00000500000000000000" pitchFamily="2" charset="0"/>
                <a:cs typeface="Poppins" panose="00000500000000000000" pitchFamily="2" charset="0"/>
              </a:rPr>
              <a:t>Ignore the </a:t>
            </a:r>
            <a:r>
              <a:rPr lang="en-US" sz="2400" dirty="0">
                <a:solidFill>
                  <a:schemeClr val="tx1"/>
                </a:solidFill>
                <a:latin typeface="Aptos Mono" panose="020B0009020202020204" pitchFamily="49" charset="0"/>
                <a:cs typeface="Poppins" panose="00000500000000000000" pitchFamily="2" charset="0"/>
              </a:rPr>
              <a:t>Content-Disposition</a:t>
            </a:r>
            <a:r>
              <a:rPr lang="en-US" sz="2400" dirty="0">
                <a:solidFill>
                  <a:schemeClr val="tx1"/>
                </a:solidFill>
                <a:latin typeface="Poppins" panose="00000500000000000000" pitchFamily="2" charset="0"/>
                <a:cs typeface="Poppins" panose="00000500000000000000" pitchFamily="2" charset="0"/>
              </a:rPr>
              <a:t> header, and use the filename specified in the task, or generate one from the URL specified in the task.</a:t>
            </a:r>
          </a:p>
          <a:p>
            <a:endParaRPr lang="en-US" sz="2400" dirty="0">
              <a:solidFill>
                <a:schemeClr val="tx1"/>
              </a:solidFill>
              <a:latin typeface="Poppins" panose="00000500000000000000" pitchFamily="2" charset="0"/>
              <a:cs typeface="Poppins" panose="00000500000000000000" pitchFamily="2" charset="0"/>
            </a:endParaRPr>
          </a:p>
          <a:p>
            <a:r>
              <a:rPr lang="en-US" sz="2000" dirty="0">
                <a:solidFill>
                  <a:schemeClr val="tx1"/>
                </a:solidFill>
                <a:latin typeface="Poppins" panose="00000500000000000000" pitchFamily="2" charset="0"/>
                <a:cs typeface="Poppins" panose="00000500000000000000" pitchFamily="2" charset="0"/>
                <a:hlinkClick r:id="rId9">
                  <a:extLst>
                    <a:ext uri="{A12FA001-AC4F-418D-AE19-62706E023703}">
                      <ahyp:hlinkClr xmlns:ahyp="http://schemas.microsoft.com/office/drawing/2018/hyperlinkcolor" val="tx"/>
                    </a:ext>
                  </a:extLst>
                </a:hlinkClick>
              </a:rPr>
              <a:t>https://github.com/dotnet/msbuild/pull/11864</a:t>
            </a:r>
            <a:r>
              <a:rPr lang="en-US" sz="2000" dirty="0">
                <a:solidFill>
                  <a:schemeClr val="tx1"/>
                </a:solidFill>
                <a:latin typeface="Poppins" panose="00000500000000000000" pitchFamily="2" charset="0"/>
                <a:cs typeface="Poppins" panose="00000500000000000000" pitchFamily="2" charset="0"/>
              </a:rPr>
              <a:t> </a:t>
            </a:r>
          </a:p>
        </p:txBody>
      </p:sp>
    </p:spTree>
    <p:extLst>
      <p:ext uri="{BB962C8B-B14F-4D97-AF65-F5344CB8AC3E}">
        <p14:creationId xmlns:p14="http://schemas.microsoft.com/office/powerpoint/2010/main" val="3766897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B931-34CD-5426-FDDF-8684B63E34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C6F7F8-7232-6C4C-D482-245B983ED94A}"/>
              </a:ext>
            </a:extLst>
          </p:cNvPr>
          <p:cNvSpPr>
            <a:spLocks noGrp="1"/>
          </p:cNvSpPr>
          <p:nvPr>
            <p:ph type="body" sz="quarter" idx="13"/>
          </p:nvPr>
        </p:nvSpPr>
        <p:spPr/>
        <p:txBody>
          <a:bodyPr/>
          <a:lstStyle/>
          <a:p>
            <a:r>
              <a:rPr lang="en-US" dirty="0">
                <a:solidFill>
                  <a:schemeClr val="bg2">
                    <a:lumMod val="75000"/>
                  </a:schemeClr>
                </a:solidFill>
              </a:rPr>
              <a:t>CVE-2025-211713</a:t>
            </a:r>
          </a:p>
        </p:txBody>
      </p:sp>
      <p:sp>
        <p:nvSpPr>
          <p:cNvPr id="3" name="Text Placeholder 2">
            <a:extLst>
              <a:ext uri="{FF2B5EF4-FFF2-40B4-BE49-F238E27FC236}">
                <a16:creationId xmlns:a16="http://schemas.microsoft.com/office/drawing/2014/main" id="{1158B9C9-F965-FAB5-E77D-E6AEA6A41783}"/>
              </a:ext>
            </a:extLst>
          </p:cNvPr>
          <p:cNvSpPr>
            <a:spLocks noGrp="1"/>
          </p:cNvSpPr>
          <p:nvPr>
            <p:ph type="body" sz="quarter" idx="15"/>
          </p:nvPr>
        </p:nvSpPr>
        <p:spPr>
          <a:xfrm>
            <a:off x="1083509" y="1659835"/>
            <a:ext cx="11983134" cy="635000"/>
          </a:xfrm>
        </p:spPr>
        <p:txBody>
          <a:bodyPr/>
          <a:lstStyle/>
          <a:p>
            <a:r>
              <a:rPr lang="en-US" b="1" dirty="0"/>
              <a:t>.NET Elevation of Privilege</a:t>
            </a:r>
          </a:p>
        </p:txBody>
      </p:sp>
      <p:sp>
        <p:nvSpPr>
          <p:cNvPr id="4" name="Text Placeholder 3">
            <a:extLst>
              <a:ext uri="{FF2B5EF4-FFF2-40B4-BE49-F238E27FC236}">
                <a16:creationId xmlns:a16="http://schemas.microsoft.com/office/drawing/2014/main" id="{BD502F83-179A-6DC6-D631-D529F249B237}"/>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E6636359-6B8F-07FA-210A-40306DE5DA93}"/>
              </a:ext>
            </a:extLst>
          </p:cNvPr>
          <p:cNvSpPr>
            <a:spLocks noGrp="1"/>
          </p:cNvSpPr>
          <p:nvPr>
            <p:ph type="body" sz="quarter" idx="22"/>
          </p:nvPr>
        </p:nvSpPr>
        <p:spPr>
          <a:xfrm>
            <a:off x="1070063" y="6648782"/>
            <a:ext cx="6650252" cy="1836590"/>
          </a:xfrm>
        </p:spPr>
        <p:txBody>
          <a:bodyPr/>
          <a:lstStyle/>
          <a:p>
            <a:r>
              <a:rPr lang="en-US" sz="2400" dirty="0"/>
              <a:t>An attacker could exploit this vulnerability to writing a specially crafted file in the security context of the local system. This only affects .NET on Linux operating systems.</a:t>
            </a:r>
            <a:endParaRPr lang="en-US" sz="2800" dirty="0">
              <a:latin typeface="Poppins" panose="00000500000000000000" pitchFamily="2" charset="0"/>
              <a:cs typeface="Poppins" panose="00000500000000000000" pitchFamily="2" charset="0"/>
            </a:endParaRPr>
          </a:p>
        </p:txBody>
      </p:sp>
      <p:sp>
        <p:nvSpPr>
          <p:cNvPr id="7" name="Text Placeholder 6">
            <a:extLst>
              <a:ext uri="{FF2B5EF4-FFF2-40B4-BE49-F238E27FC236}">
                <a16:creationId xmlns:a16="http://schemas.microsoft.com/office/drawing/2014/main" id="{3657B7AE-AC0E-2BC2-0125-83AAF9ABD617}"/>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6AB9874A-FF5C-6F34-1562-15135A488ABC}"/>
              </a:ext>
            </a:extLst>
          </p:cNvPr>
          <p:cNvSpPr>
            <a:spLocks noGrp="1"/>
          </p:cNvSpPr>
          <p:nvPr>
            <p:ph type="title" idx="4294967295"/>
          </p:nvPr>
        </p:nvSpPr>
        <p:spPr>
          <a:xfrm>
            <a:off x="8505843" y="6648781"/>
            <a:ext cx="6650252" cy="272050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28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t>.NET / NuGet restore operations use the temporary directory to store a </a:t>
            </a:r>
            <a:r>
              <a:rPr kumimoji="0" lang="en-US" sz="2400" b="0" i="0" u="none" strike="noStrike" kern="1200" cap="none" spc="0" normalizeH="0" baseline="0" noProof="0" dirty="0" err="1">
                <a:ln>
                  <a:noFill/>
                </a:ln>
                <a:solidFill>
                  <a:srgbClr val="0F0F0F">
                    <a:alpha val="100000"/>
                  </a:srgbClr>
                </a:solidFill>
                <a:effectLst/>
                <a:uLnTx/>
                <a:uFillTx/>
                <a:latin typeface="Aptos Mono" panose="020B0009020202020204" pitchFamily="49" charset="0"/>
                <a:ea typeface="Aptos" panose="020B0004020202020204" pitchFamily="34" charset="0"/>
                <a:cs typeface="Poppins" panose="00000500000000000000" pitchFamily="2" charset="0"/>
              </a:rPr>
              <a:t>deps.json</a:t>
            </a:r>
            <a: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t> file containing paths to dependencies. On Linux, as previously seen, that is writable by all, so an attacker on a machine could change the paths in the file to point to their own packages. </a:t>
            </a:r>
            <a:b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br>
            <a:b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br>
            <a: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t>The attacker running code they control under another user process could be Elevation of Privilege if the other process is elevated, or root or Administrator.</a:t>
            </a:r>
            <a:b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br>
            <a:endPar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endParaRPr>
          </a:p>
          <a:p>
            <a:pPr marL="0" marR="0" lvl="0" indent="0" algn="l" defTabSz="914400" rtl="0" eaLnBrk="1" fontAlgn="auto" latinLnBrk="0" hangingPunct="1">
              <a:lnSpc>
                <a:spcPts val="28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endParaRPr>
          </a:p>
        </p:txBody>
      </p:sp>
      <p:sp>
        <p:nvSpPr>
          <p:cNvPr id="10" name="Text Placeholder 9">
            <a:extLst>
              <a:ext uri="{FF2B5EF4-FFF2-40B4-BE49-F238E27FC236}">
                <a16:creationId xmlns:a16="http://schemas.microsoft.com/office/drawing/2014/main" id="{3C233A57-96D6-5004-6D87-ADBE3BE47405}"/>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C51792E6-82F2-E298-AFD6-F42C6E7D98D6}"/>
              </a:ext>
            </a:extLst>
          </p:cNvPr>
          <p:cNvSpPr>
            <a:spLocks noGrp="1"/>
          </p:cNvSpPr>
          <p:nvPr>
            <p:ph type="body" sz="quarter" idx="28"/>
          </p:nvPr>
        </p:nvSpPr>
        <p:spPr>
          <a:xfrm>
            <a:off x="15941624" y="6648782"/>
            <a:ext cx="6650252" cy="1836590"/>
          </a:xfrm>
        </p:spPr>
        <p:txBody>
          <a:bodyPr/>
          <a:lstStyle/>
          <a:p>
            <a:r>
              <a:rPr lang="en-US" sz="2400" dirty="0">
                <a:latin typeface="Poppins" panose="00000500000000000000" pitchFamily="2" charset="0"/>
                <a:cs typeface="Poppins" panose="00000500000000000000" pitchFamily="2" charset="0"/>
              </a:rPr>
              <a:t>As before, move to the </a:t>
            </a:r>
            <a:r>
              <a:rPr lang="en-US" sz="2400" dirty="0" err="1">
                <a:latin typeface="Aptos Mono" panose="020B0009020202020204" pitchFamily="49" charset="0"/>
                <a:cs typeface="Poppins" panose="00000500000000000000" pitchFamily="2" charset="0"/>
              </a:rPr>
              <a:t>D</a:t>
            </a:r>
            <a:r>
              <a:rPr lang="en-US" sz="2400" dirty="0" err="1">
                <a:latin typeface="Aptos Mono" panose="020B0009020202020204" pitchFamily="49" charset="0"/>
              </a:rPr>
              <a:t>irectory.CreateTempSubdirectory</a:t>
            </a:r>
            <a:r>
              <a:rPr lang="en-US" sz="2400" dirty="0">
                <a:latin typeface="Aptos Mono" panose="020B0009020202020204" pitchFamily="49" charset="0"/>
              </a:rPr>
              <a:t>()</a:t>
            </a:r>
            <a:r>
              <a:rPr lang="en-US" sz="2400" dirty="0">
                <a:latin typeface="Poppins" panose="00000500000000000000" pitchFamily="2" charset="0"/>
                <a:cs typeface="Poppins" panose="00000500000000000000" pitchFamily="2" charset="0"/>
              </a:rPr>
              <a:t> API.</a:t>
            </a:r>
          </a:p>
          <a:p>
            <a:endParaRPr lang="en-US" sz="2400" dirty="0">
              <a:latin typeface="Poppins" panose="00000500000000000000" pitchFamily="2" charset="0"/>
              <a:cs typeface="Poppins" panose="00000500000000000000" pitchFamily="2"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https://github.com/dotnet/sdk/commit/e6c1ca796a9bed0ad8beefa3e30f961ed3b59fcf</a:t>
            </a:r>
            <a:r>
              <a:rPr lang="en-US" sz="2000" dirty="0">
                <a:solidFill>
                  <a:schemeClr val="tx1"/>
                </a:solidFill>
                <a:latin typeface="Poppins" panose="00000500000000000000" pitchFamily="2" charset="0"/>
                <a:cs typeface="Poppins" panose="00000500000000000000" pitchFamily="2" charset="0"/>
              </a:rPr>
              <a:t> </a:t>
            </a:r>
          </a:p>
        </p:txBody>
      </p:sp>
      <p:pic>
        <p:nvPicPr>
          <p:cNvPr id="5" name="Image 50">
            <a:extLst>
              <a:ext uri="{FF2B5EF4-FFF2-40B4-BE49-F238E27FC236}">
                <a16:creationId xmlns:a16="http://schemas.microsoft.com/office/drawing/2014/main" id="{8ED14C21-0F0A-8A87-6044-0A19030C5BE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2BE6D71E-B9E7-EE00-6FA7-F114CB52850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0776E809-FD40-9B84-A011-DAD33278156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2295462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79D8A-C728-80DA-C6A4-54A1E517C3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E81EC41-0D8C-0ED4-2DD4-40B63DC207D1}"/>
              </a:ext>
            </a:extLst>
          </p:cNvPr>
          <p:cNvSpPr>
            <a:spLocks noGrp="1"/>
          </p:cNvSpPr>
          <p:nvPr>
            <p:ph type="body" sz="quarter" idx="13"/>
          </p:nvPr>
        </p:nvSpPr>
        <p:spPr/>
        <p:txBody>
          <a:bodyPr/>
          <a:lstStyle/>
          <a:p>
            <a:r>
              <a:rPr lang="en-US" dirty="0">
                <a:solidFill>
                  <a:schemeClr val="bg2">
                    <a:lumMod val="75000"/>
                  </a:schemeClr>
                </a:solidFill>
              </a:rPr>
              <a:t>CVE-2025-21172</a:t>
            </a:r>
          </a:p>
        </p:txBody>
      </p:sp>
      <p:sp>
        <p:nvSpPr>
          <p:cNvPr id="3" name="Text Placeholder 2">
            <a:extLst>
              <a:ext uri="{FF2B5EF4-FFF2-40B4-BE49-F238E27FC236}">
                <a16:creationId xmlns:a16="http://schemas.microsoft.com/office/drawing/2014/main" id="{A8EFF45F-A851-864E-3EBC-2FF4EEE20D1A}"/>
              </a:ext>
            </a:extLst>
          </p:cNvPr>
          <p:cNvSpPr>
            <a:spLocks noGrp="1"/>
          </p:cNvSpPr>
          <p:nvPr>
            <p:ph type="body" sz="quarter" idx="15"/>
          </p:nvPr>
        </p:nvSpPr>
        <p:spPr>
          <a:xfrm>
            <a:off x="1083509" y="1659835"/>
            <a:ext cx="11983134" cy="635000"/>
          </a:xfrm>
        </p:spPr>
        <p:txBody>
          <a:bodyPr/>
          <a:lstStyle/>
          <a:p>
            <a:r>
              <a:rPr lang="en-US" b="1" dirty="0"/>
              <a:t>.NET Remote Code Execution</a:t>
            </a:r>
          </a:p>
        </p:txBody>
      </p:sp>
      <p:sp>
        <p:nvSpPr>
          <p:cNvPr id="4" name="Text Placeholder 3">
            <a:extLst>
              <a:ext uri="{FF2B5EF4-FFF2-40B4-BE49-F238E27FC236}">
                <a16:creationId xmlns:a16="http://schemas.microsoft.com/office/drawing/2014/main" id="{6BAE20BF-D718-343D-3DAC-2D6A6BA821F8}"/>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E8F6B7E4-A704-83A6-D2CC-CBBBB6413453}"/>
              </a:ext>
            </a:extLst>
          </p:cNvPr>
          <p:cNvSpPr>
            <a:spLocks noGrp="1"/>
          </p:cNvSpPr>
          <p:nvPr>
            <p:ph type="body" sz="quarter" idx="22"/>
          </p:nvPr>
        </p:nvSpPr>
        <p:spPr>
          <a:xfrm>
            <a:off x="1070063" y="6648782"/>
            <a:ext cx="6650252" cy="1836590"/>
          </a:xfrm>
        </p:spPr>
        <p:txBody>
          <a:bodyPr/>
          <a:lstStyle/>
          <a:p>
            <a:r>
              <a:rPr lang="en-US" sz="2400" dirty="0"/>
              <a:t>An attacker could exploit this vulnerability by loading a specially crafted file in Visual Studio.</a:t>
            </a:r>
            <a:endParaRPr lang="en-US" sz="2400" dirty="0">
              <a:latin typeface="Aptos" panose="020B0004020202020204" pitchFamily="34" charset="0"/>
            </a:endParaRPr>
          </a:p>
        </p:txBody>
      </p:sp>
      <p:sp>
        <p:nvSpPr>
          <p:cNvPr id="7" name="Text Placeholder 6">
            <a:extLst>
              <a:ext uri="{FF2B5EF4-FFF2-40B4-BE49-F238E27FC236}">
                <a16:creationId xmlns:a16="http://schemas.microsoft.com/office/drawing/2014/main" id="{A3C7D93F-FA70-08FA-7DE3-865660BFE9BD}"/>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664DB5F9-AB77-19E8-B935-60EBE18F4562}"/>
              </a:ext>
            </a:extLst>
          </p:cNvPr>
          <p:cNvSpPr>
            <a:spLocks noGrp="1"/>
          </p:cNvSpPr>
          <p:nvPr>
            <p:ph type="title" idx="4294967295"/>
          </p:nvPr>
        </p:nvSpPr>
        <p:spPr>
          <a:xfrm>
            <a:off x="8505843" y="6648781"/>
            <a:ext cx="6650252" cy="272050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28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t>The Microsoft Debug Interface Access SDK (MSDIA) is used by .NET to enhance stack traces.</a:t>
            </a:r>
          </a:p>
          <a:p>
            <a:pPr marL="0" marR="0" lvl="0" indent="0" algn="l" defTabSz="914400" rtl="0" eaLnBrk="1" fontAlgn="auto" latinLnBrk="0" hangingPunct="1">
              <a:lnSpc>
                <a:spcPts val="28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rPr>
              <a:t>It had an RCE vector when opening symbols and memory dumps.</a:t>
            </a:r>
          </a:p>
          <a:p>
            <a:pPr marL="0" marR="0" lvl="0" indent="0" algn="l" defTabSz="914400" rtl="0" eaLnBrk="1" fontAlgn="auto" latinLnBrk="0" hangingPunct="1">
              <a:lnSpc>
                <a:spcPts val="28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rgbClr val="0F0F0F">
                  <a:alpha val="100000"/>
                </a:srgbClr>
              </a:solidFill>
              <a:effectLst/>
              <a:uLnTx/>
              <a:uFillTx/>
              <a:latin typeface="Poppins" panose="00000500000000000000" pitchFamily="2" charset="0"/>
              <a:ea typeface="Aptos" panose="020B0004020202020204" pitchFamily="34" charset="0"/>
              <a:cs typeface="Poppins" panose="00000500000000000000" pitchFamily="2" charset="0"/>
            </a:endParaRPr>
          </a:p>
        </p:txBody>
      </p:sp>
      <p:sp>
        <p:nvSpPr>
          <p:cNvPr id="10" name="Text Placeholder 9">
            <a:extLst>
              <a:ext uri="{FF2B5EF4-FFF2-40B4-BE49-F238E27FC236}">
                <a16:creationId xmlns:a16="http://schemas.microsoft.com/office/drawing/2014/main" id="{A163400F-45CF-F602-F4A0-44601453E8C0}"/>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06DCE1D9-5053-B987-2C3E-FCA81C21B0DD}"/>
              </a:ext>
            </a:extLst>
          </p:cNvPr>
          <p:cNvSpPr>
            <a:spLocks noGrp="1"/>
          </p:cNvSpPr>
          <p:nvPr>
            <p:ph type="body" sz="quarter" idx="28"/>
          </p:nvPr>
        </p:nvSpPr>
        <p:spPr>
          <a:xfrm>
            <a:off x="15941624" y="6648782"/>
            <a:ext cx="6650252" cy="1836590"/>
          </a:xfrm>
        </p:spPr>
        <p:txBody>
          <a:bodyPr/>
          <a:lstStyle/>
          <a:p>
            <a:r>
              <a:rPr lang="en-US" sz="2400" dirty="0">
                <a:latin typeface="Poppins" panose="00000500000000000000" pitchFamily="2" charset="0"/>
                <a:cs typeface="Poppins" panose="00000500000000000000" pitchFamily="2" charset="0"/>
              </a:rPr>
              <a:t>Update the version of MSDIA we ship with .NET.</a:t>
            </a:r>
          </a:p>
        </p:txBody>
      </p:sp>
      <p:pic>
        <p:nvPicPr>
          <p:cNvPr id="5" name="Image 50">
            <a:extLst>
              <a:ext uri="{FF2B5EF4-FFF2-40B4-BE49-F238E27FC236}">
                <a16:creationId xmlns:a16="http://schemas.microsoft.com/office/drawing/2014/main" id="{26A7387A-76A9-A712-B159-5BFF29B34A1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0ED6E801-D8F7-8FE5-8491-AE1C4EAAE07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2CF6B209-F95B-4CD3-3837-ECC4C89A56F9}"/>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1397930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18A8-76DB-8808-6991-66AFCD167FD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EB1A903-CE1B-970B-AD41-41E75AF56C35}"/>
              </a:ext>
            </a:extLst>
          </p:cNvPr>
          <p:cNvSpPr>
            <a:spLocks noGrp="1"/>
          </p:cNvSpPr>
          <p:nvPr>
            <p:ph type="title" idx="4294967295"/>
          </p:nvPr>
        </p:nvSpPr>
        <p:spPr>
          <a:xfrm>
            <a:off x="1083509" y="1103244"/>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CVE-2025-21171</a:t>
            </a:r>
          </a:p>
        </p:txBody>
      </p:sp>
      <p:sp>
        <p:nvSpPr>
          <p:cNvPr id="3" name="Text Placeholder 2">
            <a:extLst>
              <a:ext uri="{FF2B5EF4-FFF2-40B4-BE49-F238E27FC236}">
                <a16:creationId xmlns:a16="http://schemas.microsoft.com/office/drawing/2014/main" id="{321DA0FB-7380-1B1E-8FFB-1A3F156AB435}"/>
              </a:ext>
            </a:extLst>
          </p:cNvPr>
          <p:cNvSpPr>
            <a:spLocks noGrp="1"/>
          </p:cNvSpPr>
          <p:nvPr>
            <p:ph type="body" sz="quarter" idx="15"/>
          </p:nvPr>
        </p:nvSpPr>
        <p:spPr>
          <a:xfrm>
            <a:off x="1083509" y="1659835"/>
            <a:ext cx="11983134" cy="635000"/>
          </a:xfrm>
        </p:spPr>
        <p:txBody>
          <a:bodyPr/>
          <a:lstStyle/>
          <a:p>
            <a:r>
              <a:rPr lang="en-US" b="1" dirty="0"/>
              <a:t>.NET Remote Code Execution</a:t>
            </a:r>
          </a:p>
        </p:txBody>
      </p:sp>
      <p:sp>
        <p:nvSpPr>
          <p:cNvPr id="4" name="Text Placeholder 3">
            <a:extLst>
              <a:ext uri="{FF2B5EF4-FFF2-40B4-BE49-F238E27FC236}">
                <a16:creationId xmlns:a16="http://schemas.microsoft.com/office/drawing/2014/main" id="{2753B6E1-D84B-EBC0-6BDD-66AE9EE23E71}"/>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6BC292E8-4543-42D2-4839-3DB801E16479}"/>
              </a:ext>
            </a:extLst>
          </p:cNvPr>
          <p:cNvSpPr>
            <a:spLocks noGrp="1"/>
          </p:cNvSpPr>
          <p:nvPr>
            <p:ph type="body" sz="quarter" idx="22"/>
          </p:nvPr>
        </p:nvSpPr>
        <p:spPr>
          <a:xfrm>
            <a:off x="1070063" y="6648782"/>
            <a:ext cx="6650252" cy="1836590"/>
          </a:xfrm>
        </p:spPr>
        <p:txBody>
          <a:bodyPr/>
          <a:lstStyle/>
          <a:p>
            <a:r>
              <a:rPr lang="en-US" sz="2400" dirty="0">
                <a:latin typeface="Poppins" panose="00000500000000000000" pitchFamily="2" charset="0"/>
                <a:cs typeface="Poppins" panose="00000500000000000000" pitchFamily="2" charset="0"/>
              </a:rPr>
              <a:t>An attacker could exploit this vulnerability by sending a specially crafted request to the vulnerable web server.</a:t>
            </a:r>
            <a:endParaRPr lang="en-US" sz="2800" dirty="0">
              <a:latin typeface="Poppins" panose="00000500000000000000" pitchFamily="2" charset="0"/>
              <a:cs typeface="Poppins" panose="00000500000000000000" pitchFamily="2" charset="0"/>
            </a:endParaRPr>
          </a:p>
        </p:txBody>
      </p:sp>
      <p:sp>
        <p:nvSpPr>
          <p:cNvPr id="7" name="Text Placeholder 6">
            <a:extLst>
              <a:ext uri="{FF2B5EF4-FFF2-40B4-BE49-F238E27FC236}">
                <a16:creationId xmlns:a16="http://schemas.microsoft.com/office/drawing/2014/main" id="{F31DFF04-BD1B-FBFE-D45C-F76FF4E00365}"/>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33CC44D7-253A-5DA2-C794-687B8B6C345E}"/>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Unsafe code in </a:t>
            </a:r>
            <a:r>
              <a:rPr lang="en-US" sz="2400" dirty="0" err="1">
                <a:latin typeface="Poppins" panose="00000500000000000000" pitchFamily="2" charset="0"/>
                <a:cs typeface="Poppins" panose="00000500000000000000" pitchFamily="2" charset="0"/>
              </a:rPr>
              <a:t>Convert.ToHexString</a:t>
            </a:r>
            <a:r>
              <a:rPr lang="en-US" sz="2400" dirty="0">
                <a:latin typeface="Poppins" panose="00000500000000000000" pitchFamily="2" charset="0"/>
                <a:cs typeface="Poppins" panose="00000500000000000000" pitchFamily="2" charset="0"/>
              </a:rPr>
              <a:t>() calculated a buffer length incorrectly, leading to a buffer overflow.</a:t>
            </a:r>
          </a:p>
          <a:p>
            <a:r>
              <a:rPr lang="en-US" sz="2400" dirty="0">
                <a:latin typeface="Poppins" panose="00000500000000000000" pitchFamily="2" charset="0"/>
                <a:cs typeface="Poppins" panose="00000500000000000000" pitchFamily="2" charset="0"/>
              </a:rPr>
              <a:t>Buffer overflows allow an attacker to write memory they should not have access to.</a:t>
            </a:r>
          </a:p>
          <a:p>
            <a:r>
              <a:rPr lang="en-US" sz="2400" dirty="0">
                <a:latin typeface="Poppins" panose="00000500000000000000" pitchFamily="2" charset="0"/>
                <a:cs typeface="Poppins" panose="00000500000000000000" pitchFamily="2" charset="0"/>
              </a:rPr>
              <a:t>The worst-case scenario is the memory could contain executable instructions something else calls, which means RCE.</a:t>
            </a:r>
          </a:p>
          <a:p>
            <a:endParaRPr lang="en-US" dirty="0">
              <a:latin typeface="Aptos" panose="020B0004020202020204" pitchFamily="34" charset="0"/>
            </a:endParaRPr>
          </a:p>
        </p:txBody>
      </p:sp>
      <p:sp>
        <p:nvSpPr>
          <p:cNvPr id="10" name="Text Placeholder 9">
            <a:extLst>
              <a:ext uri="{FF2B5EF4-FFF2-40B4-BE49-F238E27FC236}">
                <a16:creationId xmlns:a16="http://schemas.microsoft.com/office/drawing/2014/main" id="{08E4D52C-2064-EDE1-8378-00C37E504FFF}"/>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A9CFB2D0-E793-82C7-D9E3-58D1D3E14485}"/>
              </a:ext>
            </a:extLst>
          </p:cNvPr>
          <p:cNvSpPr>
            <a:spLocks noGrp="1"/>
          </p:cNvSpPr>
          <p:nvPr>
            <p:ph type="body" sz="quarter" idx="28"/>
          </p:nvPr>
        </p:nvSpPr>
        <p:spPr>
          <a:xfrm>
            <a:off x="15941624" y="6648782"/>
            <a:ext cx="6650252" cy="1836590"/>
          </a:xfrm>
        </p:spPr>
        <p:txBody>
          <a:bodyPr/>
          <a:lstStyle/>
          <a:p>
            <a:r>
              <a:rPr lang="en-US" sz="2400" dirty="0">
                <a:latin typeface="Aptos Mono" panose="020B0009020202020204" pitchFamily="49" charset="0"/>
              </a:rPr>
              <a:t>destination.Length &gt; </a:t>
            </a:r>
            <a:br>
              <a:rPr lang="en-US" sz="2400" dirty="0">
                <a:latin typeface="Aptos Mono" panose="020B0009020202020204" pitchFamily="49" charset="0"/>
              </a:rPr>
            </a:br>
            <a:r>
              <a:rPr lang="en-US" sz="2400" dirty="0">
                <a:latin typeface="Aptos Mono" panose="020B0009020202020204" pitchFamily="49" charset="0"/>
              </a:rPr>
              <a:t>  </a:t>
            </a:r>
            <a:r>
              <a:rPr lang="en-US" sz="2400" dirty="0" err="1">
                <a:latin typeface="Aptos Mono" panose="020B0009020202020204" pitchFamily="49" charset="0"/>
              </a:rPr>
              <a:t>source.Length</a:t>
            </a:r>
            <a:r>
              <a:rPr lang="en-US" sz="2400" dirty="0">
                <a:latin typeface="Aptos Mono" panose="020B0009020202020204" pitchFamily="49" charset="0"/>
              </a:rPr>
              <a:t> * 2</a:t>
            </a:r>
          </a:p>
          <a:p>
            <a:r>
              <a:rPr lang="en-US" sz="2400" dirty="0">
                <a:latin typeface="Poppins" panose="00000500000000000000" pitchFamily="2" charset="0"/>
                <a:cs typeface="Poppins" panose="00000500000000000000" pitchFamily="2" charset="0"/>
              </a:rPr>
              <a:t>change to</a:t>
            </a:r>
          </a:p>
          <a:p>
            <a:r>
              <a:rPr lang="en-US" sz="2400" dirty="0" err="1">
                <a:latin typeface="Aptos Mono" panose="020B0009020202020204" pitchFamily="49" charset="0"/>
              </a:rPr>
              <a:t>destination.Length</a:t>
            </a:r>
            <a:r>
              <a:rPr lang="en-US" sz="2400" dirty="0">
                <a:latin typeface="Aptos Mono" panose="020B0009020202020204" pitchFamily="49" charset="0"/>
              </a:rPr>
              <a:t> &lt; </a:t>
            </a:r>
            <a:br>
              <a:rPr lang="en-US" sz="2400" dirty="0">
                <a:latin typeface="Aptos Mono" panose="020B0009020202020204" pitchFamily="49" charset="0"/>
              </a:rPr>
            </a:br>
            <a:r>
              <a:rPr lang="en-US" sz="2400" dirty="0">
                <a:latin typeface="Aptos Mono" panose="020B0009020202020204" pitchFamily="49" charset="0"/>
              </a:rPr>
              <a:t>  </a:t>
            </a:r>
            <a:r>
              <a:rPr lang="en-US" sz="2400" dirty="0" err="1">
                <a:latin typeface="Aptos Mono" panose="020B0009020202020204" pitchFamily="49" charset="0"/>
              </a:rPr>
              <a:t>source.Length</a:t>
            </a:r>
            <a:r>
              <a:rPr lang="en-US" sz="2400" dirty="0">
                <a:latin typeface="Aptos Mono" panose="020B0009020202020204" pitchFamily="49" charset="0"/>
              </a:rPr>
              <a:t> * 2</a:t>
            </a:r>
          </a:p>
          <a:p>
            <a:endParaRPr lang="en-US" sz="2400" dirty="0">
              <a:latin typeface="Aptos" panose="020B0004020202020204" pitchFamily="34"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https://github.com/dotnet/runtime/pull/109891</a:t>
            </a:r>
            <a:endParaRPr lang="en-US" sz="2000" dirty="0">
              <a:solidFill>
                <a:schemeClr val="tx1"/>
              </a:solidFill>
              <a:latin typeface="Poppins" panose="00000500000000000000" pitchFamily="2" charset="0"/>
              <a:cs typeface="Poppins" panose="00000500000000000000" pitchFamily="2" charset="0"/>
            </a:endParaRPr>
          </a:p>
          <a:p>
            <a:endParaRPr lang="en-US" sz="2000" dirty="0">
              <a:latin typeface="Poppins" panose="00000500000000000000" pitchFamily="2" charset="0"/>
              <a:cs typeface="Poppins" panose="00000500000000000000" pitchFamily="2" charset="0"/>
            </a:endParaRPr>
          </a:p>
        </p:txBody>
      </p:sp>
      <p:pic>
        <p:nvPicPr>
          <p:cNvPr id="5" name="Image 50">
            <a:extLst>
              <a:ext uri="{FF2B5EF4-FFF2-40B4-BE49-F238E27FC236}">
                <a16:creationId xmlns:a16="http://schemas.microsoft.com/office/drawing/2014/main" id="{FD961075-61BE-CDFA-2E76-E682A7AA007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746021D8-D7C9-7B95-370F-48E23B64E3E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65346752-DF7C-F0B9-CD1A-1884DCFE165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436942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E0C80-7301-C61A-5B12-ED80F4B186C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4F627D-903D-DC86-8D0B-B7E831F05081}"/>
              </a:ext>
            </a:extLst>
          </p:cNvPr>
          <p:cNvSpPr>
            <a:spLocks noGrp="1"/>
          </p:cNvSpPr>
          <p:nvPr>
            <p:ph type="title" idx="4294967295"/>
          </p:nvPr>
        </p:nvSpPr>
        <p:spPr>
          <a:xfrm>
            <a:off x="1083508" y="1103244"/>
            <a:ext cx="19604791"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CVE-2024-43498</a:t>
            </a:r>
          </a:p>
        </p:txBody>
      </p:sp>
      <p:sp>
        <p:nvSpPr>
          <p:cNvPr id="3" name="Text Placeholder 2">
            <a:extLst>
              <a:ext uri="{FF2B5EF4-FFF2-40B4-BE49-F238E27FC236}">
                <a16:creationId xmlns:a16="http://schemas.microsoft.com/office/drawing/2014/main" id="{3A145516-1F75-7BEE-EA19-DF2F6C734051}"/>
              </a:ext>
            </a:extLst>
          </p:cNvPr>
          <p:cNvSpPr>
            <a:spLocks noGrp="1"/>
          </p:cNvSpPr>
          <p:nvPr>
            <p:ph type="body" sz="quarter" idx="15"/>
          </p:nvPr>
        </p:nvSpPr>
        <p:spPr>
          <a:xfrm>
            <a:off x="1083509" y="1659835"/>
            <a:ext cx="11983134" cy="635000"/>
          </a:xfrm>
        </p:spPr>
        <p:txBody>
          <a:bodyPr/>
          <a:lstStyle/>
          <a:p>
            <a:r>
              <a:rPr lang="en-US" b="1" dirty="0"/>
              <a:t> .NET Remote Code Execution</a:t>
            </a:r>
          </a:p>
        </p:txBody>
      </p:sp>
      <p:sp>
        <p:nvSpPr>
          <p:cNvPr id="4" name="Text Placeholder 3">
            <a:extLst>
              <a:ext uri="{FF2B5EF4-FFF2-40B4-BE49-F238E27FC236}">
                <a16:creationId xmlns:a16="http://schemas.microsoft.com/office/drawing/2014/main" id="{9BC9DEFF-EF0B-A5F7-60A0-3A8061D18A79}"/>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E2A7DC4E-8586-2DC5-C94E-5D21266FB2F8}"/>
              </a:ext>
            </a:extLst>
          </p:cNvPr>
          <p:cNvSpPr>
            <a:spLocks noGrp="1"/>
          </p:cNvSpPr>
          <p:nvPr>
            <p:ph type="body" sz="quarter" idx="22"/>
          </p:nvPr>
        </p:nvSpPr>
        <p:spPr>
          <a:xfrm>
            <a:off x="1070063" y="6648782"/>
            <a:ext cx="6650252" cy="1836590"/>
          </a:xfrm>
        </p:spPr>
        <p:txBody>
          <a:bodyPr/>
          <a:lstStyle/>
          <a:p>
            <a:r>
              <a:rPr lang="en-US" sz="2400" dirty="0">
                <a:latin typeface="Poppins" panose="00000500000000000000" pitchFamily="2" charset="0"/>
                <a:cs typeface="Poppins" panose="00000500000000000000" pitchFamily="2" charset="0"/>
              </a:rPr>
              <a:t>A remote unauthenticated attacker could exploit this vulnerability by sending specially crafted requests to a .NET vulnerable webapp or loading a specially crafted file into a vulnerable application.</a:t>
            </a:r>
          </a:p>
          <a:p>
            <a:endParaRPr lang="en-US" sz="2200" dirty="0">
              <a:latin typeface="Aptos" panose="020B0004020202020204" pitchFamily="34" charset="0"/>
            </a:endParaRPr>
          </a:p>
        </p:txBody>
      </p:sp>
      <p:sp>
        <p:nvSpPr>
          <p:cNvPr id="7" name="Text Placeholder 6">
            <a:extLst>
              <a:ext uri="{FF2B5EF4-FFF2-40B4-BE49-F238E27FC236}">
                <a16:creationId xmlns:a16="http://schemas.microsoft.com/office/drawing/2014/main" id="{C32E1612-598D-0A7C-4C67-6BEFE02FE0FF}"/>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A8757D7F-F906-798D-8E1D-2837D44ED333}"/>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Type confusion in the “safe” .NET Remoting Binary Format reader could cause an access violation.</a:t>
            </a:r>
          </a:p>
          <a:p>
            <a:r>
              <a:rPr lang="en-US" sz="2400" dirty="0">
                <a:latin typeface="Poppins" panose="00000500000000000000" pitchFamily="2" charset="0"/>
                <a:cs typeface="Poppins" panose="00000500000000000000" pitchFamily="2" charset="0"/>
              </a:rPr>
              <a:t>Access violations are when code tries to access memory it should not have access to.</a:t>
            </a:r>
          </a:p>
          <a:p>
            <a:r>
              <a:rPr lang="en-US" sz="2400" dirty="0">
                <a:latin typeface="Poppins" panose="00000500000000000000" pitchFamily="2" charset="0"/>
                <a:cs typeface="Poppins" panose="00000500000000000000" pitchFamily="2" charset="0"/>
              </a:rPr>
              <a:t>The worst-case scenario is that it the NBRF reader accesses and then executes code in a memory space an attacker controls, which means RCE.</a:t>
            </a:r>
          </a:p>
        </p:txBody>
      </p:sp>
      <p:sp>
        <p:nvSpPr>
          <p:cNvPr id="10" name="Text Placeholder 9">
            <a:extLst>
              <a:ext uri="{FF2B5EF4-FFF2-40B4-BE49-F238E27FC236}">
                <a16:creationId xmlns:a16="http://schemas.microsoft.com/office/drawing/2014/main" id="{B3EFE20C-6A2F-8D66-86C7-42E0770D7F1D}"/>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5B3CF0F4-A74E-FF11-8690-3A76488128E5}"/>
              </a:ext>
            </a:extLst>
          </p:cNvPr>
          <p:cNvSpPr>
            <a:spLocks noGrp="1"/>
          </p:cNvSpPr>
          <p:nvPr>
            <p:ph type="body" sz="quarter" idx="28"/>
          </p:nvPr>
        </p:nvSpPr>
        <p:spPr>
          <a:xfrm>
            <a:off x="15941624" y="6648781"/>
            <a:ext cx="6650252" cy="2576861"/>
          </a:xfrm>
        </p:spPr>
        <p:txBody>
          <a:bodyPr/>
          <a:lstStyle/>
          <a:p>
            <a:r>
              <a:rPr lang="en-US" sz="2400" dirty="0">
                <a:solidFill>
                  <a:schemeClr val="tx1"/>
                </a:solidFill>
                <a:latin typeface="Poppins" panose="00000500000000000000" pitchFamily="2" charset="0"/>
                <a:cs typeface="Poppins" panose="00000500000000000000" pitchFamily="2" charset="0"/>
              </a:rPr>
              <a:t>For a multi-dimensional array of </a:t>
            </a:r>
            <a:r>
              <a:rPr lang="en-US" sz="2400" dirty="0" err="1">
                <a:solidFill>
                  <a:schemeClr val="tx1"/>
                </a:solidFill>
                <a:latin typeface="Aptos Mono" panose="020B0009020202020204" pitchFamily="49" charset="0"/>
              </a:rPr>
              <a:t>IEnumerable</a:t>
            </a:r>
            <a:r>
              <a:rPr lang="en-US" sz="2400" dirty="0">
                <a:solidFill>
                  <a:schemeClr val="tx1"/>
                </a:solidFill>
                <a:latin typeface="Aptos" panose="020B0004020202020204" pitchFamily="34" charset="0"/>
              </a:rPr>
              <a:t> </a:t>
            </a:r>
            <a:r>
              <a:rPr lang="en-US" sz="2400" dirty="0">
                <a:solidFill>
                  <a:schemeClr val="tx1"/>
                </a:solidFill>
                <a:latin typeface="Poppins" panose="00000500000000000000" pitchFamily="2" charset="0"/>
                <a:cs typeface="Poppins" panose="00000500000000000000" pitchFamily="2" charset="0"/>
              </a:rPr>
              <a:t>there was an expectation of a specific record type, </a:t>
            </a:r>
            <a:r>
              <a:rPr lang="en-US" sz="2400" dirty="0" err="1">
                <a:solidFill>
                  <a:schemeClr val="tx1"/>
                </a:solidFill>
                <a:latin typeface="Aptos Mono" panose="020B0009020202020204" pitchFamily="49" charset="0"/>
              </a:rPr>
              <a:t>ClassRecord</a:t>
            </a:r>
            <a:r>
              <a:rPr lang="en-US" sz="2400" dirty="0">
                <a:solidFill>
                  <a:schemeClr val="tx1"/>
                </a:solidFill>
                <a:latin typeface="Poppins" panose="00000500000000000000" pitchFamily="2" charset="0"/>
                <a:cs typeface="Poppins" panose="00000500000000000000" pitchFamily="2" charset="0"/>
              </a:rPr>
              <a:t>, but as string implements </a:t>
            </a:r>
            <a:r>
              <a:rPr lang="en-US" sz="2400" dirty="0" err="1">
                <a:solidFill>
                  <a:schemeClr val="tx1"/>
                </a:solidFill>
                <a:latin typeface="Poppins" panose="00000500000000000000" pitchFamily="2" charset="0"/>
                <a:cs typeface="Poppins" panose="00000500000000000000" pitchFamily="2" charset="0"/>
              </a:rPr>
              <a:t>IEnumerable</a:t>
            </a:r>
            <a:r>
              <a:rPr lang="en-US" sz="2400" dirty="0">
                <a:solidFill>
                  <a:schemeClr val="tx1"/>
                </a:solidFill>
                <a:latin typeface="Poppins" panose="00000500000000000000" pitchFamily="2" charset="0"/>
                <a:cs typeface="Poppins" panose="00000500000000000000" pitchFamily="2" charset="0"/>
              </a:rPr>
              <a:t> the array could contain a </a:t>
            </a:r>
            <a:r>
              <a:rPr lang="en-US" sz="2400" dirty="0" err="1">
                <a:solidFill>
                  <a:schemeClr val="tx1"/>
                </a:solidFill>
                <a:latin typeface="Aptos Mono" panose="020B0009020202020204" pitchFamily="49" charset="0"/>
              </a:rPr>
              <a:t>StringRecord</a:t>
            </a:r>
            <a:r>
              <a:rPr lang="en-US" sz="2400" dirty="0">
                <a:solidFill>
                  <a:schemeClr val="tx1"/>
                </a:solidFill>
                <a:latin typeface="Poppins" panose="00000500000000000000" pitchFamily="2" charset="0"/>
                <a:cs typeface="Poppins" panose="00000500000000000000" pitchFamily="2" charset="0"/>
              </a:rPr>
              <a:t>. Remove the assumption and added extra type checks.</a:t>
            </a:r>
          </a:p>
          <a:p>
            <a:endParaRPr lang="en-US" sz="2400" dirty="0">
              <a:solidFill>
                <a:schemeClr val="tx1"/>
              </a:solidFill>
              <a:latin typeface="Aptos" panose="020B0004020202020204" pitchFamily="34"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https://github.com/dotnet/runtime/pull/110194</a:t>
            </a:r>
            <a:endParaRPr lang="en-US" sz="2000" dirty="0">
              <a:latin typeface="Poppins" panose="00000500000000000000" pitchFamily="2" charset="0"/>
              <a:cs typeface="Poppins" panose="00000500000000000000" pitchFamily="2" charset="0"/>
            </a:endParaRPr>
          </a:p>
          <a:p>
            <a:endParaRPr lang="en-US" sz="2200" dirty="0">
              <a:latin typeface="Aptos" panose="020B0004020202020204" pitchFamily="34" charset="0"/>
            </a:endParaRPr>
          </a:p>
        </p:txBody>
      </p:sp>
      <p:pic>
        <p:nvPicPr>
          <p:cNvPr id="5" name="Image 50">
            <a:extLst>
              <a:ext uri="{FF2B5EF4-FFF2-40B4-BE49-F238E27FC236}">
                <a16:creationId xmlns:a16="http://schemas.microsoft.com/office/drawing/2014/main" id="{BA048C79-7196-AAF9-4E38-34FDE5D813E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0A99EF88-645B-722D-18D0-064418D3B0D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FD7C491F-DA9C-0D54-14AC-014B5FF1E7B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221471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02F1-D82B-E984-9248-8CC8114DFC9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53BBC06-100D-13DE-676A-4F11029B3E4B}"/>
              </a:ext>
            </a:extLst>
          </p:cNvPr>
          <p:cNvSpPr>
            <a:spLocks noGrp="1"/>
          </p:cNvSpPr>
          <p:nvPr>
            <p:ph type="title" idx="4294967295"/>
          </p:nvPr>
        </p:nvSpPr>
        <p:spPr>
          <a:xfrm>
            <a:off x="1083508" y="1103244"/>
            <a:ext cx="19604791"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CVE-2024-43499</a:t>
            </a:r>
          </a:p>
        </p:txBody>
      </p:sp>
      <p:sp>
        <p:nvSpPr>
          <p:cNvPr id="3" name="Text Placeholder 2">
            <a:extLst>
              <a:ext uri="{FF2B5EF4-FFF2-40B4-BE49-F238E27FC236}">
                <a16:creationId xmlns:a16="http://schemas.microsoft.com/office/drawing/2014/main" id="{CD466617-A03E-523C-FBC9-F70DBBF54E29}"/>
              </a:ext>
            </a:extLst>
          </p:cNvPr>
          <p:cNvSpPr>
            <a:spLocks noGrp="1"/>
          </p:cNvSpPr>
          <p:nvPr>
            <p:ph type="body" sz="quarter" idx="15"/>
          </p:nvPr>
        </p:nvSpPr>
        <p:spPr>
          <a:xfrm>
            <a:off x="1083509" y="1659835"/>
            <a:ext cx="11983134" cy="635000"/>
          </a:xfrm>
        </p:spPr>
        <p:txBody>
          <a:bodyPr/>
          <a:lstStyle/>
          <a:p>
            <a:r>
              <a:rPr lang="en-US" b="1" dirty="0"/>
              <a:t> .NET Denial of Service</a:t>
            </a:r>
          </a:p>
        </p:txBody>
      </p:sp>
      <p:sp>
        <p:nvSpPr>
          <p:cNvPr id="4" name="Text Placeholder 3">
            <a:extLst>
              <a:ext uri="{FF2B5EF4-FFF2-40B4-BE49-F238E27FC236}">
                <a16:creationId xmlns:a16="http://schemas.microsoft.com/office/drawing/2014/main" id="{7B914EEC-8672-0206-ABCD-B6A9F73CA086}"/>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15E0E8F2-D325-2104-FD8C-8572F3FB3CCD}"/>
              </a:ext>
            </a:extLst>
          </p:cNvPr>
          <p:cNvSpPr>
            <a:spLocks noGrp="1"/>
          </p:cNvSpPr>
          <p:nvPr>
            <p:ph type="body" sz="quarter" idx="22"/>
          </p:nvPr>
        </p:nvSpPr>
        <p:spPr>
          <a:xfrm>
            <a:off x="1070063" y="6616124"/>
            <a:ext cx="6650252" cy="1836590"/>
          </a:xfrm>
        </p:spPr>
        <p:txBody>
          <a:bodyPr/>
          <a:lstStyle/>
          <a:p>
            <a:r>
              <a:rPr lang="en-US" sz="2400" dirty="0">
                <a:latin typeface="Poppins" panose="00000500000000000000" pitchFamily="2" charset="0"/>
                <a:cs typeface="Poppins" panose="00000500000000000000" pitchFamily="2" charset="0"/>
              </a:rPr>
              <a:t>The </a:t>
            </a:r>
            <a:r>
              <a:rPr lang="en-US" sz="2400" dirty="0" err="1">
                <a:latin typeface="Poppins" panose="00000500000000000000" pitchFamily="2" charset="0"/>
                <a:cs typeface="Poppins" panose="00000500000000000000" pitchFamily="2" charset="0"/>
              </a:rPr>
              <a:t>NrbfDecoder</a:t>
            </a:r>
            <a:r>
              <a:rPr lang="en-US" sz="2400" dirty="0">
                <a:latin typeface="Poppins" panose="00000500000000000000" pitchFamily="2" charset="0"/>
                <a:cs typeface="Poppins" panose="00000500000000000000" pitchFamily="2" charset="0"/>
              </a:rPr>
              <a:t> component in .NET 9 contains a denial-of-service vulnerability due to incorrect input validation.</a:t>
            </a:r>
          </a:p>
        </p:txBody>
      </p:sp>
      <p:sp>
        <p:nvSpPr>
          <p:cNvPr id="7" name="Text Placeholder 6">
            <a:extLst>
              <a:ext uri="{FF2B5EF4-FFF2-40B4-BE49-F238E27FC236}">
                <a16:creationId xmlns:a16="http://schemas.microsoft.com/office/drawing/2014/main" id="{67EC3E14-B0BC-42B1-710D-A98090971DFC}"/>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359B124A-55E8-8885-61A5-9C89519B19D7}"/>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An NRBF “document” containing a small jagged array would allocate a large amount of memory (a 90-byte payload would allocate 50Gb).</a:t>
            </a:r>
          </a:p>
          <a:p>
            <a:endParaRPr lang="en-US" sz="2400" dirty="0">
              <a:latin typeface="Poppins" panose="00000500000000000000" pitchFamily="2" charset="0"/>
              <a:cs typeface="Poppins" panose="00000500000000000000" pitchFamily="2" charset="0"/>
            </a:endParaRPr>
          </a:p>
          <a:p>
            <a:r>
              <a:rPr lang="en-US" sz="2400" dirty="0">
                <a:latin typeface="Poppins" panose="00000500000000000000" pitchFamily="2" charset="0"/>
                <a:cs typeface="Poppins" panose="00000500000000000000" pitchFamily="2" charset="0"/>
              </a:rPr>
              <a:t>Obviously, this is a denial of service.</a:t>
            </a:r>
          </a:p>
        </p:txBody>
      </p:sp>
      <p:sp>
        <p:nvSpPr>
          <p:cNvPr id="10" name="Text Placeholder 9">
            <a:extLst>
              <a:ext uri="{FF2B5EF4-FFF2-40B4-BE49-F238E27FC236}">
                <a16:creationId xmlns:a16="http://schemas.microsoft.com/office/drawing/2014/main" id="{AEDF9B13-7B17-39BA-2A71-23F0FC0C3548}"/>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37470E01-6C9F-0858-E27F-CC0332396962}"/>
              </a:ext>
            </a:extLst>
          </p:cNvPr>
          <p:cNvSpPr>
            <a:spLocks noGrp="1"/>
          </p:cNvSpPr>
          <p:nvPr>
            <p:ph type="body" sz="quarter" idx="28"/>
          </p:nvPr>
        </p:nvSpPr>
        <p:spPr>
          <a:xfrm>
            <a:off x="15941624" y="6648781"/>
            <a:ext cx="6650252" cy="2576861"/>
          </a:xfrm>
        </p:spPr>
        <p:txBody>
          <a:bodyPr/>
          <a:lstStyle/>
          <a:p>
            <a:r>
              <a:rPr lang="en-US" sz="2400" dirty="0">
                <a:latin typeface="Poppins" panose="00000500000000000000" pitchFamily="2" charset="0"/>
                <a:cs typeface="Poppins" panose="00000500000000000000" pitchFamily="2" charset="0"/>
              </a:rPr>
              <a:t>Rewrite jagged array handling.</a:t>
            </a:r>
          </a:p>
          <a:p>
            <a:endParaRPr lang="en-US" sz="2400" dirty="0">
              <a:latin typeface="Poppins" panose="00000500000000000000" pitchFamily="2" charset="0"/>
              <a:cs typeface="Poppins" panose="00000500000000000000" pitchFamily="2"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https://github.com/dotnet/runtime/pull/110194</a:t>
            </a:r>
            <a:endParaRPr lang="en-US" sz="2000" dirty="0">
              <a:solidFill>
                <a:schemeClr val="tx1"/>
              </a:solidFill>
              <a:latin typeface="Poppins" panose="00000500000000000000" pitchFamily="2" charset="0"/>
              <a:cs typeface="Poppins" panose="00000500000000000000" pitchFamily="2" charset="0"/>
            </a:endParaRPr>
          </a:p>
          <a:p>
            <a:endParaRPr lang="en-US" sz="2200" dirty="0">
              <a:latin typeface="Aptos" panose="020B0004020202020204" pitchFamily="34" charset="0"/>
            </a:endParaRPr>
          </a:p>
        </p:txBody>
      </p:sp>
      <p:pic>
        <p:nvPicPr>
          <p:cNvPr id="5" name="Image 50">
            <a:extLst>
              <a:ext uri="{FF2B5EF4-FFF2-40B4-BE49-F238E27FC236}">
                <a16:creationId xmlns:a16="http://schemas.microsoft.com/office/drawing/2014/main" id="{DC3A40E1-5E38-86D6-BEEB-453B0E01F56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59CA5861-9491-13AD-47CD-B5DB4DC8D1A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E27743BF-9D63-BB0D-C1B0-9B4A567709B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1824660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4A862-2624-4C79-2269-289C751DCF1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D1E7AF3-2DD2-9B7F-B093-C2FED13AA97C}"/>
              </a:ext>
              <a:ext uri="{C183D7F6-B498-43B3-948B-1728B52AA6E4}">
                <adec:decorative xmlns:adec="http://schemas.microsoft.com/office/drawing/2017/decorative" val="0"/>
              </a:ext>
            </a:extLst>
          </p:cNvPr>
          <p:cNvSpPr>
            <a:spLocks noGrp="1"/>
          </p:cNvSpPr>
          <p:nvPr>
            <p:ph type="body" sz="quarter" idx="19"/>
          </p:nvPr>
        </p:nvSpPr>
        <p:spPr/>
        <p:txBody>
          <a:bodyPr/>
          <a:lstStyle/>
          <a:p>
            <a:pPr algn="r"/>
            <a:r>
              <a:rPr lang="en-US" b="1" dirty="0">
                <a:solidFill>
                  <a:schemeClr val="accent5">
                    <a:lumMod val="50000"/>
                  </a:schemeClr>
                </a:solidFill>
              </a:rPr>
              <a:t>4</a:t>
            </a:r>
          </a:p>
        </p:txBody>
      </p:sp>
      <p:sp>
        <p:nvSpPr>
          <p:cNvPr id="2" name="Text Placeholder 1">
            <a:extLst>
              <a:ext uri="{FF2B5EF4-FFF2-40B4-BE49-F238E27FC236}">
                <a16:creationId xmlns:a16="http://schemas.microsoft.com/office/drawing/2014/main" id="{F7246527-393B-7983-2AD6-FBF4CAC4DBD9}"/>
              </a:ext>
            </a:extLst>
          </p:cNvPr>
          <p:cNvSpPr>
            <a:spLocks noGrp="1"/>
          </p:cNvSpPr>
          <p:nvPr>
            <p:ph type="title" idx="4294967295"/>
          </p:nvPr>
        </p:nvSpPr>
        <p:spPr>
          <a:xfrm>
            <a:off x="2757376" y="6096225"/>
            <a:ext cx="14987285" cy="128931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0800"/>
              </a:lnSpc>
              <a:spcBef>
                <a:spcPct val="20000"/>
              </a:spcBef>
              <a:spcAft>
                <a:spcPts val="0"/>
              </a:spcAft>
              <a:buClrTx/>
              <a:buSzTx/>
              <a:buFont typeface="Arial" pitchFamily="34" charset="0"/>
              <a:buNone/>
              <a:tabLst/>
              <a:defRPr/>
            </a:pPr>
            <a:r>
              <a:rPr kumimoji="0" lang="en-US" sz="10000" b="1" i="0" u="none" strike="noStrike" kern="0" cap="none" spc="-120" normalizeH="0" baseline="0" noProof="0" dirty="0">
                <a:ln>
                  <a:noFill/>
                </a:ln>
                <a:solidFill>
                  <a:schemeClr val="accent5">
                    <a:lumMod val="50000"/>
                  </a:schemeClr>
                </a:solidFill>
                <a:effectLst/>
                <a:uLnTx/>
                <a:uFillTx/>
                <a:latin typeface="Poppins" pitchFamily="2" charset="77"/>
                <a:ea typeface="Poppins" pitchFamily="2" charset="77"/>
                <a:cs typeface="Poppins" pitchFamily="2" charset="77"/>
              </a:rPr>
              <a:t>The year in ASP.NET Core CVEs</a:t>
            </a:r>
          </a:p>
        </p:txBody>
      </p:sp>
    </p:spTree>
    <p:extLst>
      <p:ext uri="{BB962C8B-B14F-4D97-AF65-F5344CB8AC3E}">
        <p14:creationId xmlns:p14="http://schemas.microsoft.com/office/powerpoint/2010/main" val="3872376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1C651-F437-1522-1D13-4C9BF25AC3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139D05B-8084-0319-8CA6-3265E0E26AEE}"/>
              </a:ext>
            </a:extLst>
          </p:cNvPr>
          <p:cNvSpPr>
            <a:spLocks noGrp="1"/>
          </p:cNvSpPr>
          <p:nvPr>
            <p:ph type="title" idx="4294967295"/>
          </p:nvPr>
        </p:nvSpPr>
        <p:spPr>
          <a:xfrm>
            <a:off x="1083508" y="1103244"/>
            <a:ext cx="19604791"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CVE-2025-24070</a:t>
            </a:r>
          </a:p>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endPar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endParaRPr>
          </a:p>
        </p:txBody>
      </p:sp>
      <p:sp>
        <p:nvSpPr>
          <p:cNvPr id="3" name="Text Placeholder 2">
            <a:extLst>
              <a:ext uri="{FF2B5EF4-FFF2-40B4-BE49-F238E27FC236}">
                <a16:creationId xmlns:a16="http://schemas.microsoft.com/office/drawing/2014/main" id="{7E00F585-E737-3D54-EF9B-75E160B4A401}"/>
              </a:ext>
            </a:extLst>
          </p:cNvPr>
          <p:cNvSpPr>
            <a:spLocks noGrp="1"/>
          </p:cNvSpPr>
          <p:nvPr>
            <p:ph type="body" sz="quarter" idx="15"/>
          </p:nvPr>
        </p:nvSpPr>
        <p:spPr>
          <a:xfrm>
            <a:off x="1083509" y="1659835"/>
            <a:ext cx="11983134" cy="635000"/>
          </a:xfrm>
        </p:spPr>
        <p:txBody>
          <a:bodyPr/>
          <a:lstStyle/>
          <a:p>
            <a:r>
              <a:rPr lang="en-US" b="1" dirty="0"/>
              <a:t>Elevation of Privilege in ASP.NET Core</a:t>
            </a:r>
          </a:p>
        </p:txBody>
      </p:sp>
      <p:sp>
        <p:nvSpPr>
          <p:cNvPr id="4" name="Text Placeholder 3">
            <a:extLst>
              <a:ext uri="{FF2B5EF4-FFF2-40B4-BE49-F238E27FC236}">
                <a16:creationId xmlns:a16="http://schemas.microsoft.com/office/drawing/2014/main" id="{37F34446-DB51-A605-AA65-E5F35029C663}"/>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8A5EB672-589F-6044-B9E2-432F1B6B1954}"/>
              </a:ext>
            </a:extLst>
          </p:cNvPr>
          <p:cNvSpPr>
            <a:spLocks noGrp="1"/>
          </p:cNvSpPr>
          <p:nvPr>
            <p:ph type="body" sz="quarter" idx="22"/>
          </p:nvPr>
        </p:nvSpPr>
        <p:spPr>
          <a:xfrm>
            <a:off x="1070063" y="6616124"/>
            <a:ext cx="6650252" cy="1836590"/>
          </a:xfrm>
        </p:spPr>
        <p:txBody>
          <a:bodyPr/>
          <a:lstStyle/>
          <a:p>
            <a:r>
              <a:rPr lang="en-US" dirty="0"/>
              <a:t>A vulnerability exists in ASP.NET Core applications calling RefreshSignInAsync with an improperly authenticated user parameter that could allow an attacker to sign into another user's account, resulting in Elevation of Privilege.</a:t>
            </a:r>
            <a:endParaRPr lang="en-US" sz="2400" dirty="0">
              <a:latin typeface="Poppins" panose="00000500000000000000" pitchFamily="2" charset="0"/>
              <a:cs typeface="Poppins" panose="00000500000000000000" pitchFamily="2" charset="0"/>
            </a:endParaRPr>
          </a:p>
        </p:txBody>
      </p:sp>
      <p:sp>
        <p:nvSpPr>
          <p:cNvPr id="7" name="Text Placeholder 6">
            <a:extLst>
              <a:ext uri="{FF2B5EF4-FFF2-40B4-BE49-F238E27FC236}">
                <a16:creationId xmlns:a16="http://schemas.microsoft.com/office/drawing/2014/main" id="{C1A9DCED-E5BC-6687-8251-D3BE7BFF235D}"/>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0C4AC041-5658-47D9-0628-849799FD40B0}"/>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The email change confirmation treated the user id in the change confirmation link as trusted and signed the user in.</a:t>
            </a:r>
          </a:p>
          <a:p>
            <a:r>
              <a:rPr lang="en-US" sz="2400" dirty="0">
                <a:latin typeface="Poppins" panose="00000500000000000000" pitchFamily="2" charset="0"/>
                <a:cs typeface="Poppins" panose="00000500000000000000" pitchFamily="2" charset="0"/>
              </a:rPr>
              <a:t>This meant if someone got hold of an email change confirmation link and used it before the intended user they were authenticated as the user, elevating their privilege from anonymous to authenticated.</a:t>
            </a:r>
          </a:p>
        </p:txBody>
      </p:sp>
      <p:sp>
        <p:nvSpPr>
          <p:cNvPr id="10" name="Text Placeholder 9">
            <a:extLst>
              <a:ext uri="{FF2B5EF4-FFF2-40B4-BE49-F238E27FC236}">
                <a16:creationId xmlns:a16="http://schemas.microsoft.com/office/drawing/2014/main" id="{B07EE31A-B3F9-281B-C181-12E81A4F2355}"/>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31F48189-DDBC-2E0D-7409-F05DAF40FBAE}"/>
              </a:ext>
            </a:extLst>
          </p:cNvPr>
          <p:cNvSpPr>
            <a:spLocks noGrp="1"/>
          </p:cNvSpPr>
          <p:nvPr>
            <p:ph type="body" sz="quarter" idx="28"/>
          </p:nvPr>
        </p:nvSpPr>
        <p:spPr>
          <a:xfrm>
            <a:off x="15941624" y="6648781"/>
            <a:ext cx="6650252" cy="2576861"/>
          </a:xfrm>
        </p:spPr>
        <p:txBody>
          <a:bodyPr/>
          <a:lstStyle/>
          <a:p>
            <a:r>
              <a:rPr lang="en-US" sz="2400" dirty="0">
                <a:solidFill>
                  <a:schemeClr val="tx1"/>
                </a:solidFill>
                <a:latin typeface="Poppins" panose="00000500000000000000" pitchFamily="2" charset="0"/>
                <a:cs typeface="Poppins" panose="00000500000000000000" pitchFamily="2" charset="0"/>
              </a:rPr>
              <a:t>Change how </a:t>
            </a:r>
            <a:r>
              <a:rPr lang="en-US" sz="2400" dirty="0" err="1">
                <a:solidFill>
                  <a:schemeClr val="tx1"/>
                </a:solidFill>
                <a:latin typeface="Aptos Mono" panose="020B0009020202020204" pitchFamily="49" charset="0"/>
                <a:cs typeface="Poppins" panose="00000500000000000000" pitchFamily="2" charset="0"/>
              </a:rPr>
              <a:t>RefreshSignInAsync</a:t>
            </a:r>
            <a:r>
              <a:rPr lang="en-US" sz="2400" dirty="0">
                <a:solidFill>
                  <a:schemeClr val="tx1"/>
                </a:solidFill>
                <a:latin typeface="Aptos Mono" panose="020B0009020202020204" pitchFamily="49" charset="0"/>
                <a:cs typeface="Poppins" panose="00000500000000000000" pitchFamily="2" charset="0"/>
              </a:rPr>
              <a:t>()</a:t>
            </a:r>
            <a:r>
              <a:rPr lang="en-US" sz="2400" dirty="0">
                <a:solidFill>
                  <a:schemeClr val="tx1"/>
                </a:solidFill>
                <a:latin typeface="Poppins" panose="00000500000000000000" pitchFamily="2" charset="0"/>
                <a:cs typeface="Poppins" panose="00000500000000000000" pitchFamily="2" charset="0"/>
              </a:rPr>
              <a:t> was used in the </a:t>
            </a:r>
            <a:r>
              <a:rPr lang="en-US" sz="2400" dirty="0" err="1">
                <a:solidFill>
                  <a:schemeClr val="tx1"/>
                </a:solidFill>
                <a:latin typeface="Aptos Mono" panose="020B0009020202020204" pitchFamily="49" charset="0"/>
                <a:cs typeface="Poppins" panose="00000500000000000000" pitchFamily="2" charset="0"/>
              </a:rPr>
              <a:t>ConfirmEmailChange</a:t>
            </a:r>
            <a:r>
              <a:rPr lang="en-US" sz="2400" dirty="0">
                <a:solidFill>
                  <a:schemeClr val="tx1"/>
                </a:solidFill>
                <a:latin typeface="Poppins" panose="00000500000000000000" pitchFamily="2" charset="0"/>
                <a:cs typeface="Poppins" panose="00000500000000000000" pitchFamily="2" charset="0"/>
              </a:rPr>
              <a:t> pages to use the current logged in user, rather than the user specified in the link Uri.</a:t>
            </a:r>
          </a:p>
          <a:p>
            <a:endParaRPr lang="en-US" sz="2000" dirty="0">
              <a:solidFill>
                <a:schemeClr val="tx1"/>
              </a:solidFill>
              <a:latin typeface="Poppins" panose="00000500000000000000" pitchFamily="2" charset="0"/>
              <a:cs typeface="Poppins" panose="00000500000000000000" pitchFamily="2"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https://github.com/dotnet/aspnetcore/pull/60881</a:t>
            </a:r>
            <a:r>
              <a:rPr lang="en-US" sz="2000" dirty="0">
                <a:solidFill>
                  <a:schemeClr val="tx1"/>
                </a:solidFill>
                <a:latin typeface="Poppins" panose="00000500000000000000" pitchFamily="2" charset="0"/>
                <a:cs typeface="Poppins" panose="00000500000000000000" pitchFamily="2" charset="0"/>
              </a:rPr>
              <a:t> </a:t>
            </a:r>
          </a:p>
          <a:p>
            <a:endParaRPr lang="en-US" sz="2200" dirty="0">
              <a:latin typeface="Aptos" panose="020B0004020202020204" pitchFamily="34" charset="0"/>
            </a:endParaRPr>
          </a:p>
        </p:txBody>
      </p:sp>
      <p:pic>
        <p:nvPicPr>
          <p:cNvPr id="5" name="Image 50">
            <a:extLst>
              <a:ext uri="{FF2B5EF4-FFF2-40B4-BE49-F238E27FC236}">
                <a16:creationId xmlns:a16="http://schemas.microsoft.com/office/drawing/2014/main" id="{0A9A8D8E-749B-B477-0C57-ABCB9EAB50F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0F6ADC69-9F91-75AB-588B-427054BE590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31842FE0-57AF-111C-5A9A-DCE5761036C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3242456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05F0-E12F-2A4C-D62E-7507C57E3AA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6E5112-B484-4096-892B-2E49D442E6E2}"/>
              </a:ext>
            </a:extLst>
          </p:cNvPr>
          <p:cNvSpPr>
            <a:spLocks noGrp="1"/>
          </p:cNvSpPr>
          <p:nvPr>
            <p:ph type="title" idx="4294967295"/>
          </p:nvPr>
        </p:nvSpPr>
        <p:spPr>
          <a:xfrm>
            <a:off x="1083508" y="1103244"/>
            <a:ext cx="19604791"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rPr>
              <a:t>CVE-2025-26682</a:t>
            </a:r>
          </a:p>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endParaRPr kumimoji="0" lang="en-US" sz="3600" b="0" i="0" u="none" strike="noStrike" kern="0" cap="none" spc="-72" normalizeH="0" baseline="0" noProof="0" dirty="0">
              <a:ln>
                <a:noFill/>
              </a:ln>
              <a:solidFill>
                <a:schemeClr val="bg2">
                  <a:lumMod val="75000"/>
                </a:schemeClr>
              </a:solidFill>
              <a:effectLst/>
              <a:uLnTx/>
              <a:uFillTx/>
              <a:latin typeface="Poppins" pitchFamily="2" charset="77"/>
              <a:ea typeface="Poppins" pitchFamily="2" charset="77"/>
              <a:cs typeface="Poppins" pitchFamily="2" charset="77"/>
            </a:endParaRPr>
          </a:p>
        </p:txBody>
      </p:sp>
      <p:sp>
        <p:nvSpPr>
          <p:cNvPr id="3" name="Text Placeholder 2">
            <a:extLst>
              <a:ext uri="{FF2B5EF4-FFF2-40B4-BE49-F238E27FC236}">
                <a16:creationId xmlns:a16="http://schemas.microsoft.com/office/drawing/2014/main" id="{7BF5E50D-BF3F-52EF-0CA9-C7433A66B079}"/>
              </a:ext>
            </a:extLst>
          </p:cNvPr>
          <p:cNvSpPr>
            <a:spLocks noGrp="1"/>
          </p:cNvSpPr>
          <p:nvPr>
            <p:ph type="body" sz="quarter" idx="15"/>
          </p:nvPr>
        </p:nvSpPr>
        <p:spPr>
          <a:xfrm>
            <a:off x="1083509" y="1659835"/>
            <a:ext cx="11983134" cy="635000"/>
          </a:xfrm>
        </p:spPr>
        <p:txBody>
          <a:bodyPr/>
          <a:lstStyle/>
          <a:p>
            <a:r>
              <a:rPr lang="en-US" b="1" dirty="0"/>
              <a:t>Denial-of-Service in ASP.NET Core</a:t>
            </a:r>
          </a:p>
        </p:txBody>
      </p:sp>
      <p:sp>
        <p:nvSpPr>
          <p:cNvPr id="4" name="Text Placeholder 3">
            <a:extLst>
              <a:ext uri="{FF2B5EF4-FFF2-40B4-BE49-F238E27FC236}">
                <a16:creationId xmlns:a16="http://schemas.microsoft.com/office/drawing/2014/main" id="{14ED8751-1890-5647-2DF7-A32C8CE3EC1B}"/>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87B22AC2-10EC-C0F9-6FF2-1E279FF0698D}"/>
              </a:ext>
            </a:extLst>
          </p:cNvPr>
          <p:cNvSpPr>
            <a:spLocks noGrp="1"/>
          </p:cNvSpPr>
          <p:nvPr>
            <p:ph type="body" sz="quarter" idx="22"/>
          </p:nvPr>
        </p:nvSpPr>
        <p:spPr>
          <a:xfrm>
            <a:off x="1070063" y="6616124"/>
            <a:ext cx="6650252" cy="1836590"/>
          </a:xfrm>
        </p:spPr>
        <p:txBody>
          <a:bodyPr/>
          <a:lstStyle/>
          <a:p>
            <a:r>
              <a:rPr lang="en-US" sz="2400" dirty="0">
                <a:latin typeface="Poppins" panose="00000500000000000000" pitchFamily="2" charset="0"/>
                <a:cs typeface="Poppins" panose="00000500000000000000" pitchFamily="2" charset="0"/>
              </a:rPr>
              <a:t>A vulnerability exists in ASP.NET Core when using HTTP/3 improperly may result in a Denial of Service by allocation of resources without limits or throttling.</a:t>
            </a:r>
          </a:p>
        </p:txBody>
      </p:sp>
      <p:sp>
        <p:nvSpPr>
          <p:cNvPr id="7" name="Text Placeholder 6">
            <a:extLst>
              <a:ext uri="{FF2B5EF4-FFF2-40B4-BE49-F238E27FC236}">
                <a16:creationId xmlns:a16="http://schemas.microsoft.com/office/drawing/2014/main" id="{A40A6E49-E33D-5D11-D019-2E50BF117E8B}"/>
              </a:ext>
            </a:extLst>
          </p:cNvPr>
          <p:cNvSpPr>
            <a:spLocks noGrp="1"/>
          </p:cNvSpPr>
          <p:nvPr>
            <p:ph type="body" sz="quarter" idx="23"/>
          </p:nvPr>
        </p:nvSpPr>
        <p:spPr/>
        <p:txBody>
          <a:bodyPr/>
          <a:lstStyle/>
          <a:p>
            <a:r>
              <a:rPr lang="en-US" dirty="0"/>
              <a:t>Bug</a:t>
            </a:r>
          </a:p>
        </p:txBody>
      </p:sp>
      <p:sp>
        <p:nvSpPr>
          <p:cNvPr id="9" name="Text Placeholder 8">
            <a:extLst>
              <a:ext uri="{FF2B5EF4-FFF2-40B4-BE49-F238E27FC236}">
                <a16:creationId xmlns:a16="http://schemas.microsoft.com/office/drawing/2014/main" id="{8BB84D5C-A26D-EB17-14B7-3C591DD1E67E}"/>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HTTP/3 frame parsing had an unbounded memory growth bug</a:t>
            </a:r>
          </a:p>
          <a:p>
            <a:r>
              <a:rPr lang="en-US" sz="2400" dirty="0">
                <a:latin typeface="Poppins" panose="00000500000000000000" pitchFamily="2" charset="0"/>
                <a:cs typeface="Poppins" panose="00000500000000000000" pitchFamily="2" charset="0"/>
              </a:rPr>
              <a:t>Frame data wasn’t processed until the entire frame came in, which meant limits were never hit. An attacker could start multiple frames saying they were going to be 100Mb, send 100Mb-1 and the 100MB would get allocated for reads and sit there waiting for the last byte.</a:t>
            </a:r>
          </a:p>
        </p:txBody>
      </p:sp>
      <p:sp>
        <p:nvSpPr>
          <p:cNvPr id="10" name="Text Placeholder 9">
            <a:extLst>
              <a:ext uri="{FF2B5EF4-FFF2-40B4-BE49-F238E27FC236}">
                <a16:creationId xmlns:a16="http://schemas.microsoft.com/office/drawing/2014/main" id="{49ED0916-CB1A-A61E-BB3C-FBB8297CF54D}"/>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E0DAC842-88CF-F0DC-5A17-3D11A72907EB}"/>
              </a:ext>
            </a:extLst>
          </p:cNvPr>
          <p:cNvSpPr>
            <a:spLocks noGrp="1"/>
          </p:cNvSpPr>
          <p:nvPr>
            <p:ph type="body" sz="quarter" idx="28"/>
          </p:nvPr>
        </p:nvSpPr>
        <p:spPr>
          <a:xfrm>
            <a:off x="15941624" y="6648781"/>
            <a:ext cx="6650252" cy="2576861"/>
          </a:xfrm>
        </p:spPr>
        <p:txBody>
          <a:bodyPr/>
          <a:lstStyle/>
          <a:p>
            <a:r>
              <a:rPr lang="en-US" sz="2400" dirty="0">
                <a:latin typeface="Poppins" panose="00000500000000000000" pitchFamily="2" charset="0"/>
                <a:cs typeface="Poppins" panose="00000500000000000000" pitchFamily="2" charset="0"/>
              </a:rPr>
              <a:t>Change how HTTP Frames are parsed, making it clearer that it parses based on remaining length and adding support for partial frames.</a:t>
            </a:r>
          </a:p>
          <a:p>
            <a:endParaRPr lang="en-US" sz="2000" dirty="0">
              <a:solidFill>
                <a:schemeClr val="tx1"/>
              </a:solidFill>
              <a:latin typeface="Poppins" panose="00000500000000000000" pitchFamily="2" charset="0"/>
              <a:cs typeface="Poppins" panose="00000500000000000000" pitchFamily="2"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https://github.com/dotnet/aspnetcore/pull/61414</a:t>
            </a:r>
            <a:r>
              <a:rPr lang="en-US" sz="2000" dirty="0">
                <a:solidFill>
                  <a:schemeClr val="tx1"/>
                </a:solidFill>
                <a:latin typeface="Poppins" panose="00000500000000000000" pitchFamily="2" charset="0"/>
                <a:cs typeface="Poppins" panose="00000500000000000000" pitchFamily="2" charset="0"/>
              </a:rPr>
              <a:t> </a:t>
            </a:r>
          </a:p>
        </p:txBody>
      </p:sp>
      <p:pic>
        <p:nvPicPr>
          <p:cNvPr id="5" name="Image 50">
            <a:extLst>
              <a:ext uri="{FF2B5EF4-FFF2-40B4-BE49-F238E27FC236}">
                <a16:creationId xmlns:a16="http://schemas.microsoft.com/office/drawing/2014/main" id="{B8518E6E-C176-3E8D-E4F7-C3D43B8BA03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AEDB2160-F067-8378-A270-12A3763440D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A3700F7A-12DF-3D20-A7CB-F97109B9573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423345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237F8-2218-F2DA-0207-976EF3E800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6694C8-9030-A4E8-C3F0-CF52F32D321E}"/>
              </a:ext>
            </a:extLst>
          </p:cNvPr>
          <p:cNvSpPr>
            <a:spLocks noGrp="1"/>
          </p:cNvSpPr>
          <p:nvPr>
            <p:ph type="body" sz="quarter" idx="13"/>
          </p:nvPr>
        </p:nvSpPr>
        <p:spPr>
          <a:xfrm>
            <a:off x="1083508" y="1103244"/>
            <a:ext cx="19604791" cy="635000"/>
          </a:xfrm>
        </p:spPr>
        <p:txBody>
          <a:bodyPr/>
          <a:lstStyle/>
          <a:p>
            <a:r>
              <a:rPr lang="en-US" dirty="0">
                <a:solidFill>
                  <a:schemeClr val="bg2">
                    <a:lumMod val="75000"/>
                  </a:schemeClr>
                </a:solidFill>
              </a:rPr>
              <a:t>CVE-2025-55315</a:t>
            </a:r>
          </a:p>
          <a:p>
            <a:endParaRPr lang="en-US" dirty="0">
              <a:solidFill>
                <a:schemeClr val="bg2">
                  <a:lumMod val="75000"/>
                </a:schemeClr>
              </a:solidFill>
            </a:endParaRPr>
          </a:p>
        </p:txBody>
      </p:sp>
      <p:sp>
        <p:nvSpPr>
          <p:cNvPr id="3" name="Text Placeholder 2">
            <a:extLst>
              <a:ext uri="{FF2B5EF4-FFF2-40B4-BE49-F238E27FC236}">
                <a16:creationId xmlns:a16="http://schemas.microsoft.com/office/drawing/2014/main" id="{B3222C19-C8A0-283F-D7B5-8EAB01DA4087}"/>
              </a:ext>
            </a:extLst>
          </p:cNvPr>
          <p:cNvSpPr>
            <a:spLocks noGrp="1"/>
          </p:cNvSpPr>
          <p:nvPr>
            <p:ph type="body" sz="quarter" idx="15"/>
          </p:nvPr>
        </p:nvSpPr>
        <p:spPr>
          <a:xfrm>
            <a:off x="1083509" y="1659835"/>
            <a:ext cx="11983134" cy="635000"/>
          </a:xfrm>
        </p:spPr>
        <p:txBody>
          <a:bodyPr/>
          <a:lstStyle/>
          <a:p>
            <a:r>
              <a:rPr lang="en-US" b="1" dirty="0"/>
              <a:t>Security Feature Bypass in ASP.NET Core</a:t>
            </a:r>
          </a:p>
        </p:txBody>
      </p:sp>
      <p:sp>
        <p:nvSpPr>
          <p:cNvPr id="4" name="Text Placeholder 3">
            <a:extLst>
              <a:ext uri="{FF2B5EF4-FFF2-40B4-BE49-F238E27FC236}">
                <a16:creationId xmlns:a16="http://schemas.microsoft.com/office/drawing/2014/main" id="{E46B72CE-F481-F78D-BE93-BFF580D1C4E1}"/>
              </a:ext>
            </a:extLst>
          </p:cNvPr>
          <p:cNvSpPr>
            <a:spLocks noGrp="1"/>
          </p:cNvSpPr>
          <p:nvPr>
            <p:ph type="body" sz="quarter" idx="16"/>
          </p:nvPr>
        </p:nvSpPr>
        <p:spPr/>
        <p:txBody>
          <a:bodyPr/>
          <a:lstStyle/>
          <a:p>
            <a:r>
              <a:rPr lang="en-US" dirty="0"/>
              <a:t>Description</a:t>
            </a:r>
          </a:p>
        </p:txBody>
      </p:sp>
      <p:sp>
        <p:nvSpPr>
          <p:cNvPr id="6" name="Text Placeholder 5">
            <a:extLst>
              <a:ext uri="{FF2B5EF4-FFF2-40B4-BE49-F238E27FC236}">
                <a16:creationId xmlns:a16="http://schemas.microsoft.com/office/drawing/2014/main" id="{A788D165-4B6C-70E2-1ABC-03081FCA30B2}"/>
              </a:ext>
            </a:extLst>
          </p:cNvPr>
          <p:cNvSpPr>
            <a:spLocks noGrp="1"/>
          </p:cNvSpPr>
          <p:nvPr>
            <p:ph type="body" sz="quarter" idx="22"/>
          </p:nvPr>
        </p:nvSpPr>
        <p:spPr>
          <a:xfrm>
            <a:off x="1070063" y="6616124"/>
            <a:ext cx="6650252" cy="1836590"/>
          </a:xfrm>
        </p:spPr>
        <p:txBody>
          <a:bodyPr/>
          <a:lstStyle/>
          <a:p>
            <a:r>
              <a:rPr lang="en-US" sz="2400" dirty="0"/>
              <a:t>Inconsistent interpretation of http requests ('http request/response smuggling') in ASP.NET Core allows an authorized attacker to bypass a security feature over a network</a:t>
            </a:r>
            <a:r>
              <a:rPr lang="en-US" dirty="0"/>
              <a:t>.</a:t>
            </a:r>
            <a:endParaRPr lang="en-US" sz="2400" dirty="0">
              <a:latin typeface="Poppins" panose="00000500000000000000" pitchFamily="2" charset="0"/>
              <a:cs typeface="Poppins" panose="00000500000000000000" pitchFamily="2" charset="0"/>
            </a:endParaRPr>
          </a:p>
        </p:txBody>
      </p:sp>
      <p:sp>
        <p:nvSpPr>
          <p:cNvPr id="7" name="Text Placeholder 6">
            <a:extLst>
              <a:ext uri="{FF2B5EF4-FFF2-40B4-BE49-F238E27FC236}">
                <a16:creationId xmlns:a16="http://schemas.microsoft.com/office/drawing/2014/main" id="{54C1CA9E-C195-64F6-AAC5-8DA5F2E81AD4}"/>
              </a:ext>
            </a:extLst>
          </p:cNvPr>
          <p:cNvSpPr>
            <a:spLocks noGrp="1"/>
          </p:cNvSpPr>
          <p:nvPr>
            <p:ph type="title" idx="4294967295"/>
          </p:nvPr>
        </p:nvSpPr>
        <p:spPr>
          <a:xfrm>
            <a:off x="8505842" y="5833302"/>
            <a:ext cx="7010400" cy="635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4400"/>
              </a:lnSpc>
              <a:spcBef>
                <a:spcPct val="20000"/>
              </a:spcBef>
              <a:spcAft>
                <a:spcPts val="0"/>
              </a:spcAft>
              <a:buClrTx/>
              <a:buSzTx/>
              <a:buFont typeface="Arial" pitchFamily="34" charset="0"/>
              <a:buNone/>
              <a:tabLst/>
              <a:defRPr/>
            </a:pPr>
            <a:r>
              <a:rPr kumimoji="0" lang="en-US" sz="3600" b="0" i="0" u="none" strike="noStrike" kern="0" cap="none" spc="-72" normalizeH="0" baseline="0" noProof="0" dirty="0">
                <a:ln>
                  <a:noFill/>
                </a:ln>
                <a:solidFill>
                  <a:srgbClr val="0F0F0F">
                    <a:alpha val="100000"/>
                  </a:srgbClr>
                </a:solidFill>
                <a:effectLst/>
                <a:uLnTx/>
                <a:uFillTx/>
                <a:latin typeface="Poppins" pitchFamily="2" charset="77"/>
                <a:ea typeface="Poppins" pitchFamily="2" charset="77"/>
                <a:cs typeface="Poppins" pitchFamily="2" charset="77"/>
              </a:rPr>
              <a:t>Bug</a:t>
            </a:r>
          </a:p>
        </p:txBody>
      </p:sp>
      <p:sp>
        <p:nvSpPr>
          <p:cNvPr id="9" name="Text Placeholder 8">
            <a:extLst>
              <a:ext uri="{FF2B5EF4-FFF2-40B4-BE49-F238E27FC236}">
                <a16:creationId xmlns:a16="http://schemas.microsoft.com/office/drawing/2014/main" id="{FB9D8CD4-4BAB-B9F6-8CEF-D348018AE752}"/>
              </a:ext>
            </a:extLst>
          </p:cNvPr>
          <p:cNvSpPr>
            <a:spLocks noGrp="1"/>
          </p:cNvSpPr>
          <p:nvPr>
            <p:ph type="body" sz="quarter" idx="25"/>
          </p:nvPr>
        </p:nvSpPr>
        <p:spPr>
          <a:xfrm>
            <a:off x="8505843" y="6648781"/>
            <a:ext cx="6650252" cy="2720505"/>
          </a:xfrm>
        </p:spPr>
        <p:txBody>
          <a:bodyPr/>
          <a:lstStyle/>
          <a:p>
            <a:r>
              <a:rPr lang="en-US" sz="2400" dirty="0">
                <a:latin typeface="Poppins" panose="00000500000000000000" pitchFamily="2" charset="0"/>
                <a:cs typeface="Poppins" panose="00000500000000000000" pitchFamily="2" charset="0"/>
              </a:rPr>
              <a:t>The HTTP parser incorrectly accepted control characters, specifically newline (\n) characters, within chunk extensions, violating the HTTP/1.1 specification.</a:t>
            </a:r>
          </a:p>
          <a:p>
            <a:r>
              <a:rPr lang="en-US" sz="2400" dirty="0">
                <a:latin typeface="Poppins" panose="00000500000000000000" pitchFamily="2" charset="0"/>
                <a:cs typeface="Poppins" panose="00000500000000000000" pitchFamily="2" charset="0"/>
              </a:rPr>
              <a:t>The worst possible case was you could have a kestrel system parsing requests, and passing them on to a second system, which used different parsing code and would see the smuggled request as a separate request, trusting Kestrel got it right. This could enable auth bypasses, SSRF etc., depending on your architecture. </a:t>
            </a:r>
          </a:p>
          <a:p>
            <a:endParaRPr lang="en-US" sz="2400" dirty="0">
              <a:latin typeface="Poppins" panose="00000500000000000000" pitchFamily="2" charset="0"/>
              <a:cs typeface="Poppins" panose="00000500000000000000" pitchFamily="2" charset="0"/>
            </a:endParaRPr>
          </a:p>
        </p:txBody>
      </p:sp>
      <p:sp>
        <p:nvSpPr>
          <p:cNvPr id="10" name="Text Placeholder 9">
            <a:extLst>
              <a:ext uri="{FF2B5EF4-FFF2-40B4-BE49-F238E27FC236}">
                <a16:creationId xmlns:a16="http://schemas.microsoft.com/office/drawing/2014/main" id="{18257844-1E62-4FE6-08DC-688441B0DC52}"/>
              </a:ext>
            </a:extLst>
          </p:cNvPr>
          <p:cNvSpPr>
            <a:spLocks noGrp="1"/>
          </p:cNvSpPr>
          <p:nvPr>
            <p:ph type="body" sz="quarter" idx="26"/>
          </p:nvPr>
        </p:nvSpPr>
        <p:spPr/>
        <p:txBody>
          <a:bodyPr/>
          <a:lstStyle/>
          <a:p>
            <a:r>
              <a:rPr lang="en-US" dirty="0"/>
              <a:t>The fix</a:t>
            </a:r>
          </a:p>
        </p:txBody>
      </p:sp>
      <p:sp>
        <p:nvSpPr>
          <p:cNvPr id="12" name="Text Placeholder 11">
            <a:extLst>
              <a:ext uri="{FF2B5EF4-FFF2-40B4-BE49-F238E27FC236}">
                <a16:creationId xmlns:a16="http://schemas.microsoft.com/office/drawing/2014/main" id="{8AD33C25-F311-6ED3-C266-95EECFE3B769}"/>
              </a:ext>
            </a:extLst>
          </p:cNvPr>
          <p:cNvSpPr>
            <a:spLocks noGrp="1"/>
          </p:cNvSpPr>
          <p:nvPr>
            <p:ph type="body" sz="quarter" idx="28"/>
          </p:nvPr>
        </p:nvSpPr>
        <p:spPr>
          <a:xfrm>
            <a:off x="15941624" y="6648781"/>
            <a:ext cx="6650252" cy="2576861"/>
          </a:xfrm>
        </p:spPr>
        <p:txBody>
          <a:bodyPr/>
          <a:lstStyle/>
          <a:p>
            <a:r>
              <a:rPr lang="en-US" sz="2400" dirty="0">
                <a:latin typeface="Poppins" panose="00000500000000000000" pitchFamily="2" charset="0"/>
                <a:cs typeface="Poppins" panose="00000500000000000000" pitchFamily="2" charset="0"/>
              </a:rPr>
              <a:t>Change the parser to detect and reject requests with \n in chunk extensions.</a:t>
            </a:r>
          </a:p>
          <a:p>
            <a:endParaRPr lang="en-US" sz="2000" dirty="0">
              <a:solidFill>
                <a:schemeClr val="tx1"/>
              </a:solidFill>
              <a:latin typeface="Poppins" panose="00000500000000000000" pitchFamily="2" charset="0"/>
              <a:cs typeface="Poppins" panose="00000500000000000000" pitchFamily="2" charset="0"/>
            </a:endParaRPr>
          </a:p>
          <a:p>
            <a:r>
              <a:rPr lang="en-US" sz="200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https://github.com/dotnet/aspnetcore/pull/64037</a:t>
            </a:r>
            <a:r>
              <a:rPr lang="en-US" sz="2000" dirty="0">
                <a:latin typeface="Poppins" panose="00000500000000000000" pitchFamily="2" charset="0"/>
                <a:cs typeface="Poppins" panose="00000500000000000000" pitchFamily="2" charset="0"/>
              </a:rPr>
              <a:t> </a:t>
            </a:r>
          </a:p>
        </p:txBody>
      </p:sp>
      <p:pic>
        <p:nvPicPr>
          <p:cNvPr id="5" name="Image 50">
            <a:extLst>
              <a:ext uri="{FF2B5EF4-FFF2-40B4-BE49-F238E27FC236}">
                <a16:creationId xmlns:a16="http://schemas.microsoft.com/office/drawing/2014/main" id="{BECCA1CF-A63E-7F17-BC62-53586AAF443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7480" y="4982229"/>
            <a:ext cx="486964" cy="452357"/>
          </a:xfrm>
          <a:prstGeom prst="rect">
            <a:avLst/>
          </a:prstGeom>
        </p:spPr>
      </p:pic>
      <p:pic>
        <p:nvPicPr>
          <p:cNvPr id="11" name="Image 51">
            <a:extLst>
              <a:ext uri="{FF2B5EF4-FFF2-40B4-BE49-F238E27FC236}">
                <a16:creationId xmlns:a16="http://schemas.microsoft.com/office/drawing/2014/main" id="{30ED1EEB-3F06-FDBA-8D08-D205ED17FBF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5036" y="4988311"/>
            <a:ext cx="447731" cy="486835"/>
          </a:xfrm>
          <a:prstGeom prst="rect">
            <a:avLst/>
          </a:prstGeom>
        </p:spPr>
      </p:pic>
      <p:pic>
        <p:nvPicPr>
          <p:cNvPr id="13" name="Image 30">
            <a:extLst>
              <a:ext uri="{FF2B5EF4-FFF2-40B4-BE49-F238E27FC236}">
                <a16:creationId xmlns:a16="http://schemas.microsoft.com/office/drawing/2014/main" id="{4F3168FC-5EF8-A920-AE1A-76254AFEE47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417" y="5023924"/>
            <a:ext cx="529076" cy="451222"/>
          </a:xfrm>
          <a:prstGeom prst="rect">
            <a:avLst/>
          </a:prstGeom>
        </p:spPr>
      </p:pic>
    </p:spTree>
    <p:extLst>
      <p:ext uri="{BB962C8B-B14F-4D97-AF65-F5344CB8AC3E}">
        <p14:creationId xmlns:p14="http://schemas.microsoft.com/office/powerpoint/2010/main" val="2064325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5E396-2731-90A4-EB01-F57B9A2819C3}"/>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7F3AE352-655B-79B5-318B-C55BEB54B6AA}"/>
              </a:ext>
            </a:extLst>
          </p:cNvPr>
          <p:cNvSpPr>
            <a:spLocks noGrp="1"/>
          </p:cNvSpPr>
          <p:nvPr>
            <p:ph type="title" idx="4294967295"/>
          </p:nvPr>
        </p:nvSpPr>
        <p:spPr>
          <a:xfrm>
            <a:off x="1270159" y="1298002"/>
            <a:ext cx="2298987" cy="604395"/>
          </a:xfrm>
          <a:prstGeom prst="roundRect">
            <a:avLst>
              <a:gd name="adj" fmla="val 50000"/>
            </a:avLst>
          </a:prstGeom>
          <a:gradFill>
            <a:gsLst>
              <a:gs pos="0">
                <a:schemeClr val="accent2">
                  <a:lumMod val="40000"/>
                  <a:lumOff val="60000"/>
                </a:schemeClr>
              </a:gs>
              <a:gs pos="99000">
                <a:schemeClr val="accent1"/>
              </a:gs>
            </a:gsLst>
            <a:lin ang="3000000" scaled="0"/>
          </a:gra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ptos" panose="020B0004020202020204" pitchFamily="34" charset="0"/>
                <a:ea typeface="+mn-ea"/>
                <a:cs typeface="+mn-cs"/>
              </a:rPr>
              <a:t>Bug Bounty</a:t>
            </a:r>
          </a:p>
        </p:txBody>
      </p:sp>
      <p:sp>
        <p:nvSpPr>
          <p:cNvPr id="2" name="Text Placeholder 1">
            <a:extLst>
              <a:ext uri="{FF2B5EF4-FFF2-40B4-BE49-F238E27FC236}">
                <a16:creationId xmlns:a16="http://schemas.microsoft.com/office/drawing/2014/main" id="{5A25EB65-AB0F-148B-EA79-1A5D59B9B4B6}"/>
              </a:ext>
            </a:extLst>
          </p:cNvPr>
          <p:cNvSpPr>
            <a:spLocks noGrp="1"/>
          </p:cNvSpPr>
          <p:nvPr>
            <p:ph type="body" sz="quarter" idx="16"/>
          </p:nvPr>
        </p:nvSpPr>
        <p:spPr>
          <a:xfrm>
            <a:off x="1220787" y="2451100"/>
            <a:ext cx="18193884" cy="4017202"/>
          </a:xfrm>
        </p:spPr>
        <p:txBody>
          <a:bodyPr/>
          <a:lstStyle/>
          <a:p>
            <a:r>
              <a:rPr lang="en-US" spc="-120" dirty="0">
                <a:latin typeface="Poppins" panose="00000500000000000000" pitchFamily="2" charset="0"/>
                <a:cs typeface="Poppins" panose="00000500000000000000" pitchFamily="2" charset="0"/>
              </a:rPr>
              <a:t>Please report Vulnerabilities &amp; Security bugs to MSRC, not in GitHub issues. </a:t>
            </a:r>
            <a:r>
              <a:rPr lang="en-US" spc="-120" dirty="0">
                <a:solidFill>
                  <a:schemeClr val="tx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https://msrc.microsoft.com/report/vulnerability</a:t>
            </a:r>
            <a:r>
              <a:rPr lang="en-US" spc="-120" dirty="0">
                <a:latin typeface="Poppins" panose="00000500000000000000" pitchFamily="2" charset="0"/>
                <a:cs typeface="Poppins" panose="00000500000000000000" pitchFamily="2" charset="0"/>
              </a:rPr>
              <a:t> </a:t>
            </a:r>
          </a:p>
          <a:p>
            <a:endParaRPr lang="en-US" spc="-120" dirty="0">
              <a:latin typeface="Poppins" panose="00000500000000000000" pitchFamily="2" charset="0"/>
              <a:cs typeface="Poppins" panose="00000500000000000000" pitchFamily="2" charset="0"/>
            </a:endParaRPr>
          </a:p>
          <a:p>
            <a:r>
              <a:rPr lang="en-US" spc="-120" dirty="0">
                <a:latin typeface="Poppins" panose="00000500000000000000" pitchFamily="2" charset="0"/>
                <a:cs typeface="Poppins" panose="00000500000000000000" pitchFamily="2" charset="0"/>
              </a:rPr>
              <a:t>If you do, I may have to write you a cheque.</a:t>
            </a:r>
          </a:p>
          <a:p>
            <a:r>
              <a:rPr lang="en-US" dirty="0">
                <a:solidFill>
                  <a:schemeClr val="tx1"/>
                </a:solidFill>
                <a:latin typeface="Poppins" panose="00000500000000000000" pitchFamily="2" charset="0"/>
                <a:cs typeface="Poppins" panose="00000500000000000000" pitchFamily="2" charset="0"/>
                <a:hlinkClick r:id="rId4">
                  <a:extLst>
                    <a:ext uri="{A12FA001-AC4F-418D-AE19-62706E023703}">
                      <ahyp:hlinkClr xmlns:ahyp="http://schemas.microsoft.com/office/drawing/2018/hyperlinkcolor" val="tx"/>
                    </a:ext>
                  </a:extLst>
                </a:hlinkClick>
              </a:rPr>
              <a:t>https://aka.ms/corebounty</a:t>
            </a:r>
            <a:r>
              <a:rPr lang="en-US" dirty="0">
                <a:latin typeface="Poppins" panose="00000500000000000000" pitchFamily="2" charset="0"/>
                <a:cs typeface="Poppins" panose="00000500000000000000" pitchFamily="2" charset="0"/>
              </a:rPr>
              <a:t> </a:t>
            </a:r>
          </a:p>
        </p:txBody>
      </p:sp>
    </p:spTree>
    <p:extLst>
      <p:ext uri="{BB962C8B-B14F-4D97-AF65-F5344CB8AC3E}">
        <p14:creationId xmlns:p14="http://schemas.microsoft.com/office/powerpoint/2010/main" val="1414220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E815-381E-811F-0AA3-BBB39C12F8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35AB854-6B99-716C-EE30-1A30535D0465}"/>
              </a:ext>
            </a:extLst>
          </p:cNvPr>
          <p:cNvSpPr>
            <a:spLocks noGrp="1"/>
          </p:cNvSpPr>
          <p:nvPr>
            <p:ph type="title" idx="4294967295"/>
          </p:nvPr>
        </p:nvSpPr>
        <p:spPr>
          <a:xfrm>
            <a:off x="1039108" y="6078642"/>
            <a:ext cx="7010400" cy="128931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ts val="10800"/>
              </a:lnSpc>
              <a:spcBef>
                <a:spcPct val="20000"/>
              </a:spcBef>
              <a:spcAft>
                <a:spcPts val="0"/>
              </a:spcAft>
              <a:buClrTx/>
              <a:buSzTx/>
              <a:buFont typeface="Arial" pitchFamily="34" charset="0"/>
              <a:buNone/>
              <a:tabLst/>
              <a:defRPr/>
            </a:pPr>
            <a:r>
              <a:rPr kumimoji="0" lang="en-US" sz="10000" b="1" i="0" u="none" strike="noStrike" kern="0" cap="none" spc="-120" normalizeH="0" baseline="0" noProof="0" dirty="0">
                <a:ln>
                  <a:noFill/>
                </a:ln>
                <a:solidFill>
                  <a:schemeClr val="accent5">
                    <a:lumMod val="50000"/>
                  </a:schemeClr>
                </a:solidFill>
                <a:effectLst/>
                <a:uLnTx/>
                <a:uFillTx/>
                <a:latin typeface="Poppins" pitchFamily="2" charset="77"/>
                <a:ea typeface="Poppins" pitchFamily="2" charset="77"/>
                <a:cs typeface="Poppins" pitchFamily="2" charset="77"/>
              </a:rPr>
              <a:t>Thank you</a:t>
            </a:r>
          </a:p>
        </p:txBody>
      </p:sp>
    </p:spTree>
    <p:extLst>
      <p:ext uri="{BB962C8B-B14F-4D97-AF65-F5344CB8AC3E}">
        <p14:creationId xmlns:p14="http://schemas.microsoft.com/office/powerpoint/2010/main" val="3030687110"/>
      </p:ext>
    </p:extLst>
  </p:cSld>
  <p:clrMapOvr>
    <a:masterClrMapping/>
  </p:clrMapOvr>
</p:sld>
</file>

<file path=ppt/theme/theme1.xml><?xml version="1.0" encoding="utf-8"?>
<a:theme xmlns:a="http://schemas.openxmlformats.org/drawingml/2006/main" name="Office Theme">
  <a:themeElements>
    <a:clrScheme name="Custom 67">
      <a:dk1>
        <a:srgbClr val="000000"/>
      </a:dk1>
      <a:lt1>
        <a:srgbClr val="FEFFFE"/>
      </a:lt1>
      <a:dk2>
        <a:srgbClr val="1F1E31"/>
      </a:dk2>
      <a:lt2>
        <a:srgbClr val="A6A6A6"/>
      </a:lt2>
      <a:accent1>
        <a:srgbClr val="502AD4"/>
      </a:accent1>
      <a:accent2>
        <a:srgbClr val="0B6BFF"/>
      </a:accent2>
      <a:accent3>
        <a:srgbClr val="D502AA"/>
      </a:accent3>
      <a:accent4>
        <a:srgbClr val="EEEAFA"/>
      </a:accent4>
      <a:accent5>
        <a:srgbClr val="B9AAEE"/>
      </a:accent5>
      <a:accent6>
        <a:srgbClr val="9DC3FF"/>
      </a:accent6>
      <a:hlink>
        <a:srgbClr val="7F0066"/>
      </a:hlink>
      <a:folHlink>
        <a:srgbClr val="EF99D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2721</Words>
  <Application>Microsoft Office PowerPoint</Application>
  <PresentationFormat>Custom</PresentationFormat>
  <Paragraphs>321</Paragraphs>
  <Slides>33</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Aptos Mono</vt:lpstr>
      <vt:lpstr>Arial</vt:lpstr>
      <vt:lpstr>Poppins</vt:lpstr>
      <vt:lpstr>Segoe UI Variable Display</vt:lpstr>
      <vt:lpstr>Segoe UI Variable Display Semibold</vt:lpstr>
      <vt:lpstr>Segoe UI Variable Text Semibold</vt:lpstr>
      <vt:lpstr>Office Theme</vt:lpstr>
      <vt:lpstr>The year in .NET Security</vt:lpstr>
      <vt:lpstr>Who am I?</vt:lpstr>
      <vt:lpstr>Vulnerability vocabulary</vt:lpstr>
      <vt:lpstr>CVEs</vt:lpstr>
      <vt:lpstr>CVSS</vt:lpstr>
      <vt:lpstr>CWD</vt:lpstr>
      <vt:lpstr>CVE-2025-26682</vt:lpstr>
      <vt:lpstr>This year in vulnerabilities</vt:lpstr>
      <vt:lpstr>Reports, Patches and Pay</vt:lpstr>
      <vt:lpstr>Sounds low?</vt:lpstr>
      <vt:lpstr>.NET CVEs, 1 to 6</vt:lpstr>
      <vt:lpstr>.NET CVEs, 7 to 9</vt:lpstr>
      <vt:lpstr>ASP.NET CVEs</vt:lpstr>
      <vt:lpstr>Vulnerabilities by type</vt:lpstr>
      <vt:lpstr>Vulnerabilities by CVSS</vt:lpstr>
      <vt:lpstr>The year in .NET CVEs</vt:lpstr>
      <vt:lpstr>Caution</vt:lpstr>
      <vt:lpstr>.NET Vulnerability details</vt:lpstr>
      <vt:lpstr>CVE-2025-55248</vt:lpstr>
      <vt:lpstr>CVE-2025-55247</vt:lpstr>
      <vt:lpstr>CVE-2025-30399</vt:lpstr>
      <vt:lpstr>CVE-2025-26646</vt:lpstr>
      <vt:lpstr>.NET / NuGet restore operations use the temporary directory to store a deps.json file containing paths to dependencies. On Linux, as previously seen, that is writable by all, so an attacker on a machine could change the paths in the file to point to their own packages.   The attacker running code they control under another user process could be Elevation of Privilege if the other process is elevated, or root or Administrator.  </vt:lpstr>
      <vt:lpstr>The Microsoft Debug Interface Access SDK (MSDIA) is used by .NET to enhance stack traces. It had an RCE vector when opening symbols and memory dumps. </vt:lpstr>
      <vt:lpstr>CVE-2025-21171</vt:lpstr>
      <vt:lpstr>CVE-2024-43498</vt:lpstr>
      <vt:lpstr>CVE-2024-43499</vt:lpstr>
      <vt:lpstr>The year in ASP.NET Core CVEs</vt:lpstr>
      <vt:lpstr>CVE-2025-24070 </vt:lpstr>
      <vt:lpstr>CVE-2025-26682 </vt:lpstr>
      <vt:lpstr>Bug</vt:lpstr>
      <vt:lpstr>Bug Bounty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2026-01-06T21:08:02Z</dcterms:created>
  <dcterms:modified xsi:type="dcterms:W3CDTF">2026-01-06T21:08:41Z</dcterms:modified>
</cp:coreProperties>
</file>