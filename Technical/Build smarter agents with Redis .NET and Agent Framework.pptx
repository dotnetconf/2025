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687" r:id="rId2"/>
  </p:sldMasterIdLst>
  <p:notesMasterIdLst>
    <p:notesMasterId r:id="rId18"/>
  </p:notesMasterIdLst>
  <p:sldIdLst>
    <p:sldId id="256" r:id="rId3"/>
    <p:sldId id="508" r:id="rId4"/>
    <p:sldId id="498" r:id="rId5"/>
    <p:sldId id="499" r:id="rId6"/>
    <p:sldId id="500" r:id="rId7"/>
    <p:sldId id="502" r:id="rId8"/>
    <p:sldId id="501" r:id="rId9"/>
    <p:sldId id="503" r:id="rId10"/>
    <p:sldId id="504" r:id="rId11"/>
    <p:sldId id="506" r:id="rId12"/>
    <p:sldId id="505" r:id="rId13"/>
    <p:sldId id="512" r:id="rId14"/>
    <p:sldId id="510" r:id="rId15"/>
    <p:sldId id="511" r:id="rId16"/>
    <p:sldId id="50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11724C1-4862-4D21-B80D-938D7B45557D}">
          <p14:sldIdLst>
            <p14:sldId id="256"/>
            <p14:sldId id="508"/>
            <p14:sldId id="498"/>
            <p14:sldId id="499"/>
            <p14:sldId id="500"/>
            <p14:sldId id="502"/>
            <p14:sldId id="501"/>
            <p14:sldId id="503"/>
            <p14:sldId id="504"/>
            <p14:sldId id="506"/>
            <p14:sldId id="505"/>
            <p14:sldId id="512"/>
            <p14:sldId id="510"/>
            <p14:sldId id="511"/>
            <p14:sldId id="5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00" autoAdjust="0"/>
  </p:normalViewPr>
  <p:slideViewPr>
    <p:cSldViewPr snapToGrid="0">
      <p:cViewPr varScale="1">
        <p:scale>
          <a:sx n="89" d="100"/>
          <a:sy n="89" d="100"/>
        </p:scale>
        <p:origin x="139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4C268-13EF-49A2-A53A-56F25DC7D7E9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778E7-803C-4FD5-9F00-673D93C3A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3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8E7-803C-4FD5-9F00-673D93C3A7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22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Catherine</a:t>
            </a:r>
          </a:p>
          <a:p>
            <a:r>
              <a:rPr lang="en-US" dirty="0"/>
              <a:t>Matt will make comment about AI functionality – this is how flexible across app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8E7-803C-4FD5-9F00-673D93C3A7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51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Use for data caching, session storage, content caching, distributed transactions, Modern AI w/ different content types.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Catherine will ask questions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Azure Managed Redis =&gt; 1st party service so it brings in all the capabilities listed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8E7-803C-4FD5-9F00-673D93C3A7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76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Enterprise support w/ Aspire support =&gt; enterprise means it will be provisioned (give you </a:t>
            </a:r>
            <a:r>
              <a:rPr lang="en-US" dirty="0" err="1">
                <a:latin typeface="Calibri"/>
                <a:ea typeface="Calibri"/>
                <a:cs typeface="Calibri"/>
              </a:rPr>
              <a:t>redis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vectorsearch</a:t>
            </a:r>
            <a:r>
              <a:rPr lang="en-US" dirty="0">
                <a:latin typeface="Calibri"/>
                <a:ea typeface="Calibri"/>
                <a:cs typeface="Calibri"/>
              </a:rPr>
              <a:t> and other modules which feed the AI scenarios)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Provisions much faster.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MCP server samples =&gt; handoff to Catherine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8E7-803C-4FD5-9F00-673D93C3A75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18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Introduction to the demo – w/ 3 scenarios for MCP server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 err="1">
                <a:latin typeface="Calibri"/>
                <a:ea typeface="Calibri"/>
                <a:cs typeface="Calibri"/>
              </a:rPr>
              <a:t>EntraID</a:t>
            </a:r>
            <a:r>
              <a:rPr lang="en-US" dirty="0">
                <a:latin typeface="Calibri"/>
                <a:ea typeface="Calibri"/>
                <a:cs typeface="Calibri"/>
              </a:rPr>
              <a:t> is supported </a:t>
            </a:r>
            <a:r>
              <a:rPr lang="en-US" dirty="0" err="1">
                <a:latin typeface="Calibri"/>
                <a:ea typeface="Calibri"/>
                <a:cs typeface="Calibri"/>
              </a:rPr>
              <a:t>everytwhere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Classic caching concepts still apply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Semantic Routing is done by MCP client =&gt; apply filters for tooling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Vector store = &gt; RAG &amp; </a:t>
            </a:r>
            <a:r>
              <a:rPr lang="en-US" dirty="0" err="1">
                <a:latin typeface="Calibri"/>
                <a:ea typeface="Calibri"/>
                <a:cs typeface="Calibri"/>
              </a:rPr>
              <a:t>etc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8E7-803C-4FD5-9F00-673D93C3A75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76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Catherine will take this slide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Different ways to get data into Redis =&gt; 3</a:t>
            </a:r>
            <a:r>
              <a:rPr lang="en-US" baseline="30000" dirty="0">
                <a:latin typeface="Calibri"/>
                <a:ea typeface="Calibri"/>
                <a:cs typeface="Calibri"/>
              </a:rPr>
              <a:t>rd</a:t>
            </a:r>
            <a:r>
              <a:rPr lang="en-US" dirty="0">
                <a:latin typeface="Calibri"/>
                <a:ea typeface="Calibri"/>
                <a:cs typeface="Calibri"/>
              </a:rPr>
              <a:t> party tooling. And then can build your own w/ </a:t>
            </a:r>
            <a:r>
              <a:rPr lang="en-US" dirty="0" err="1">
                <a:latin typeface="Calibri"/>
                <a:ea typeface="Calibri"/>
                <a:cs typeface="Calibri"/>
              </a:rPr>
              <a:t>Aazure</a:t>
            </a:r>
            <a:r>
              <a:rPr lang="en-US" dirty="0">
                <a:latin typeface="Calibri"/>
                <a:ea typeface="Calibri"/>
                <a:cs typeface="Calibri"/>
              </a:rPr>
              <a:t> Functions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Azure functions =&gt; we control to do it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Integration tool =&gt; hydrates from persistent data store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8E7-803C-4FD5-9F00-673D93C3A75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910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Matt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Semantic Cache =&gt; saves on calls to LLMs w/ consistency (cache the LLM outputs)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778E7-803C-4FD5-9F00-673D93C3A75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92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CA2B-D591-C8A1-27F0-8D91B0E17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B84E5-68D6-08B5-DB90-FEA9A5F44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B9E1D-6DAD-77A3-CAF7-145E415EF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Matt asks Catherine for wrap up.</a:t>
            </a:r>
          </a:p>
        </p:txBody>
      </p:sp>
    </p:spTree>
    <p:extLst>
      <p:ext uri="{BB962C8B-B14F-4D97-AF65-F5344CB8AC3E}">
        <p14:creationId xmlns:p14="http://schemas.microsoft.com/office/powerpoint/2010/main" val="4040888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085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32414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3958" y="520700"/>
            <a:ext cx="5828541" cy="9144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1" i="0" kern="0" spc="-375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958" y="1460500"/>
            <a:ext cx="5828541" cy="9144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0" i="0" kern="0" spc="-375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3761" y="520700"/>
            <a:ext cx="914281" cy="9144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1344" y="1917700"/>
            <a:ext cx="12192000" cy="477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0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48ED571-A8AC-EED4-F2A9-9C2361D8AD61}"/>
              </a:ext>
            </a:extLst>
          </p:cNvPr>
          <p:cNvSpPr/>
          <p:nvPr userDrawn="1"/>
        </p:nvSpPr>
        <p:spPr>
          <a:xfrm>
            <a:off x="570208" y="2679701"/>
            <a:ext cx="5333972" cy="736600"/>
          </a:xfrm>
          <a:prstGeom prst="roundRect">
            <a:avLst>
              <a:gd name="adj" fmla="val 18952"/>
            </a:avLst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2C4E15-A127-94BF-30AA-731C7AFC004F}"/>
              </a:ext>
            </a:extLst>
          </p:cNvPr>
          <p:cNvSpPr/>
          <p:nvPr userDrawn="1"/>
        </p:nvSpPr>
        <p:spPr>
          <a:xfrm>
            <a:off x="570208" y="3544094"/>
            <a:ext cx="5333972" cy="736600"/>
          </a:xfrm>
          <a:prstGeom prst="roundRect">
            <a:avLst>
              <a:gd name="adj" fmla="val 18952"/>
            </a:avLst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7C6542C-4162-F7AC-EE60-48448EE2A733}"/>
              </a:ext>
            </a:extLst>
          </p:cNvPr>
          <p:cNvSpPr/>
          <p:nvPr userDrawn="1"/>
        </p:nvSpPr>
        <p:spPr>
          <a:xfrm>
            <a:off x="570208" y="4408489"/>
            <a:ext cx="5333972" cy="736600"/>
          </a:xfrm>
          <a:prstGeom prst="roundRect">
            <a:avLst>
              <a:gd name="adj" fmla="val 18952"/>
            </a:avLst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80668C-FC2C-D27B-6FB5-ECDBD9580455}"/>
              </a:ext>
            </a:extLst>
          </p:cNvPr>
          <p:cNvSpPr/>
          <p:nvPr userDrawn="1"/>
        </p:nvSpPr>
        <p:spPr>
          <a:xfrm>
            <a:off x="6287820" y="2679701"/>
            <a:ext cx="5316330" cy="736600"/>
          </a:xfrm>
          <a:prstGeom prst="roundRect">
            <a:avLst>
              <a:gd name="adj" fmla="val 18952"/>
            </a:avLst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F453BF1-87F1-27DE-9D90-05A37337BB1A}"/>
              </a:ext>
            </a:extLst>
          </p:cNvPr>
          <p:cNvSpPr/>
          <p:nvPr userDrawn="1"/>
        </p:nvSpPr>
        <p:spPr>
          <a:xfrm>
            <a:off x="6270179" y="3544094"/>
            <a:ext cx="5333972" cy="736600"/>
          </a:xfrm>
          <a:prstGeom prst="roundRect">
            <a:avLst>
              <a:gd name="adj" fmla="val 18952"/>
            </a:avLst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BF8327-C872-0E93-E2D2-27A336896A24}"/>
              </a:ext>
            </a:extLst>
          </p:cNvPr>
          <p:cNvSpPr/>
          <p:nvPr userDrawn="1"/>
        </p:nvSpPr>
        <p:spPr>
          <a:xfrm>
            <a:off x="6270179" y="4408489"/>
            <a:ext cx="5333972" cy="736600"/>
          </a:xfrm>
          <a:prstGeom prst="roundRect">
            <a:avLst>
              <a:gd name="adj" fmla="val 18952"/>
            </a:avLst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3F4C7B3C-B72F-E71C-75EC-24E4B5FB68A9}"/>
              </a:ext>
            </a:extLst>
          </p:cNvPr>
          <p:cNvSpPr/>
          <p:nvPr userDrawn="1"/>
        </p:nvSpPr>
        <p:spPr>
          <a:xfrm>
            <a:off x="4870425" y="571500"/>
            <a:ext cx="6750015" cy="279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900" b="0" i="0">
              <a:latin typeface="Poppins" pitchFamily="2" charset="77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B4E0F6-3328-DEA1-E7B9-961A5D9B3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0208" y="533400"/>
            <a:ext cx="3504744" cy="4699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  <a:p>
            <a:pPr lvl="0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915ACDBC-FDC7-EC30-00B9-2168717D9A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0208" y="965200"/>
            <a:ext cx="3504744" cy="4699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430790F8-5B2B-8D04-94D0-9EE9487DE2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0425" y="565151"/>
            <a:ext cx="3504744" cy="400049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16A860AA-AC62-C8E0-D0B9-8A40E86C58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888" y="2813051"/>
            <a:ext cx="4932611" cy="469900"/>
          </a:xfrm>
          <a:prstGeom prst="rect">
            <a:avLst/>
          </a:prstGeom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8DC486F7-F10A-AD9A-6F53-B78C7A8EBF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2446" y="2813051"/>
            <a:ext cx="4932611" cy="469900"/>
          </a:xfrm>
          <a:prstGeom prst="rect">
            <a:avLst/>
          </a:prstGeom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2F1C0483-A6B1-5B26-9779-744BC2D352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0888" y="3676651"/>
            <a:ext cx="4932611" cy="469900"/>
          </a:xfrm>
          <a:prstGeom prst="rect">
            <a:avLst/>
          </a:prstGeom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892BD9C6-9EF1-E1E3-2276-75F6EA6F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72446" y="3676651"/>
            <a:ext cx="4932611" cy="469900"/>
          </a:xfrm>
          <a:prstGeom prst="rect">
            <a:avLst/>
          </a:prstGeom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C61C2BFE-95DB-DB7A-F2D9-2B272A4C82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0888" y="4540251"/>
            <a:ext cx="4932611" cy="469900"/>
          </a:xfrm>
          <a:prstGeom prst="rect">
            <a:avLst/>
          </a:prstGeom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666A24C5-A4FD-E14D-4173-3CA7279C13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72446" y="4540251"/>
            <a:ext cx="4932611" cy="469900"/>
          </a:xfrm>
          <a:prstGeom prst="rect">
            <a:avLst/>
          </a:prstGeom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857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8A08768-A8D1-56B8-9E72-F5247632A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48898" y="531467"/>
            <a:ext cx="3504744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9D36D911-7F66-D321-2E3E-25348A43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90927" y="533400"/>
            <a:ext cx="518760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BB80305-533F-525A-2094-2BA8CC178E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684" y="551622"/>
            <a:ext cx="3504744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D750292-3DAA-64F4-E346-058EF93A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684" y="829918"/>
            <a:ext cx="3504744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909B5BC6-004B-406B-86ED-C0F664D7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48898" y="982880"/>
            <a:ext cx="3504744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2607F7F-1EAC-B2FA-AC82-78456EA42F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0927" y="984812"/>
            <a:ext cx="518760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EDFEF231-B3A4-17F4-23CF-B712A4401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8898" y="1437846"/>
            <a:ext cx="3504744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C7885F-D58E-D154-62B9-8314D6E34C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0927" y="1439779"/>
            <a:ext cx="518760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3206D664-9025-7588-3785-9B5127BB5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48898" y="1892813"/>
            <a:ext cx="3504744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1D64F4E-B2B1-F66D-F67B-35D740CF5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90927" y="1894745"/>
            <a:ext cx="518760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D90E18B-EA52-CF02-E309-052B97441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48898" y="2347779"/>
            <a:ext cx="3504744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35B5BBF1-8BFB-DADC-91A0-66BE29830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0927" y="2349712"/>
            <a:ext cx="518760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D45D058E-B1E6-9724-7878-C61F5E2567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48898" y="2802746"/>
            <a:ext cx="3504744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767140E-1887-CBD2-537F-0F89AA863F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90927" y="2804678"/>
            <a:ext cx="518760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D2DAF6A0-18B6-8865-E352-FBD3DA7F67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48898" y="3257712"/>
            <a:ext cx="3504744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6C68D9E7-6D29-A137-DBFE-B0921598A1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927" y="3259645"/>
            <a:ext cx="518760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B00CE70-CCD3-CF1B-8E6B-B04013BD7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48898" y="3712678"/>
            <a:ext cx="3504744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3AFF83DD-F4F2-57F9-7604-66A5BBAB30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90927" y="3714611"/>
            <a:ext cx="518760" cy="406083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B189BF-1CC6-7389-95BF-5F38F0F0828B}"/>
              </a:ext>
            </a:extLst>
          </p:cNvPr>
          <p:cNvSpPr/>
          <p:nvPr userDrawn="1"/>
        </p:nvSpPr>
        <p:spPr>
          <a:xfrm>
            <a:off x="570209" y="2946401"/>
            <a:ext cx="3595433" cy="26162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7DDB54-DB54-E3D1-6112-A27B01550823}"/>
              </a:ext>
            </a:extLst>
          </p:cNvPr>
          <p:cNvSpPr/>
          <p:nvPr userDrawn="1"/>
        </p:nvSpPr>
        <p:spPr>
          <a:xfrm>
            <a:off x="4298761" y="2946401"/>
            <a:ext cx="3595433" cy="26162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E7C83-8106-E9C1-0192-732198046405}"/>
              </a:ext>
            </a:extLst>
          </p:cNvPr>
          <p:cNvSpPr/>
          <p:nvPr userDrawn="1"/>
        </p:nvSpPr>
        <p:spPr>
          <a:xfrm>
            <a:off x="8027313" y="2946401"/>
            <a:ext cx="3595433" cy="26162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2C595F4-B3F7-5E06-51AC-548372D7CFAF}"/>
              </a:ext>
            </a:extLst>
          </p:cNvPr>
          <p:cNvSpPr/>
          <p:nvPr userDrawn="1"/>
        </p:nvSpPr>
        <p:spPr>
          <a:xfrm>
            <a:off x="800096" y="3175000"/>
            <a:ext cx="3143234" cy="787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90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E5D1D-B87D-B835-D533-FC7CB7F5B336}"/>
              </a:ext>
            </a:extLst>
          </p:cNvPr>
          <p:cNvSpPr/>
          <p:nvPr userDrawn="1"/>
        </p:nvSpPr>
        <p:spPr>
          <a:xfrm>
            <a:off x="8254957" y="3175000"/>
            <a:ext cx="3143234" cy="1219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90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55218D8-9438-05C0-B609-5BF7A9AEA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80480" y="3154406"/>
            <a:ext cx="3069669" cy="4699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3B7E634-3F0C-B54C-EFCF-0FED89ACD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0480" y="3661458"/>
            <a:ext cx="3069669" cy="4699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7B74BF8-911F-42EF-3387-B7A181E443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0480" y="5108310"/>
            <a:ext cx="2203957" cy="276491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AFDBD80-4720-E864-12C6-202C934DAF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11734" y="3154406"/>
            <a:ext cx="3069669" cy="4699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ED897787-FF0B-A2A3-0F90-C7E052BCCA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11734" y="3661458"/>
            <a:ext cx="3069669" cy="4699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BA6A41FE-C805-D075-4FCE-AF62CA5F8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1734" y="5108310"/>
            <a:ext cx="2203957" cy="276491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B60DAB6-79DF-2E12-7FD5-0CCA0778B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9225" y="3640438"/>
            <a:ext cx="3069669" cy="4699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FFAC78C2-3501-B585-EC26-AB4C513FC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0208" y="750329"/>
            <a:ext cx="3504744" cy="4699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7D0E3CC-8E1E-6D3F-FD71-363594381F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0208" y="1429266"/>
            <a:ext cx="3504744" cy="4699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FF2144F-2DE7-9301-5221-382FC7FCD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5308" y="3154406"/>
            <a:ext cx="3069669" cy="4699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B491D105-7489-F35F-A411-9DCCB714ED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8937" y="5108310"/>
            <a:ext cx="2203957" cy="276491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88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F7809FD-FD9E-C675-04BF-7AE0F6D7A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0208" y="533400"/>
            <a:ext cx="3504744" cy="4699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D5392B90-4FCE-AF58-C25E-52C3854588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0208" y="965200"/>
            <a:ext cx="3504744" cy="4699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C52D32-F83E-D81C-B202-C9AD72536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9889" y="3971677"/>
            <a:ext cx="1745720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CE68035-5C66-16BC-0189-93A367333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4915" y="3516186"/>
            <a:ext cx="1740694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B31C36C-6914-30C5-3F1B-D1E583AB80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889" y="4370266"/>
            <a:ext cx="1745720" cy="918295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909924-8374-3E54-558E-59C018D0DF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78592" y="3971677"/>
            <a:ext cx="1745720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A458391-216E-C845-856C-2A4E798510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83618" y="3516186"/>
            <a:ext cx="1740694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6FD2C17F-78EB-C99E-7B83-9664DD5F4A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78592" y="4370266"/>
            <a:ext cx="1745720" cy="918295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87204D81-F012-9492-CE1C-A2971FEDDA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42318" y="3971677"/>
            <a:ext cx="1745720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CCC77AF-444A-D86E-7572-EFF8B6390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47345" y="3516186"/>
            <a:ext cx="1740694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E46FA6F-2160-24B7-021B-9A07991B9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42319" y="4370266"/>
            <a:ext cx="1745720" cy="918295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71B7133A-23A4-0AD6-CE2B-4A52C054F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1021" y="3971677"/>
            <a:ext cx="1745720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E4C9B303-6F54-1ECD-0DEF-CC04F2DF72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6048" y="3516186"/>
            <a:ext cx="1740694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F9445E2C-3BBA-6FAA-783F-BBE16C2D2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01022" y="4370266"/>
            <a:ext cx="1745720" cy="918295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40487BBE-BE72-087D-7BAD-52C6794CB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64748" y="3971677"/>
            <a:ext cx="1745720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F82DE218-3924-5725-018E-C4DC95C3A0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69774" y="3516186"/>
            <a:ext cx="1740694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3D249E77-8DB6-AE0D-ED70-3F3A2EF4E2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64748" y="4370266"/>
            <a:ext cx="1745720" cy="918295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E5A031A-E60C-495B-DAA2-327FA9B6D5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28474" y="3971677"/>
            <a:ext cx="1745720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FA7884-3D92-14BF-D759-0C98BDFE7D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833500" y="3516186"/>
            <a:ext cx="1740694" cy="3175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D6EAA8B-2A11-3BCC-1EEE-C55751C4D2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28475" y="4370266"/>
            <a:ext cx="1745720" cy="918295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</p:spTree>
    <p:extLst>
      <p:ext uri="{BB962C8B-B14F-4D97-AF65-F5344CB8AC3E}">
        <p14:creationId xmlns:p14="http://schemas.microsoft.com/office/powerpoint/2010/main" val="384839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1777" y="2109640"/>
            <a:ext cx="3504744" cy="945046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999" b="0" i="0" kern="0" spc="-6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B6A5054-BEC7-5A53-61D2-95395DD6A0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6847" y="3236028"/>
            <a:ext cx="3504744" cy="201907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400" b="0" i="0" kern="0" spc="-28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Single entry point for code assessments, dependency updates, and remediation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Generates and executes update plans automatically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Gives you full visibility, control and clear summary of change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271401" y="571500"/>
            <a:ext cx="6342824" cy="565785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83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9486" y="3039321"/>
            <a:ext cx="3504744" cy="64465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5399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9190" y="933450"/>
            <a:ext cx="914281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78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3140" y="3993492"/>
            <a:ext cx="1745720" cy="257699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rgbClr val="0F0F0F">
                    <a:alpha val="100000"/>
                  </a:srgbClr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Speaker name</a:t>
            </a:r>
            <a:endParaRPr lang="en-US" sz="1800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23140" y="4264797"/>
            <a:ext cx="1745720" cy="257699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rgbClr val="7E7E7E">
                    <a:alpha val="100000"/>
                  </a:srgbClr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Title</a:t>
            </a:r>
            <a:endParaRPr lang="en-US" sz="18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FFFD9-3411-3D2C-CC57-DDEB3BE7165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49178" y="2167731"/>
            <a:ext cx="1693643" cy="1693864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7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033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9" r:id="rId5"/>
    <p:sldLayoutId id="2147483670" r:id="rId6"/>
    <p:sldLayoutId id="2147483673" r:id="rId7"/>
    <p:sldLayoutId id="2147483686" r:id="rId8"/>
  </p:sldLayoutIdLst>
  <p:hf sldNum="0" hdr="0" ftr="0" dt="0"/>
  <p:txStyles>
    <p:titleStyle>
      <a:lvl1pPr algn="ctr" defTabSz="457109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90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hf sldNum="0" hdr="0" ftr="0" dt="0"/>
  <p:txStyles>
    <p:titleStyle>
      <a:lvl1pPr algn="ctr" defTabSz="457109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ka.ms/redis/demo/weather-mcp-redi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ka.ms/redis/demo/Function-UploadData-Redi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ka.ms/redis/demo/Redis-AgentFramework-Aspir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redis/demo/Redis-AgentFramework-Aspire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hyperlink" Target="https://aka.ms/redis/demo/weather-mcp-redis" TargetMode="External"/><Relationship Id="rId4" Type="http://schemas.openxmlformats.org/officeDocument/2006/relationships/hyperlink" Target="https://aka.ms/redis/demo/Function-UploadData-Redis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A7F60-B3A4-691F-2541-A07900F26C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000"/>
              <a:t>Build smarter agents with Redis, .NET and Agent Framework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AD6E8F-E6B9-78D8-0FAF-676D5956DC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1536" y="4380287"/>
            <a:ext cx="5828541" cy="914400"/>
          </a:xfrm>
        </p:spPr>
        <p:txBody>
          <a:bodyPr/>
          <a:lstStyle/>
          <a:p>
            <a:r>
              <a:rPr lang="en-US"/>
              <a:t>.</a:t>
            </a:r>
            <a:r>
              <a:rPr lang="en-US" sz="2400"/>
              <a:t>NET  10  Conference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21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340F0-1403-8D58-EE4F-B21C88085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F328DE-7931-BC50-9014-D16C503E02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6826" y="3993492"/>
            <a:ext cx="1745720" cy="257699"/>
          </a:xfrm>
        </p:spPr>
        <p:txBody>
          <a:bodyPr/>
          <a:lstStyle/>
          <a:p>
            <a:r>
              <a:rPr lang="en-US"/>
              <a:t>Matt Soucoup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8F611-AE1A-0EF9-2B5B-3E66DAC90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506826" y="4264797"/>
            <a:ext cx="1745720" cy="257699"/>
          </a:xfrm>
        </p:spPr>
        <p:txBody>
          <a:bodyPr/>
          <a:lstStyle/>
          <a:p>
            <a:r>
              <a:rPr lang="en-US">
                <a:solidFill>
                  <a:schemeClr val="bg2">
                    <a:lumMod val="75000"/>
                  </a:schemeClr>
                </a:solidFill>
              </a:rPr>
              <a:t>PRINCIPAL CLOUD ADVOCATE</a:t>
            </a:r>
          </a:p>
        </p:txBody>
      </p:sp>
      <p:pic>
        <p:nvPicPr>
          <p:cNvPr id="6" name="Picture Placeholder 5" descr="A blue round object with a white face&#10;&#10;AI-generated content may be incorrect.">
            <a:extLst>
              <a:ext uri="{FF2B5EF4-FFF2-40B4-BE49-F238E27FC236}">
                <a16:creationId xmlns:a16="http://schemas.microsoft.com/office/drawing/2014/main" id="{5A9C6515-5D6B-482C-96BE-DB9388899627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32864" y="2167731"/>
            <a:ext cx="1693643" cy="1693864"/>
          </a:xfrm>
          <a:solidFill>
            <a:schemeClr val="accent3">
              <a:lumMod val="60000"/>
              <a:lumOff val="40000"/>
            </a:schemeClr>
          </a:solidFill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EBA191B7-D1B5-69F6-49F1-5727AF831960}"/>
              </a:ext>
            </a:extLst>
          </p:cNvPr>
          <p:cNvSpPr txBox="1">
            <a:spLocks/>
          </p:cNvSpPr>
          <p:nvPr/>
        </p:nvSpPr>
        <p:spPr>
          <a:xfrm>
            <a:off x="7473801" y="3993208"/>
            <a:ext cx="2228772" cy="257699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2200"/>
              </a:lnSpc>
              <a:spcBef>
                <a:spcPct val="20000"/>
              </a:spcBef>
              <a:buFont typeface="Arial" pitchFamily="34" charset="0"/>
              <a:buNone/>
              <a:defRPr lang="en-US" sz="1800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  <a:lvl2pPr marL="371401" indent="-142846" algn="l" defTabSz="45710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86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940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494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049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603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157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711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Catherine Wang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1ED7BC5-BE92-25D0-490E-ECCC3A28E410}"/>
              </a:ext>
            </a:extLst>
          </p:cNvPr>
          <p:cNvSpPr txBox="1">
            <a:spLocks/>
          </p:cNvSpPr>
          <p:nvPr/>
        </p:nvSpPr>
        <p:spPr>
          <a:xfrm>
            <a:off x="7715328" y="4264797"/>
            <a:ext cx="1745720" cy="257699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2200"/>
              </a:lnSpc>
              <a:spcBef>
                <a:spcPct val="20000"/>
              </a:spcBef>
              <a:buFont typeface="Arial" pitchFamily="34" charset="0"/>
              <a:buNone/>
              <a:defRPr lang="en-US" sz="1800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  <a:lvl2pPr marL="371401" indent="-142846" algn="l" defTabSz="45710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86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940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494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049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603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157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711" indent="-114277" algn="l" defTabSz="4571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2">
                    <a:lumMod val="75000"/>
                  </a:schemeClr>
                </a:solidFill>
              </a:rPr>
              <a:t>Product Manager, Azure Redis</a:t>
            </a:r>
          </a:p>
        </p:txBody>
      </p:sp>
      <p:pic>
        <p:nvPicPr>
          <p:cNvPr id="7" name="Picture Placeholder 5" descr="A blue round object with a white face&#10;&#10;AI-generated content may be incorrect.">
            <a:extLst>
              <a:ext uri="{FF2B5EF4-FFF2-40B4-BE49-F238E27FC236}">
                <a16:creationId xmlns:a16="http://schemas.microsoft.com/office/drawing/2014/main" id="{0F609FD0-9179-0312-B253-25651FBB8A3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41366" y="2167731"/>
            <a:ext cx="1693643" cy="169386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883499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1C09C2-81C0-6CDB-D52D-500B4F8E20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/>
              <a:t>What is Azure Redis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40BCC8-A8B8-1D19-EB88-66850AB222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C81B3D-7626-AD64-6304-3481451BAF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DF6771-5E55-91EB-0D93-C95AC3F71C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4C08EC-5D6A-6017-192D-76AB81C85A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48897" y="982880"/>
            <a:ext cx="5801173" cy="406083"/>
          </a:xfrm>
        </p:spPr>
        <p:txBody>
          <a:bodyPr/>
          <a:lstStyle/>
          <a:p>
            <a:r>
              <a:rPr lang="en-US" sz="2400"/>
              <a:t>.NET for Redis ecosystem</a:t>
            </a:r>
          </a:p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42018E9-F0EF-A76E-5570-287BE582D0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F9B98FB-5030-A1B1-72D0-B71C71D86B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8898" y="1437846"/>
            <a:ext cx="9122596" cy="406083"/>
          </a:xfrm>
        </p:spPr>
        <p:txBody>
          <a:bodyPr/>
          <a:lstStyle/>
          <a:p>
            <a:r>
              <a:rPr lang="en-US" sz="2400"/>
              <a:t>Use Redis to improve .NET MCP server efficiency</a:t>
            </a:r>
          </a:p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BE90C0-7707-20EC-2EC2-8FDD527565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B31DCB-6639-5A6C-4F3F-E92C805D49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48897" y="1892813"/>
            <a:ext cx="10366449" cy="406083"/>
          </a:xfrm>
        </p:spPr>
        <p:txBody>
          <a:bodyPr/>
          <a:lstStyle/>
          <a:p>
            <a:r>
              <a:rPr lang="en-US" sz="2400"/>
              <a:t>Demo: hybrid cache with weather MCP server</a:t>
            </a:r>
          </a:p>
          <a:p>
            <a:endParaRPr lang="en-US" sz="240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52FDA54-57EC-3E29-DE65-AAE6168E1F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02A24F-EB30-C75C-A087-8FD9D4519AF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48898" y="2347779"/>
            <a:ext cx="8927614" cy="406083"/>
          </a:xfrm>
        </p:spPr>
        <p:txBody>
          <a:bodyPr/>
          <a:lstStyle/>
          <a:p>
            <a:r>
              <a:rPr lang="en-US" sz="2400"/>
              <a:t>Upload data into Redis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A7D5521-B4E9-763E-0EED-2C04F8DBEA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4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E236480-23E9-FB90-B4AE-51683C3968E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48897" y="2802746"/>
            <a:ext cx="10648837" cy="406083"/>
          </a:xfrm>
        </p:spPr>
        <p:txBody>
          <a:bodyPr/>
          <a:lstStyle/>
          <a:p>
            <a:r>
              <a:rPr lang="en-US" sz="2400"/>
              <a:t>Demo: Upload data to Redis with Azure Function</a:t>
            </a:r>
          </a:p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7FED760-DCBA-DB61-136A-E51F507477D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69393FF-9320-CD3C-5C5C-88E8F75853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848898" y="3257712"/>
            <a:ext cx="9008296" cy="406083"/>
          </a:xfrm>
        </p:spPr>
        <p:txBody>
          <a:bodyPr/>
          <a:lstStyle/>
          <a:p>
            <a:r>
              <a:rPr lang="en-US" sz="2400"/>
              <a:t>Use Redis in a .NET Aspire Exact QnA Agent</a:t>
            </a:r>
          </a:p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C6B0BCA-E65A-1F7B-6599-11108F070E0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6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8744DE2-7F3C-ECC6-9B8A-433DD43F8BF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48898" y="3712678"/>
            <a:ext cx="10036996" cy="406083"/>
          </a:xfrm>
        </p:spPr>
        <p:txBody>
          <a:bodyPr/>
          <a:lstStyle/>
          <a:p>
            <a:r>
              <a:rPr lang="en-US" sz="2400"/>
              <a:t>Demo: Aspire Agent with Redis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885D1C-B8D9-BC93-C075-EA449C8FBC9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7</a:t>
            </a:r>
          </a:p>
        </p:txBody>
      </p:sp>
      <p:pic>
        <p:nvPicPr>
          <p:cNvPr id="25" name="Picture 24" descr="A cartoon robot with a black background&#10;&#10;AI-generated content may be incorrect.">
            <a:extLst>
              <a:ext uri="{FF2B5EF4-FFF2-40B4-BE49-F238E27FC236}">
                <a16:creationId xmlns:a16="http://schemas.microsoft.com/office/drawing/2014/main" id="{B1EF0E1B-07EE-F5AA-A626-496F6A45DA3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06304" y="5530941"/>
            <a:ext cx="1066201" cy="106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8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2AB6092-9268-725A-9C21-CF339592BCB9}"/>
              </a:ext>
            </a:extLst>
          </p:cNvPr>
          <p:cNvSpPr txBox="1">
            <a:spLocks/>
          </p:cNvSpPr>
          <p:nvPr/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457109" rtl="0" eaLnBrk="1" latinLnBrk="0" hangingPunct="1">
              <a:spcBef>
                <a:spcPct val="0"/>
              </a:spcBef>
              <a:buNone/>
              <a:defRPr sz="2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Azure Redis service overview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E20DF4-2168-3D49-25DA-2D14A40B69D5}"/>
              </a:ext>
            </a:extLst>
          </p:cNvPr>
          <p:cNvSpPr txBox="1"/>
          <p:nvPr/>
        </p:nvSpPr>
        <p:spPr>
          <a:xfrm>
            <a:off x="744062" y="1442298"/>
            <a:ext cx="58517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>
                <a:solidFill>
                  <a:schemeClr val="bg1"/>
                </a:solidFill>
                <a:latin typeface="Aptos" panose="020B0004020202020204" pitchFamily="34" charset="0"/>
              </a:rPr>
              <a:t>REmote DIstributed Server</a:t>
            </a:r>
          </a:p>
          <a:p>
            <a:r>
              <a:rPr lang="en-US" sz="3200" i="1">
                <a:solidFill>
                  <a:schemeClr val="bg1"/>
                </a:solidFill>
                <a:latin typeface="Aptos" panose="020B0004020202020204" pitchFamily="34" charset="0"/>
              </a:rPr>
              <a:t>In-memory key-value pair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2043A05-2B94-87E1-9BD1-E4AF7FBF61B8}"/>
              </a:ext>
            </a:extLst>
          </p:cNvPr>
          <p:cNvCxnSpPr/>
          <p:nvPr/>
        </p:nvCxnSpPr>
        <p:spPr>
          <a:xfrm>
            <a:off x="2043940" y="2474255"/>
            <a:ext cx="0" cy="38256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EE9A1C-84B2-3B4D-4CBA-7A5C07CC1540}"/>
              </a:ext>
            </a:extLst>
          </p:cNvPr>
          <p:cNvSpPr txBox="1"/>
          <p:nvPr/>
        </p:nvSpPr>
        <p:spPr>
          <a:xfrm>
            <a:off x="38092" y="2474255"/>
            <a:ext cx="705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>
                <a:solidFill>
                  <a:schemeClr val="bg1"/>
                </a:solidFill>
                <a:latin typeface="Aptos" panose="020B0004020202020204" pitchFamily="34" charset="0"/>
              </a:rPr>
              <a:t>Strings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B62661E-D842-A49C-0A7C-FEF9722EB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05" y="2722111"/>
            <a:ext cx="1888380" cy="120534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9DD69E9-2612-7841-4CD6-4696A0B1699C}"/>
              </a:ext>
            </a:extLst>
          </p:cNvPr>
          <p:cNvSpPr txBox="1"/>
          <p:nvPr/>
        </p:nvSpPr>
        <p:spPr>
          <a:xfrm>
            <a:off x="38092" y="3956603"/>
            <a:ext cx="705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>
                <a:solidFill>
                  <a:schemeClr val="bg1"/>
                </a:solidFill>
                <a:latin typeface="Aptos" panose="020B0004020202020204" pitchFamily="34" charset="0"/>
              </a:rPr>
              <a:t>Sets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F1A4503-A2C9-BFD6-D028-8FECCB8CD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1" y="4119294"/>
            <a:ext cx="1605249" cy="10246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A7E4C67-C93E-905C-06E6-0669FFA74B25}"/>
              </a:ext>
            </a:extLst>
          </p:cNvPr>
          <p:cNvSpPr txBox="1"/>
          <p:nvPr/>
        </p:nvSpPr>
        <p:spPr>
          <a:xfrm>
            <a:off x="-916" y="5049425"/>
            <a:ext cx="1021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>
                <a:solidFill>
                  <a:schemeClr val="bg1"/>
                </a:solidFill>
                <a:latin typeface="Aptos" panose="020B0004020202020204" pitchFamily="34" charset="0"/>
              </a:rPr>
              <a:t>Sorted sets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E24C367-4D6B-3DD1-0A36-D311C67EA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06" y="5344565"/>
            <a:ext cx="1719163" cy="109733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7D23F49-419A-224B-DADC-580690BB63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330" y="2753284"/>
            <a:ext cx="1839542" cy="11741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30FFFAB-C34A-9B22-2ED3-E59D5BB14C95}"/>
              </a:ext>
            </a:extLst>
          </p:cNvPr>
          <p:cNvSpPr txBox="1"/>
          <p:nvPr/>
        </p:nvSpPr>
        <p:spPr>
          <a:xfrm>
            <a:off x="2067330" y="2474255"/>
            <a:ext cx="705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>
                <a:solidFill>
                  <a:schemeClr val="bg1"/>
                </a:solidFill>
                <a:latin typeface="Aptos" panose="020B0004020202020204" pitchFamily="34" charset="0"/>
              </a:rPr>
              <a:t>Lists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380461-6E8C-9BB4-5FE3-0993ADFA8BF9}"/>
              </a:ext>
            </a:extLst>
          </p:cNvPr>
          <p:cNvSpPr txBox="1"/>
          <p:nvPr/>
        </p:nvSpPr>
        <p:spPr>
          <a:xfrm>
            <a:off x="2067330" y="3956602"/>
            <a:ext cx="1021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>
                <a:solidFill>
                  <a:schemeClr val="bg1"/>
                </a:solidFill>
                <a:latin typeface="Aptos" panose="020B0004020202020204" pitchFamily="34" charset="0"/>
              </a:rPr>
              <a:t>Hashes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1B10C93-69CD-953D-55D2-4AB3AA3F5A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7330" y="4229086"/>
            <a:ext cx="1719163" cy="109733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2DEE37C-C4C6-5D89-88FF-66369A0648A9}"/>
              </a:ext>
            </a:extLst>
          </p:cNvPr>
          <p:cNvSpPr txBox="1"/>
          <p:nvPr/>
        </p:nvSpPr>
        <p:spPr>
          <a:xfrm>
            <a:off x="2085496" y="5326899"/>
            <a:ext cx="1021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>
                <a:solidFill>
                  <a:schemeClr val="bg1"/>
                </a:solidFill>
                <a:latin typeface="Aptos" panose="020B0004020202020204" pitchFamily="34" charset="0"/>
              </a:rPr>
              <a:t>Bitmaps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1D143A5-AB7C-2E3C-6A75-3BC779DDEB5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3689" y="6029325"/>
            <a:ext cx="1298258" cy="828675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CDB3A2-CAE1-C950-7D04-05676C5E8429}"/>
              </a:ext>
            </a:extLst>
          </p:cNvPr>
          <p:cNvCxnSpPr/>
          <p:nvPr/>
        </p:nvCxnSpPr>
        <p:spPr>
          <a:xfrm>
            <a:off x="3944453" y="2451838"/>
            <a:ext cx="0" cy="38256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992785B5-B6CD-0099-0932-E7F0F2671399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8601" y="2567462"/>
            <a:ext cx="1820956" cy="71624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53476E3-A9C0-80A7-E92C-46C138EC60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2490" y="3222273"/>
            <a:ext cx="1790700" cy="11430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DA1CD41-99CC-B094-BA8C-740B895C2C3E}"/>
              </a:ext>
            </a:extLst>
          </p:cNvPr>
          <p:cNvSpPr txBox="1"/>
          <p:nvPr/>
        </p:nvSpPr>
        <p:spPr>
          <a:xfrm>
            <a:off x="3969459" y="3802142"/>
            <a:ext cx="1710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>
                <a:solidFill>
                  <a:schemeClr val="bg1"/>
                </a:solidFill>
                <a:latin typeface="Aptos" panose="020B0004020202020204" pitchFamily="34" charset="0"/>
              </a:rPr>
              <a:t>Geospatial indexes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556C5F6-7B64-C98D-9B8C-8395827CB6B6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0831" y="4038170"/>
            <a:ext cx="1556496" cy="97436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78215C6-8831-267F-D6EB-E8E06C77EF46}"/>
              </a:ext>
            </a:extLst>
          </p:cNvPr>
          <p:cNvSpPr txBox="1"/>
          <p:nvPr/>
        </p:nvSpPr>
        <p:spPr>
          <a:xfrm>
            <a:off x="3969459" y="5012536"/>
            <a:ext cx="1710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>
                <a:solidFill>
                  <a:schemeClr val="bg1"/>
                </a:solidFill>
                <a:latin typeface="Aptos" panose="020B0004020202020204" pitchFamily="34" charset="0"/>
              </a:rPr>
              <a:t>Streams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CDAA15B-AD31-41C8-B8C8-C569949C169B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0831" y="5329776"/>
            <a:ext cx="2262468" cy="108146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E4ADD69-2AC5-FB8E-0028-FEBBAEA18A90}"/>
              </a:ext>
            </a:extLst>
          </p:cNvPr>
          <p:cNvSpPr txBox="1"/>
          <p:nvPr/>
        </p:nvSpPr>
        <p:spPr>
          <a:xfrm>
            <a:off x="67536" y="6559664"/>
            <a:ext cx="5694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  <a:latin typeface="Aptos" panose="020B0004020202020204" pitchFamily="34" charset="0"/>
              </a:rPr>
              <a:t>Source:</a:t>
            </a:r>
            <a:r>
              <a:rPr lang="en-US" sz="1200">
                <a:solidFill>
                  <a:schemeClr val="bg1"/>
                </a:solidFill>
                <a:latin typeface="Aptos" panose="020B0004020202020204" pitchFamily="34" charset="0"/>
              </a:rPr>
              <a:t> https://redis.io/technology/data-structures/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827D30-F02E-2FC9-EAFD-A0BDCDFDF960}"/>
              </a:ext>
            </a:extLst>
          </p:cNvPr>
          <p:cNvSpPr txBox="1"/>
          <p:nvPr/>
        </p:nvSpPr>
        <p:spPr>
          <a:xfrm>
            <a:off x="3938601" y="2474255"/>
            <a:ext cx="1021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>
                <a:solidFill>
                  <a:schemeClr val="bg1"/>
                </a:solidFill>
                <a:latin typeface="Aptos" panose="020B0004020202020204" pitchFamily="34" charset="0"/>
              </a:rPr>
              <a:t>Bitfields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04C995-DCCE-9963-1795-575820694F99}"/>
              </a:ext>
            </a:extLst>
          </p:cNvPr>
          <p:cNvSpPr txBox="1"/>
          <p:nvPr/>
        </p:nvSpPr>
        <p:spPr>
          <a:xfrm>
            <a:off x="3950306" y="3115618"/>
            <a:ext cx="1435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>
                <a:solidFill>
                  <a:schemeClr val="bg1"/>
                </a:solidFill>
                <a:latin typeface="Aptos" panose="020B0004020202020204" pitchFamily="34" charset="0"/>
              </a:rPr>
              <a:t>HyperLogLog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CCFF69-8F75-6C59-0734-1886F0A4091F}"/>
              </a:ext>
            </a:extLst>
          </p:cNvPr>
          <p:cNvSpPr txBox="1"/>
          <p:nvPr/>
        </p:nvSpPr>
        <p:spPr>
          <a:xfrm>
            <a:off x="7178488" y="2563248"/>
            <a:ext cx="251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>
                <a:solidFill>
                  <a:schemeClr val="bg1"/>
                </a:solidFill>
                <a:latin typeface="Aptos" panose="020B0004020202020204" pitchFamily="34" charset="0"/>
              </a:rPr>
              <a:t>Scalability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8E5ED3-F728-818F-3205-2860037BBC5E}"/>
              </a:ext>
            </a:extLst>
          </p:cNvPr>
          <p:cNvSpPr txBox="1"/>
          <p:nvPr/>
        </p:nvSpPr>
        <p:spPr>
          <a:xfrm>
            <a:off x="7178488" y="2941438"/>
            <a:ext cx="4067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Broad range of SKUs from 0.5 to 2000G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8CED7C-843F-1B77-5EBE-4D1F3E17F8A1}"/>
              </a:ext>
            </a:extLst>
          </p:cNvPr>
          <p:cNvCxnSpPr/>
          <p:nvPr/>
        </p:nvCxnSpPr>
        <p:spPr>
          <a:xfrm>
            <a:off x="7281582" y="3227295"/>
            <a:ext cx="406101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B55CCF2-3533-E706-5A52-993F243E6467}"/>
              </a:ext>
            </a:extLst>
          </p:cNvPr>
          <p:cNvSpPr txBox="1"/>
          <p:nvPr/>
        </p:nvSpPr>
        <p:spPr>
          <a:xfrm>
            <a:off x="7178488" y="3276690"/>
            <a:ext cx="251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>
                <a:solidFill>
                  <a:schemeClr val="bg1"/>
                </a:solidFill>
                <a:latin typeface="Aptos" panose="020B0004020202020204" pitchFamily="34" charset="0"/>
              </a:rPr>
              <a:t>High-availability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D02A0A-BDC9-A1C8-63D0-74CB2D9B02A2}"/>
              </a:ext>
            </a:extLst>
          </p:cNvPr>
          <p:cNvSpPr txBox="1"/>
          <p:nvPr/>
        </p:nvSpPr>
        <p:spPr>
          <a:xfrm>
            <a:off x="7178488" y="3654880"/>
            <a:ext cx="4067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Up to 99.999% SLA with active geo replication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D12A3E6-990B-2C28-32A2-9C8AA9B22DAF}"/>
              </a:ext>
            </a:extLst>
          </p:cNvPr>
          <p:cNvCxnSpPr/>
          <p:nvPr/>
        </p:nvCxnSpPr>
        <p:spPr>
          <a:xfrm>
            <a:off x="7259351" y="3931879"/>
            <a:ext cx="406101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7B8EF05-3EEC-E1D9-5E8F-B9B8080EE580}"/>
              </a:ext>
            </a:extLst>
          </p:cNvPr>
          <p:cNvSpPr txBox="1"/>
          <p:nvPr/>
        </p:nvSpPr>
        <p:spPr>
          <a:xfrm>
            <a:off x="7178488" y="3947724"/>
            <a:ext cx="251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>
                <a:solidFill>
                  <a:schemeClr val="bg1"/>
                </a:solidFill>
                <a:latin typeface="Aptos" panose="020B0004020202020204" pitchFamily="34" charset="0"/>
              </a:rPr>
              <a:t>Security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29EDC5-E63D-8929-DAC4-DAA14AB24F6B}"/>
              </a:ext>
            </a:extLst>
          </p:cNvPr>
          <p:cNvSpPr txBox="1"/>
          <p:nvPr/>
        </p:nvSpPr>
        <p:spPr>
          <a:xfrm>
            <a:off x="7178488" y="4325914"/>
            <a:ext cx="4067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Secured with Microsoft Entra ID and Azure Networking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D8E2261-E3A1-FDBF-2DB5-494632BAFF54}"/>
              </a:ext>
            </a:extLst>
          </p:cNvPr>
          <p:cNvCxnSpPr/>
          <p:nvPr/>
        </p:nvCxnSpPr>
        <p:spPr>
          <a:xfrm>
            <a:off x="7259351" y="4602913"/>
            <a:ext cx="406101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01309E9-511E-DF7E-A227-8FB39E22C81B}"/>
              </a:ext>
            </a:extLst>
          </p:cNvPr>
          <p:cNvSpPr txBox="1"/>
          <p:nvPr/>
        </p:nvSpPr>
        <p:spPr>
          <a:xfrm>
            <a:off x="7178488" y="4636462"/>
            <a:ext cx="309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>
                <a:solidFill>
                  <a:schemeClr val="bg1"/>
                </a:solidFill>
                <a:latin typeface="Aptos" panose="020B0004020202020204" pitchFamily="34" charset="0"/>
              </a:rPr>
              <a:t>Scheduled maintenance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6F3818B-AEFF-D3D1-9E96-653316C23044}"/>
              </a:ext>
            </a:extLst>
          </p:cNvPr>
          <p:cNvSpPr txBox="1"/>
          <p:nvPr/>
        </p:nvSpPr>
        <p:spPr>
          <a:xfrm>
            <a:off x="7178488" y="5014652"/>
            <a:ext cx="4067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Configure for receiving patching during non-business hours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B0A4FB9-A3F3-C655-B315-A526B8F91C84}"/>
              </a:ext>
            </a:extLst>
          </p:cNvPr>
          <p:cNvCxnSpPr/>
          <p:nvPr/>
        </p:nvCxnSpPr>
        <p:spPr>
          <a:xfrm>
            <a:off x="7259351" y="5291651"/>
            <a:ext cx="406101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DA0377A-40FC-EFC1-60BA-83AB61358761}"/>
              </a:ext>
            </a:extLst>
          </p:cNvPr>
          <p:cNvSpPr txBox="1"/>
          <p:nvPr/>
        </p:nvSpPr>
        <p:spPr>
          <a:xfrm>
            <a:off x="7178488" y="5300509"/>
            <a:ext cx="309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>
                <a:solidFill>
                  <a:schemeClr val="bg1"/>
                </a:solidFill>
                <a:latin typeface="Aptos" panose="020B0004020202020204" pitchFamily="34" charset="0"/>
              </a:rPr>
              <a:t>More features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2060CC-E5D2-A433-DDBF-96B25A0BA057}"/>
              </a:ext>
            </a:extLst>
          </p:cNvPr>
          <p:cNvSpPr txBox="1"/>
          <p:nvPr/>
        </p:nvSpPr>
        <p:spPr>
          <a:xfrm>
            <a:off x="7178487" y="5678699"/>
            <a:ext cx="45473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Persistence, active geo replication, Azure service integrations, etc</a:t>
            </a:r>
            <a:r>
              <a:rPr lang="en-US" sz="1200"/>
              <a:t>.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BEE34AB-2D95-6F09-9976-36CA29D76321}"/>
              </a:ext>
            </a:extLst>
          </p:cNvPr>
          <p:cNvCxnSpPr/>
          <p:nvPr/>
        </p:nvCxnSpPr>
        <p:spPr>
          <a:xfrm>
            <a:off x="7259351" y="5955698"/>
            <a:ext cx="406101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A69301C-71B8-55E4-BF20-59E17AD844F0}"/>
              </a:ext>
            </a:extLst>
          </p:cNvPr>
          <p:cNvSpPr txBox="1"/>
          <p:nvPr/>
        </p:nvSpPr>
        <p:spPr>
          <a:xfrm>
            <a:off x="7234483" y="1434011"/>
            <a:ext cx="41107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solidFill>
                  <a:schemeClr val="bg1"/>
                </a:solidFill>
                <a:latin typeface="Aptos" panose="020B0004020202020204" pitchFamily="34" charset="0"/>
              </a:rPr>
              <a:t>Azure Managed Redis</a:t>
            </a:r>
          </a:p>
          <a:p>
            <a:r>
              <a:rPr lang="en-US" i="1" dirty="0">
                <a:solidFill>
                  <a:schemeClr val="bg1"/>
                </a:solidFill>
                <a:latin typeface="Aptos" panose="020B0004020202020204" pitchFamily="34" charset="0"/>
              </a:rPr>
              <a:t>https://aka.ms/azure-managed-redis</a:t>
            </a:r>
          </a:p>
        </p:txBody>
      </p:sp>
      <p:pic>
        <p:nvPicPr>
          <p:cNvPr id="62" name="Picture 61" descr="A purple robot with a black background&#10;&#10;AI-generated content may be incorrect.">
            <a:extLst>
              <a:ext uri="{FF2B5EF4-FFF2-40B4-BE49-F238E27FC236}">
                <a16:creationId xmlns:a16="http://schemas.microsoft.com/office/drawing/2014/main" id="{375881DD-338E-EC20-39E6-98D44C60607A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6178" y="5783808"/>
            <a:ext cx="1074192" cy="107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2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680723-08B7-10FA-0439-F4D107DCA60F}"/>
              </a:ext>
            </a:extLst>
          </p:cNvPr>
          <p:cNvSpPr/>
          <p:nvPr/>
        </p:nvSpPr>
        <p:spPr>
          <a:xfrm>
            <a:off x="6255124" y="5403851"/>
            <a:ext cx="5359068" cy="72434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FCC78-C54E-A187-20AE-17B8E61912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/>
              <a:t>.NET for Redis</a:t>
            </a:r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E07EEC-073D-8D27-6E28-DB8FF59B5E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Ecosystem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0E30D7-011D-2BAB-3B6F-A1641936B4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425" y="565151"/>
            <a:ext cx="5941010" cy="400049"/>
          </a:xfrm>
        </p:spPr>
        <p:txBody>
          <a:bodyPr/>
          <a:lstStyle/>
          <a:p>
            <a:r>
              <a:rPr lang="en-US"/>
              <a:t>NEW: Redis Enterprise support in </a:t>
            </a:r>
            <a:r>
              <a:rPr lang="en-US" i="1"/>
              <a:t>Aspire.Hosting.Azure.Redis with Aspire 9.5 +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22BDC9-FF6D-B83E-FC69-75B197CE9D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Microsoft.Extensions.Caching.Hybrid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06C91D-F63F-4B2F-ED26-F4CE45203A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Redis.OM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D7FA21F-5B41-4E54-B57D-C02E57822F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.NET Output Cache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6A3309-99AB-CF12-ABB8-6D7A8638CE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NRedisStack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8F3361B-FB44-22BD-7488-98E9ED977D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Microsoft.Azure.StackExchange.Redis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4431039-9219-33BB-D3B6-B57040ACC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72446" y="4540251"/>
            <a:ext cx="4932611" cy="469900"/>
          </a:xfrm>
        </p:spPr>
        <p:txBody>
          <a:bodyPr/>
          <a:lstStyle/>
          <a:p>
            <a:r>
              <a:rPr lang="en-US"/>
              <a:t>https://github.com/redis/mcp-redis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4ADCDE-9E1A-8D26-585C-331C891F407A}"/>
              </a:ext>
            </a:extLst>
          </p:cNvPr>
          <p:cNvSpPr txBox="1"/>
          <p:nvPr/>
        </p:nvSpPr>
        <p:spPr>
          <a:xfrm>
            <a:off x="4870425" y="1200150"/>
            <a:ext cx="6094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>
                    <a:lumMod val="90000"/>
                  </a:schemeClr>
                </a:solidFill>
              </a:rPr>
              <a:t>// Add Azure Redis Enterprise - will be provisioned in Azure</a:t>
            </a:r>
          </a:p>
          <a:p>
            <a:r>
              <a:rPr lang="en-US">
                <a:solidFill>
                  <a:schemeClr val="bg1"/>
                </a:solidFill>
              </a:rPr>
              <a:t>var redis = builder.AddAzureRedisEnterprise("redis");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75F0F0-BCE2-0AD9-9121-872282D10315}"/>
              </a:ext>
            </a:extLst>
          </p:cNvPr>
          <p:cNvSpPr txBox="1"/>
          <p:nvPr/>
        </p:nvSpPr>
        <p:spPr>
          <a:xfrm>
            <a:off x="6472446" y="5523468"/>
            <a:ext cx="4056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https://github.com/Azure/azure-mcp</a:t>
            </a:r>
          </a:p>
        </p:txBody>
      </p:sp>
      <p:pic>
        <p:nvPicPr>
          <p:cNvPr id="19" name="Picture 18" descr="A purple round object with a white face and a black background&#10;&#10;AI-generated content may be incorrect.">
            <a:extLst>
              <a:ext uri="{FF2B5EF4-FFF2-40B4-BE49-F238E27FC236}">
                <a16:creationId xmlns:a16="http://schemas.microsoft.com/office/drawing/2014/main" id="{A840E0F9-77AF-FF7A-74FB-D6269E7393B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9388" y="5592329"/>
            <a:ext cx="1044804" cy="1044804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0B64D5-CB57-B4D3-9305-B54B33643DA2}"/>
              </a:ext>
            </a:extLst>
          </p:cNvPr>
          <p:cNvSpPr/>
          <p:nvPr/>
        </p:nvSpPr>
        <p:spPr>
          <a:xfrm>
            <a:off x="577808" y="5383839"/>
            <a:ext cx="5359068" cy="724344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0114F-76D9-17AE-AF66-C1DDD85D7A4A}"/>
              </a:ext>
            </a:extLst>
          </p:cNvPr>
          <p:cNvSpPr txBox="1"/>
          <p:nvPr/>
        </p:nvSpPr>
        <p:spPr>
          <a:xfrm>
            <a:off x="770888" y="5523468"/>
            <a:ext cx="4523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Microsoft Agent Framework for .NET</a:t>
            </a:r>
          </a:p>
        </p:txBody>
      </p:sp>
    </p:spTree>
    <p:extLst>
      <p:ext uri="{BB962C8B-B14F-4D97-AF65-F5344CB8AC3E}">
        <p14:creationId xmlns:p14="http://schemas.microsoft.com/office/powerpoint/2010/main" val="1472423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AB75E-7729-B349-EF1A-88FAF2BBA5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2400"/>
              <a:t>Semantic Routing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BC2565-D125-8C1C-02B0-955006A4B0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/>
              <a:t>Filter the tools using semantic search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7EEF512-04DE-518D-0D8C-B1CB12A53D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Use semantic query search for top tool selections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01CCB2F-A4C1-22AB-BA89-7C532FAB5B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400"/>
              <a:t>Vector store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781B888-6FA9-FF8E-3DA8-BDB3152FC5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1800"/>
              <a:t>Vector similarity search in backend store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278422C-33A0-8ED7-BCA8-4EDF9488A4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Use Vector Similarity Search in the intelligent Redis datastore 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A2F1233-F9D3-029D-3817-7F05856382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sz="1800"/>
              <a:t>i.e. Hybrid cache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BE22273-BD4C-38C3-C2EF-E0D5F645A1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207" y="732865"/>
            <a:ext cx="11787640" cy="1230406"/>
          </a:xfrm>
        </p:spPr>
        <p:txBody>
          <a:bodyPr/>
          <a:lstStyle/>
          <a:p>
            <a:pPr algn="ctr"/>
            <a:r>
              <a:rPr lang="en-US" sz="5400"/>
              <a:t>Use Redis to improve .NET MCP server efficiency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106BD25-B460-559B-7F62-DA746739BC6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sz="2400"/>
              <a:t>Caching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CF1FA45-7892-A525-160E-796579AD446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Use libraries like HybridCache and others for reusing responses from frequently accessed data, session,  output caching, etc.</a:t>
            </a:r>
          </a:p>
        </p:txBody>
      </p:sp>
      <p:pic>
        <p:nvPicPr>
          <p:cNvPr id="22" name="Picture 21" descr="A cartoon robot with a black background&#10;&#10;AI-generated content may be incorrect.">
            <a:extLst>
              <a:ext uri="{FF2B5EF4-FFF2-40B4-BE49-F238E27FC236}">
                <a16:creationId xmlns:a16="http://schemas.microsoft.com/office/drawing/2014/main" id="{2EEBFE27-5A30-5123-0654-156209B7405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5656" y="5651965"/>
            <a:ext cx="1066201" cy="106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73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4DBF608-4DD5-1915-679D-35BDF84FA41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sz="3200"/>
              <a:t>Demo: hybrid cache with weather MCP server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4E4F632-0740-E4A9-765C-13DF5E08BEE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21" descr="A diagram of a computer&#10;&#10;AI-generated content may be incorrect.">
            <a:extLst>
              <a:ext uri="{FF2B5EF4-FFF2-40B4-BE49-F238E27FC236}">
                <a16:creationId xmlns:a16="http://schemas.microsoft.com/office/drawing/2014/main" id="{0DF65953-9106-6C34-73B3-62B4747E7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441" y="1404655"/>
            <a:ext cx="4972744" cy="404869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FBDC693-58E1-5E20-7390-0FCDB07FE142}"/>
              </a:ext>
            </a:extLst>
          </p:cNvPr>
          <p:cNvSpPr txBox="1"/>
          <p:nvPr/>
        </p:nvSpPr>
        <p:spPr>
          <a:xfrm>
            <a:off x="5715000" y="948017"/>
            <a:ext cx="568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Figure 1: workflow diagram for the weather MCP server.</a:t>
            </a:r>
          </a:p>
        </p:txBody>
      </p:sp>
      <p:pic>
        <p:nvPicPr>
          <p:cNvPr id="24" name="Picture 23" descr="A purple robot with a black background&#10;&#10;AI-generated content may be incorrect.">
            <a:extLst>
              <a:ext uri="{FF2B5EF4-FFF2-40B4-BE49-F238E27FC236}">
                <a16:creationId xmlns:a16="http://schemas.microsoft.com/office/drawing/2014/main" id="{F721DD21-7681-1BCC-A2B5-648C7E04E6F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6178" y="5783808"/>
            <a:ext cx="1074192" cy="10741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69100E-81BF-1C6D-E1D8-6FC8B768EE98}"/>
              </a:ext>
            </a:extLst>
          </p:cNvPr>
          <p:cNvSpPr txBox="1"/>
          <p:nvPr/>
        </p:nvSpPr>
        <p:spPr>
          <a:xfrm>
            <a:off x="647140" y="4071328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https://aka.ms/redis/demo/weather-mcp-redis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086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8E2D3A-54DC-27FC-6700-B8D38673B6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800"/>
              <a:t>Redis Data Integration tool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EFC15A-5BE2-376D-D314-348F780DCA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400"/>
              <a:t>https://redis.io/data-integration/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934FC78-F82D-4549-78E4-4F1648095C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Redis Data Integration (RDI) synchronizes data from your database into Redis in near-real time, so you can say goodbye to cache misses and stale data.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436051C-C329-D2E9-0996-E13BE90C25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800"/>
              <a:t>Redis MCP servers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BAEE0EF-961F-D6F6-5AE4-52E6858231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1734" y="3661458"/>
            <a:ext cx="3446866" cy="469900"/>
          </a:xfrm>
        </p:spPr>
        <p:txBody>
          <a:bodyPr/>
          <a:lstStyle/>
          <a:p>
            <a:r>
              <a:rPr lang="en-US" sz="1400"/>
              <a:t>https://github.com/redis/mcp-redis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DBF2B1A-5B6D-BD48-61AE-997CD6237F9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The Redis MCP Server is a </a:t>
            </a:r>
            <a:r>
              <a:rPr lang="en-US" b="1"/>
              <a:t>natural language interface</a:t>
            </a:r>
            <a:r>
              <a:rPr lang="en-US"/>
              <a:t> designed for agentic applications to efficiently manage and search data in Redis.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CF511EF-6205-55ED-F7C3-1AB20F280F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sz="1400"/>
              <a:t>i.e., blob trigger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B1BD4B-AE3B-FE15-F615-5D18B35031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7978CC4-E035-859D-48FB-94BD745B47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sz="1800"/>
              <a:t>Azure Function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6F4672C-A38B-37F5-DC6D-30DF5B88D0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Upload a .json or .csv file to trigger an Azure Function to process the data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190D16-3CDE-B170-7EEB-B4CA847D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207" y="750329"/>
            <a:ext cx="8183827" cy="469900"/>
          </a:xfrm>
        </p:spPr>
        <p:txBody>
          <a:bodyPr/>
          <a:lstStyle/>
          <a:p>
            <a:r>
              <a:rPr lang="en-US"/>
              <a:t>Upload data into Redis</a:t>
            </a:r>
          </a:p>
        </p:txBody>
      </p:sp>
      <p:pic>
        <p:nvPicPr>
          <p:cNvPr id="19" name="Picture 18" descr="A purple round object with a white face and a black background&#10;&#10;AI-generated content may be incorrect.">
            <a:extLst>
              <a:ext uri="{FF2B5EF4-FFF2-40B4-BE49-F238E27FC236}">
                <a16:creationId xmlns:a16="http://schemas.microsoft.com/office/drawing/2014/main" id="{6205C7B9-0329-F326-B35E-C6FC1D1311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9388" y="5592329"/>
            <a:ext cx="1044804" cy="104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58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4F0E064-9310-49DB-C0FD-1120AFAE964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Demo: Upload data to Redis with Azure Function</a:t>
            </a:r>
          </a:p>
          <a:p>
            <a:endParaRPr lang="en-US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157A8530-4548-8BE6-6C9D-6EC23088EDF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C0F425-88C8-5987-D89E-DDCF4B5973A1}"/>
              </a:ext>
            </a:extLst>
          </p:cNvPr>
          <p:cNvSpPr txBox="1"/>
          <p:nvPr/>
        </p:nvSpPr>
        <p:spPr>
          <a:xfrm>
            <a:off x="5654766" y="804821"/>
            <a:ext cx="502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Figure 1: Architecture diagram for using Azure Function to create data in Redis</a:t>
            </a:r>
          </a:p>
        </p:txBody>
      </p:sp>
      <p:pic>
        <p:nvPicPr>
          <p:cNvPr id="39" name="Picture 3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D346C30-6040-5849-9A39-08565200906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5994" y="1362861"/>
            <a:ext cx="3627013" cy="4585447"/>
          </a:xfrm>
          <a:prstGeom prst="rect">
            <a:avLst/>
          </a:prstGeom>
        </p:spPr>
      </p:pic>
      <p:pic>
        <p:nvPicPr>
          <p:cNvPr id="42" name="Picture 41" descr="A cartoon robot with a black background&#10;&#10;AI-generated content may be incorrect.">
            <a:extLst>
              <a:ext uri="{FF2B5EF4-FFF2-40B4-BE49-F238E27FC236}">
                <a16:creationId xmlns:a16="http://schemas.microsoft.com/office/drawing/2014/main" id="{3D0D3349-6CF3-7406-2ACA-DD5575D2DD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5656" y="5651965"/>
            <a:ext cx="1066201" cy="10662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51BB31-4E0E-851E-F60B-26B1AA908281}"/>
              </a:ext>
            </a:extLst>
          </p:cNvPr>
          <p:cNvSpPr txBox="1"/>
          <p:nvPr/>
        </p:nvSpPr>
        <p:spPr>
          <a:xfrm>
            <a:off x="577775" y="3540169"/>
            <a:ext cx="58163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4"/>
              </a:rPr>
              <a:t>https://aka.ms/redis/demo/Function-UploadData-Redis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06244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C1D49-13F4-16E6-93AD-5ABC5221FA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0207" y="533400"/>
            <a:ext cx="10389145" cy="469900"/>
          </a:xfrm>
        </p:spPr>
        <p:txBody>
          <a:bodyPr lIns="91440" tIns="45720" rIns="91440" bIns="45720" anchor="t"/>
          <a:lstStyle/>
          <a:p>
            <a:r>
              <a:rPr lang="en-US" sz="3200">
                <a:latin typeface="Poppins"/>
                <a:cs typeface="Poppins"/>
              </a:rPr>
              <a:t>Use Redis in a Aspire Agent</a:t>
            </a:r>
          </a:p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5EFEB1-BC4F-3B5D-6965-6C13FD08AB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C5966-A26A-BAFA-523F-8F097D7CB6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400"/>
              <a:t>User session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4C3904-150C-77DC-4474-6624F91201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394271-A853-7B25-5F95-5DFD29D7D6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Cache the user info like user name in the agent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7B530E-7F28-127E-083D-7B157D7183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sz="1400"/>
              <a:t>Chat history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C2FB3AE-DCA8-E432-2CBA-FA7933B0542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D187252-E586-EE65-ED22-8A48C14C7B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Store the conversation thread and chat history for context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4F7E41-C0A6-AA41-4AFA-4A8FE336F3F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sz="1400"/>
              <a:t>Knowledge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D51E42-DF56-692A-15C4-D8521E6F2A7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5E75731-F23E-081D-1C82-53BAB1A1257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Vector store for RAG on your enterprise organization’s information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CFA38B-12E7-BD43-83F0-FDBAFD38D05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sz="1400"/>
              <a:t>Semantic cache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86D710-65FF-793A-A4EC-3F13CFC7D38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8DD0771-B602-D542-9360-77FD99A4191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Return consistent answers from semantically similar questions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1A0AD2F-F0F1-A7A2-F45A-75779DCE737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sz="1400"/>
              <a:t>Distributed cache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CF9FAA6-6819-2198-0EB5-C01E6192EEF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F29DA0C-A94A-8192-DABF-AB3B49D2AB5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/>
              <a:t>Traditional cache-aside pattern for accessing frequently accessed data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11103AB-66C5-A5CC-321C-313E0E5F251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sz="1400"/>
              <a:t>Output cache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BB11C10-097F-EDEB-13EA-A151978CC4D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A1E415B-056E-46FC-4561-0C32EAC8D49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/>
              <a:t>Save server resource by caching rendered html</a:t>
            </a:r>
          </a:p>
        </p:txBody>
      </p:sp>
      <p:pic>
        <p:nvPicPr>
          <p:cNvPr id="25" name="Picture 24" descr="A purple robot with a black background&#10;&#10;AI-generated content may be incorrect.">
            <a:extLst>
              <a:ext uri="{FF2B5EF4-FFF2-40B4-BE49-F238E27FC236}">
                <a16:creationId xmlns:a16="http://schemas.microsoft.com/office/drawing/2014/main" id="{9161F9A5-BF25-3023-7D7F-28E2A6DEB4E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6178" y="5783808"/>
            <a:ext cx="1074192" cy="107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92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4E33BA-93CC-F922-AF4B-24935FAEA0C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sz="3200"/>
              <a:t>Demo: Aspire Agent with Redis </a:t>
            </a: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C597F-C2C6-A99B-505B-EA280B3966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Demo: Aspire Agent with Redis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E1CF328-0C8D-9E36-DAF2-FFBC11E420E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7BB6EC-0115-5DC2-3220-0A210FD34E5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6737" y="1284194"/>
            <a:ext cx="4138779" cy="47333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7150EB-3D6D-7B9A-056F-6643B95A42AE}"/>
              </a:ext>
            </a:extLst>
          </p:cNvPr>
          <p:cNvSpPr txBox="1"/>
          <p:nvPr/>
        </p:nvSpPr>
        <p:spPr>
          <a:xfrm>
            <a:off x="5654766" y="804821"/>
            <a:ext cx="502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Figure 1: Architecture diagram for QnA Aspire Agent</a:t>
            </a:r>
          </a:p>
        </p:txBody>
      </p:sp>
      <p:pic>
        <p:nvPicPr>
          <p:cNvPr id="17" name="Picture 16" descr="A purple round object with a white face and a black background&#10;&#10;AI-generated content may be incorrect.">
            <a:extLst>
              <a:ext uri="{FF2B5EF4-FFF2-40B4-BE49-F238E27FC236}">
                <a16:creationId xmlns:a16="http://schemas.microsoft.com/office/drawing/2014/main" id="{7FEF93B6-5AD9-59B3-8580-9DDC11EFA0F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9388" y="5592329"/>
            <a:ext cx="1044804" cy="10448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B15C36-1D86-5A0B-C595-F30917B40162}"/>
              </a:ext>
            </a:extLst>
          </p:cNvPr>
          <p:cNvSpPr txBox="1"/>
          <p:nvPr/>
        </p:nvSpPr>
        <p:spPr>
          <a:xfrm>
            <a:off x="561777" y="3533445"/>
            <a:ext cx="6813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https://aka.ms/redis/demo/Redis-AgentFramework-Aspire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6095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C9B2A-4939-B482-6A12-CE8270931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71726A-3526-43E7-5452-2B90A3454E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spc="-200">
                <a:solidFill>
                  <a:schemeClr val="bg1"/>
                </a:solidFill>
              </a:rPr>
              <a:t>Thank you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59BBE5-8894-4B9F-FAB4-6EE6AC949F80}"/>
              </a:ext>
            </a:extLst>
          </p:cNvPr>
          <p:cNvSpPr txBox="1"/>
          <p:nvPr/>
        </p:nvSpPr>
        <p:spPr>
          <a:xfrm>
            <a:off x="712694" y="4202206"/>
            <a:ext cx="6340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https://aka.ms/redis/demo/Redis-AgentFramework-Aspire</a:t>
            </a:r>
            <a:endParaRPr lang="en-US" dirty="0"/>
          </a:p>
          <a:p>
            <a:r>
              <a:rPr lang="en-US" dirty="0">
                <a:hlinkClick r:id="rId4"/>
              </a:rPr>
              <a:t>https://aka.ms/redis/demo/Function-UploadData-Redis</a:t>
            </a:r>
            <a:endParaRPr lang="en-US" dirty="0"/>
          </a:p>
          <a:p>
            <a:r>
              <a:rPr lang="en-US" dirty="0">
                <a:hlinkClick r:id="rId5"/>
              </a:rPr>
              <a:t>https://aka.ms/redis/demo/weather-mcp-redis</a:t>
            </a:r>
            <a:endParaRPr lang="en-US" dirty="0"/>
          </a:p>
        </p:txBody>
      </p:sp>
      <p:pic>
        <p:nvPicPr>
          <p:cNvPr id="4" name="Picture 3" descr="A purple robot with a black background&#10;&#10;AI-generated content may be incorrect.">
            <a:extLst>
              <a:ext uri="{FF2B5EF4-FFF2-40B4-BE49-F238E27FC236}">
                <a16:creationId xmlns:a16="http://schemas.microsoft.com/office/drawing/2014/main" id="{A0AC6473-A78C-A82A-F71A-CF5393F7670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6988" y="5392475"/>
            <a:ext cx="1074192" cy="1074192"/>
          </a:xfrm>
          <a:prstGeom prst="rect">
            <a:avLst/>
          </a:prstGeom>
        </p:spPr>
      </p:pic>
      <p:pic>
        <p:nvPicPr>
          <p:cNvPr id="5" name="Picture 4" descr="A purple and orange planet&#10;&#10;AI-generated content may be incorrect.">
            <a:extLst>
              <a:ext uri="{FF2B5EF4-FFF2-40B4-BE49-F238E27FC236}">
                <a16:creationId xmlns:a16="http://schemas.microsoft.com/office/drawing/2014/main" id="{3BFC04B2-E11D-36D9-2E5C-E7C94641E9C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710" y="5804757"/>
            <a:ext cx="1053243" cy="105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82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F33E87-8AFE-0BFE-B735-8E6931A9F40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0386" y="0"/>
            <a:ext cx="6811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0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47ECCE0-5DA6-2DA5-AF22-0BF4F3B5D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93" y="0"/>
            <a:ext cx="116592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15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4DBF8510-9DC9-A053-C2E1-BD2B3C3C5BD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72153" y="0"/>
            <a:ext cx="64476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40499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68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Custom 67">
      <a:dk1>
        <a:srgbClr val="000000"/>
      </a:dk1>
      <a:lt1>
        <a:srgbClr val="FEFFFE"/>
      </a:lt1>
      <a:dk2>
        <a:srgbClr val="1F1E31"/>
      </a:dk2>
      <a:lt2>
        <a:srgbClr val="A6A6A6"/>
      </a:lt2>
      <a:accent1>
        <a:srgbClr val="502AD4"/>
      </a:accent1>
      <a:accent2>
        <a:srgbClr val="0B6BFF"/>
      </a:accent2>
      <a:accent3>
        <a:srgbClr val="D502AA"/>
      </a:accent3>
      <a:accent4>
        <a:srgbClr val="EEEAFA"/>
      </a:accent4>
      <a:accent5>
        <a:srgbClr val="B9AAEE"/>
      </a:accent5>
      <a:accent6>
        <a:srgbClr val="9DC3FF"/>
      </a:accent6>
      <a:hlink>
        <a:srgbClr val="7F0066"/>
      </a:hlink>
      <a:folHlink>
        <a:srgbClr val="EF99D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Microsoft Office PowerPoint</Application>
  <PresentationFormat>Widescreen</PresentationFormat>
  <Paragraphs>143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Arial</vt:lpstr>
      <vt:lpstr>Calibri</vt:lpstr>
      <vt:lpstr>Poppins</vt:lpstr>
      <vt:lpstr>Segoe UI Variable Display</vt:lpstr>
      <vt:lpstr>Segoe UI Variable Display Semib</vt:lpstr>
      <vt:lpstr>Segoe UI Variable Display Semibold</vt:lpstr>
      <vt:lpstr>Segoe UI Variable Text Semibold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2026-01-06T21:05:43Z</dcterms:created>
  <dcterms:modified xsi:type="dcterms:W3CDTF">2026-01-06T21:06:13Z</dcterms:modified>
</cp:coreProperties>
</file>